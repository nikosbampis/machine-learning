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handoutMasterIdLst>
    <p:handoutMasterId r:id="rId14"/>
  </p:handoutMasterIdLst>
  <p:sldIdLst>
    <p:sldId id="256" r:id="rId2"/>
    <p:sldId id="271" r:id="rId3"/>
    <p:sldId id="279" r:id="rId4"/>
    <p:sldId id="284" r:id="rId5"/>
    <p:sldId id="283" r:id="rId6"/>
    <p:sldId id="281" r:id="rId7"/>
    <p:sldId id="280" r:id="rId8"/>
    <p:sldId id="257" r:id="rId9"/>
    <p:sldId id="275" r:id="rId10"/>
    <p:sldId id="276" r:id="rId11"/>
    <p:sldId id="282" r:id="rId12"/>
  </p:sldIdLst>
  <p:sldSz cx="12192000" cy="6858000"/>
  <p:notesSz cx="6858000" cy="9144000"/>
  <p:defaultTextStyle>
    <a:defPPr rtl="0">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Καλώς ορίσατε" id="{E75E278A-FF0E-49A4-B170-79828D63BBAD}">
          <p14:sldIdLst>
            <p14:sldId id="256"/>
          </p14:sldIdLst>
        </p14:section>
        <p14:section name="Σχεδίαση, Μεταμόρφωση, Σχολιασμός, Συνεργασία, Πείτε μου" id="{B9B51309-D148-4332-87C2-07BE32FBCA3B}">
          <p14:sldIdLst>
            <p14:sldId id="271"/>
            <p14:sldId id="279"/>
            <p14:sldId id="284"/>
            <p14:sldId id="283"/>
            <p14:sldId id="281"/>
            <p14:sldId id="280"/>
            <p14:sldId id="257"/>
            <p14:sldId id="275"/>
            <p14:sldId id="276"/>
          </p14:sldIdLst>
        </p14:section>
        <p14:section name="Μάθετε περισσότερα" id="{2CC34DB2-6590-42C0-AD4B-A04C6060184E}">
          <p14:sldIdLst>
            <p14:sldId id="28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 id="3" name="dell" initials="d" lastIdx="1" clrIdx="2">
    <p:extLst>
      <p:ext uri="{19B8F6BF-5375-455C-9EA6-DF929625EA0E}">
        <p15:presenceInfo xmlns:p15="http://schemas.microsoft.com/office/powerpoint/2012/main" userId="dell"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4726"/>
    <a:srgbClr val="404040"/>
    <a:srgbClr val="FF9B45"/>
    <a:srgbClr val="DD462F"/>
    <a:srgbClr val="F8CFB6"/>
    <a:srgbClr val="F8CAB6"/>
    <a:srgbClr val="923922"/>
    <a:srgbClr val="F5F5F5"/>
    <a:srgbClr val="F2F2F2"/>
    <a:srgbClr val="D2B4A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6187" autoAdjust="0"/>
    <p:restoredTop sz="94214" autoAdjust="0"/>
  </p:normalViewPr>
  <p:slideViewPr>
    <p:cSldViewPr snapToGrid="0">
      <p:cViewPr varScale="1">
        <p:scale>
          <a:sx n="88" d="100"/>
          <a:sy n="88" d="100"/>
        </p:scale>
        <p:origin x="120" y="13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45" d="100"/>
          <a:sy n="45" d="100"/>
        </p:scale>
        <p:origin x="2574" y="3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dirty="0"/>
          </a:p>
        </p:txBody>
      </p:sp>
      <p:sp>
        <p:nvSpPr>
          <p:cNvPr id="3" name="Θέση ημερομηνίας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60A3599D-F7E3-4649-B859-D4940257D38C}" type="datetime1">
              <a:rPr lang="el-GR" smtClean="0"/>
              <a:t>4/12/2018</a:t>
            </a:fld>
            <a:endParaRPr lang="el-GR" dirty="0"/>
          </a:p>
        </p:txBody>
      </p:sp>
      <p:sp>
        <p:nvSpPr>
          <p:cNvPr id="4" name="Θέση υποσέλιδου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dirty="0"/>
          </a:p>
        </p:txBody>
      </p:sp>
      <p:sp>
        <p:nvSpPr>
          <p:cNvPr id="5" name="Θέση αριθμού διαφάνειας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l-GR" smtClean="0"/>
              <a:t>‹#›</a:t>
            </a:fld>
            <a:endParaRPr lang="el-GR" dirty="0"/>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Θέση κεφαλίδας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l-GR" noProof="0" dirty="0"/>
          </a:p>
        </p:txBody>
      </p:sp>
      <p:sp>
        <p:nvSpPr>
          <p:cNvPr id="3" name="Θέση ημερομηνίας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B3D094AE-4861-4AAD-8067-7B835847F302}" type="datetime1">
              <a:rPr lang="el-GR" noProof="0" smtClean="0"/>
              <a:t>4/12/2018</a:t>
            </a:fld>
            <a:endParaRPr lang="el-GR" noProof="0" dirty="0"/>
          </a:p>
        </p:txBody>
      </p:sp>
      <p:sp>
        <p:nvSpPr>
          <p:cNvPr id="4" name="Θέση εικόνας διαφάνειας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l-GR" noProof="0" dirty="0"/>
          </a:p>
        </p:txBody>
      </p:sp>
      <p:sp>
        <p:nvSpPr>
          <p:cNvPr id="5" name="Θέση σημειώσεων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l-GR" noProof="0" dirty="0"/>
              <a:t>Στυλ υποδείγματος κειμένου</a:t>
            </a:r>
          </a:p>
          <a:p>
            <a:pPr lvl="1" rtl="0"/>
            <a:r>
              <a:rPr lang="el-GR" noProof="0" dirty="0"/>
              <a:t>Δεύτερου επιπέδου</a:t>
            </a:r>
          </a:p>
          <a:p>
            <a:pPr lvl="2" rtl="0"/>
            <a:r>
              <a:rPr lang="el-GR" noProof="0" dirty="0"/>
              <a:t>Τρίτου επιπέδου</a:t>
            </a:r>
          </a:p>
          <a:p>
            <a:pPr lvl="3" rtl="0"/>
            <a:r>
              <a:rPr lang="el-GR" noProof="0" dirty="0"/>
              <a:t>Τέταρτου επιπέδου</a:t>
            </a:r>
          </a:p>
          <a:p>
            <a:pPr lvl="4" rtl="0"/>
            <a:r>
              <a:rPr lang="el-GR" noProof="0" dirty="0"/>
              <a:t>Πέμπτου επιπέδου</a:t>
            </a:r>
          </a:p>
        </p:txBody>
      </p:sp>
      <p:sp>
        <p:nvSpPr>
          <p:cNvPr id="6" name="Θέση υποσέλιδου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l-GR" noProof="0" dirty="0"/>
          </a:p>
        </p:txBody>
      </p:sp>
      <p:sp>
        <p:nvSpPr>
          <p:cNvPr id="7" name="Θέση αριθμού διαφάνειας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DF61EA0F-A667-4B49-8422-0062BC55E249}" type="slidenum">
              <a:rPr lang="el-GR" noProof="0" smtClean="0"/>
              <a:t>‹#›</a:t>
            </a:fld>
            <a:endParaRPr lang="el-GR" noProof="0" dirty="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endParaRPr lang="el-GR" dirty="0"/>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a:t>
            </a:fld>
            <a:endParaRPr lang="el-GR" dirty="0"/>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2</a:t>
            </a:fld>
            <a:endParaRPr lang="el-GR" dirty="0"/>
          </a:p>
        </p:txBody>
      </p:sp>
    </p:spTree>
    <p:extLst>
      <p:ext uri="{BB962C8B-B14F-4D97-AF65-F5344CB8AC3E}">
        <p14:creationId xmlns:p14="http://schemas.microsoft.com/office/powerpoint/2010/main" val="497755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3</a:t>
            </a:fld>
            <a:endParaRPr lang="el-GR" dirty="0"/>
          </a:p>
        </p:txBody>
      </p:sp>
    </p:spTree>
    <p:extLst>
      <p:ext uri="{BB962C8B-B14F-4D97-AF65-F5344CB8AC3E}">
        <p14:creationId xmlns:p14="http://schemas.microsoft.com/office/powerpoint/2010/main" val="18733922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6</a:t>
            </a:fld>
            <a:endParaRPr lang="el-GR" dirty="0"/>
          </a:p>
        </p:txBody>
      </p:sp>
    </p:spTree>
    <p:extLst>
      <p:ext uri="{BB962C8B-B14F-4D97-AF65-F5344CB8AC3E}">
        <p14:creationId xmlns:p14="http://schemas.microsoft.com/office/powerpoint/2010/main" val="521594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7</a:t>
            </a:fld>
            <a:endParaRPr lang="el-GR" dirty="0"/>
          </a:p>
        </p:txBody>
      </p:sp>
    </p:spTree>
    <p:extLst>
      <p:ext uri="{BB962C8B-B14F-4D97-AF65-F5344CB8AC3E}">
        <p14:creationId xmlns:p14="http://schemas.microsoft.com/office/powerpoint/2010/main" val="297388371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8</a:t>
            </a:fld>
            <a:endParaRPr lang="el-GR" dirty="0"/>
          </a:p>
        </p:txBody>
      </p:sp>
    </p:spTree>
    <p:extLst>
      <p:ext uri="{BB962C8B-B14F-4D97-AF65-F5344CB8AC3E}">
        <p14:creationId xmlns:p14="http://schemas.microsoft.com/office/powerpoint/2010/main" val="24213146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9</a:t>
            </a:fld>
            <a:endParaRPr lang="el-GR" dirty="0"/>
          </a:p>
        </p:txBody>
      </p:sp>
    </p:spTree>
    <p:extLst>
      <p:ext uri="{BB962C8B-B14F-4D97-AF65-F5344CB8AC3E}">
        <p14:creationId xmlns:p14="http://schemas.microsoft.com/office/powerpoint/2010/main" val="882959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p:sp>
      <p:sp>
        <p:nvSpPr>
          <p:cNvPr id="3" name="Θέση σημειώσεων 2"/>
          <p:cNvSpPr>
            <a:spLocks noGrp="1"/>
          </p:cNvSpPr>
          <p:nvPr>
            <p:ph type="body" idx="1"/>
          </p:nvPr>
        </p:nvSpPr>
        <p:spPr/>
        <p:txBody>
          <a:bodyPr/>
          <a:lstStyle/>
          <a:p>
            <a:endParaRPr lang="el-GR" dirty="0"/>
          </a:p>
        </p:txBody>
      </p:sp>
      <p:sp>
        <p:nvSpPr>
          <p:cNvPr id="4" name="Θέση αριθμού διαφάνειας 3"/>
          <p:cNvSpPr>
            <a:spLocks noGrp="1"/>
          </p:cNvSpPr>
          <p:nvPr>
            <p:ph type="sldNum" sz="quarter" idx="10"/>
          </p:nvPr>
        </p:nvSpPr>
        <p:spPr/>
        <p:txBody>
          <a:bodyPr/>
          <a:lstStyle/>
          <a:p>
            <a:pPr rtl="0"/>
            <a:fld id="{DF61EA0F-A667-4B49-8422-0062BC55E249}" type="slidenum">
              <a:rPr lang="el-GR" smtClean="0"/>
              <a:t>10</a:t>
            </a:fld>
            <a:endParaRPr lang="el-GR" dirty="0"/>
          </a:p>
        </p:txBody>
      </p:sp>
    </p:spTree>
    <p:extLst>
      <p:ext uri="{BB962C8B-B14F-4D97-AF65-F5344CB8AC3E}">
        <p14:creationId xmlns:p14="http://schemas.microsoft.com/office/powerpoint/2010/main" val="5079949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Θέση εικόνας διαφάνειας 1"/>
          <p:cNvSpPr>
            <a:spLocks noGrp="1" noRot="1" noChangeAspect="1"/>
          </p:cNvSpPr>
          <p:nvPr>
            <p:ph type="sldImg"/>
          </p:nvPr>
        </p:nvSpPr>
        <p:spPr>
          <a:xfrm>
            <a:off x="685800" y="1143000"/>
            <a:ext cx="5486400" cy="3086100"/>
          </a:xfrm>
        </p:spPr>
      </p:sp>
      <p:sp>
        <p:nvSpPr>
          <p:cNvPr id="3" name="Θέση σημειώσεων 2"/>
          <p:cNvSpPr>
            <a:spLocks noGrp="1"/>
          </p:cNvSpPr>
          <p:nvPr>
            <p:ph type="body" idx="1"/>
          </p:nvPr>
        </p:nvSpPr>
        <p:spPr/>
        <p:txBody>
          <a:bodyPr rtlCol="0"/>
          <a:lstStyle/>
          <a:p>
            <a:pPr rtl="0"/>
            <a:r>
              <a:rPr lang="el-GR" dirty="0"/>
              <a:t>Σε λειτουργία προβολής παρουσίασης, επιλέξτε τα βέλη για να επισκεφθείτε συνδέσεις.</a:t>
            </a:r>
          </a:p>
        </p:txBody>
      </p:sp>
      <p:sp>
        <p:nvSpPr>
          <p:cNvPr id="4" name="Θέση αριθμού διαφάνειας 3"/>
          <p:cNvSpPr>
            <a:spLocks noGrp="1"/>
          </p:cNvSpPr>
          <p:nvPr>
            <p:ph type="sldNum" sz="quarter" idx="10"/>
          </p:nvPr>
        </p:nvSpPr>
        <p:spPr/>
        <p:txBody>
          <a:bodyPr rtlCol="0"/>
          <a:lstStyle/>
          <a:p>
            <a:pPr rtl="0"/>
            <a:fld id="{DF61EA0F-A667-4B49-8422-0062BC55E249}" type="slidenum">
              <a:rPr lang="el-GR" smtClean="0"/>
              <a:t>11</a:t>
            </a:fld>
            <a:endParaRPr lang="el-GR" dirty="0"/>
          </a:p>
        </p:txBody>
      </p:sp>
    </p:spTree>
    <p:extLst>
      <p:ext uri="{BB962C8B-B14F-4D97-AF65-F5344CB8AC3E}">
        <p14:creationId xmlns:p14="http://schemas.microsoft.com/office/powerpoint/2010/main" val="3421780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Διαφάνεια τίτλου">
    <p:spTree>
      <p:nvGrpSpPr>
        <p:cNvPr id="1" name=""/>
        <p:cNvGrpSpPr/>
        <p:nvPr/>
      </p:nvGrpSpPr>
      <p:grpSpPr>
        <a:xfrm>
          <a:off x="0" y="0"/>
          <a:ext cx="0" cy="0"/>
          <a:chOff x="0" y="0"/>
          <a:chExt cx="0" cy="0"/>
        </a:xfrm>
      </p:grpSpPr>
      <p:sp>
        <p:nvSpPr>
          <p:cNvPr id="7" name="Ορθογώνιο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p:txBody>
          <a:bodyPr rtlCol="0"/>
          <a:lstStyle/>
          <a:p>
            <a:pPr rtl="0"/>
            <a:r>
              <a:rPr lang="el-GR" noProof="0"/>
              <a:t>Κάντε κλικ για να επεξεργαστείτε τον τίτλο υποδείγματος</a:t>
            </a:r>
            <a:endParaRPr lang="el-GR" noProof="0" dirty="0"/>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Τίτλος και περιεχόμενο">
    <p:spTree>
      <p:nvGrpSpPr>
        <p:cNvPr id="1" name=""/>
        <p:cNvGrpSpPr/>
        <p:nvPr/>
      </p:nvGrpSpPr>
      <p:grpSpPr>
        <a:xfrm>
          <a:off x="0" y="0"/>
          <a:ext cx="0" cy="0"/>
          <a:chOff x="0" y="0"/>
          <a:chExt cx="0" cy="0"/>
        </a:xfrm>
      </p:grpSpPr>
      <p:sp>
        <p:nvSpPr>
          <p:cNvPr id="9" name="Ορθογώνιο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noProof="0" dirty="0"/>
          </a:p>
        </p:txBody>
      </p:sp>
      <p:cxnSp>
        <p:nvCxnSpPr>
          <p:cNvPr id="12" name="Ευθεία γραμμή σύνδεσης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Τίτλος 3"/>
          <p:cNvSpPr>
            <a:spLocks noGrp="1"/>
          </p:cNvSpPr>
          <p:nvPr>
            <p:ph type="title"/>
          </p:nvPr>
        </p:nvSpPr>
        <p:spPr>
          <a:xfrm>
            <a:off x="521207" y="448056"/>
            <a:ext cx="10068135" cy="640080"/>
          </a:xfrm>
        </p:spPr>
        <p:txBody>
          <a:bodyPr rtlCol="0" anchor="b" anchorCtr="0">
            <a:normAutofit/>
          </a:bodyPr>
          <a:lstStyle>
            <a:lvl1pPr>
              <a:defRPr sz="2800">
                <a:solidFill>
                  <a:schemeClr val="bg2">
                    <a:lumMod val="25000"/>
                  </a:schemeClr>
                </a:solidFill>
              </a:defRPr>
            </a:lvl1pPr>
          </a:lstStyle>
          <a:p>
            <a:pPr rtl="0"/>
            <a:r>
              <a:rPr lang="el-GR" noProof="0"/>
              <a:t>Κάντε κλικ για να επεξεργαστείτε τον τίτλο υποδείγματος</a:t>
            </a:r>
            <a:endParaRPr lang="el-GR" noProof="0" dirty="0"/>
          </a:p>
        </p:txBody>
      </p:sp>
      <p:sp>
        <p:nvSpPr>
          <p:cNvPr id="3" name="Θέση περιεχομένου 2"/>
          <p:cNvSpPr>
            <a:spLocks noGrp="1"/>
          </p:cNvSpPr>
          <p:nvPr>
            <p:ph sz="quarter" idx="10"/>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defRPr>
            </a:lvl1pPr>
            <a:lvl2pPr>
              <a:defRPr lang="en-US" sz="1200" smtClean="0">
                <a:solidFill>
                  <a:schemeClr val="tx1">
                    <a:lumMod val="75000"/>
                    <a:lumOff val="25000"/>
                  </a:schemeClr>
                </a:solidFill>
              </a:defRPr>
            </a:lvl2pPr>
            <a:lvl3pPr>
              <a:defRPr lang="en-US" sz="1200" smtClean="0">
                <a:solidFill>
                  <a:schemeClr val="tx1">
                    <a:lumMod val="75000"/>
                    <a:lumOff val="25000"/>
                  </a:schemeClr>
                </a:solidFill>
              </a:defRPr>
            </a:lvl3pPr>
            <a:lvl4pPr>
              <a:defRPr lang="en-US" sz="1200" smtClean="0">
                <a:solidFill>
                  <a:schemeClr val="tx1">
                    <a:lumMod val="75000"/>
                    <a:lumOff val="25000"/>
                  </a:schemeClr>
                </a:solidFill>
              </a:defRPr>
            </a:lvl4pPr>
            <a:lvl5pPr>
              <a:defRPr lang="en-US" sz="120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
        <p:nvSpPr>
          <p:cNvPr id="6"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368E473F-9E20-4236-857A-0F18234A7730}" type="datetime1">
              <a:rPr lang="el-GR" noProof="0" smtClean="0"/>
              <a:t>4/12/2018</a:t>
            </a:fld>
            <a:endParaRPr lang="el-GR" noProof="0" dirty="0"/>
          </a:p>
        </p:txBody>
      </p:sp>
      <p:sp>
        <p:nvSpPr>
          <p:cNvPr id="7"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noProof="0" dirty="0"/>
          </a:p>
        </p:txBody>
      </p:sp>
      <p:sp>
        <p:nvSpPr>
          <p:cNvPr id="8" name="Θέση αριθμού διαφάνειας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noProof="0" smtClean="0"/>
              <a:pPr/>
              <a:t>‹#›</a:t>
            </a:fld>
            <a:endParaRPr lang="el-GR" noProof="0" dirty="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Κεφαλίδα ενότητας">
    <p:spTree>
      <p:nvGrpSpPr>
        <p:cNvPr id="1" name=""/>
        <p:cNvGrpSpPr/>
        <p:nvPr/>
      </p:nvGrpSpPr>
      <p:grpSpPr>
        <a:xfrm>
          <a:off x="0" y="0"/>
          <a:ext cx="0" cy="0"/>
          <a:chOff x="0" y="0"/>
          <a:chExt cx="0" cy="0"/>
        </a:xfrm>
      </p:grpSpPr>
      <p:sp>
        <p:nvSpPr>
          <p:cNvPr id="9" name="Ορθογώνιο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10" name="Ορθογώνιο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sz="1800" noProof="0" dirty="0"/>
          </a:p>
        </p:txBody>
      </p:sp>
      <p:sp>
        <p:nvSpPr>
          <p:cNvPr id="2" name="Τίτλος 1"/>
          <p:cNvSpPr>
            <a:spLocks noGrp="1"/>
          </p:cNvSpPr>
          <p:nvPr>
            <p:ph type="title"/>
          </p:nvPr>
        </p:nvSpPr>
        <p:spPr>
          <a:xfrm>
            <a:off x="521208" y="884902"/>
            <a:ext cx="6876288" cy="1291369"/>
          </a:xfrm>
        </p:spPr>
        <p:txBody>
          <a:bodyPr rtlCol="0">
            <a:normAutofit/>
          </a:bodyPr>
          <a:lstStyle>
            <a:lvl1pPr>
              <a:defRPr sz="3600">
                <a:solidFill>
                  <a:schemeClr val="bg1"/>
                </a:solidFill>
              </a:defRPr>
            </a:lvl1pPr>
          </a:lstStyle>
          <a:p>
            <a:pPr rtl="0"/>
            <a:r>
              <a:rPr lang="el-GR" noProof="0"/>
              <a:t>Κάντε κλικ για να επεξεργαστείτε τον τίτλο υποδείγματος</a:t>
            </a:r>
            <a:endParaRPr lang="el-GR" noProof="0" dirty="0"/>
          </a:p>
        </p:txBody>
      </p:sp>
      <p:sp>
        <p:nvSpPr>
          <p:cNvPr id="7" name="Θέση περιεχομένου 6"/>
          <p:cNvSpPr>
            <a:spLocks noGrp="1"/>
          </p:cNvSpPr>
          <p:nvPr>
            <p:ph sz="quarter" idx="13"/>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mj-lt"/>
              </a:defRPr>
            </a:lvl1pPr>
            <a:lvl2pPr>
              <a:defRPr lang="en-US" sz="1200" dirty="0" smtClean="0">
                <a:solidFill>
                  <a:schemeClr val="tx1">
                    <a:lumMod val="75000"/>
                    <a:lumOff val="25000"/>
                  </a:schemeClr>
                </a:solidFill>
              </a:defRPr>
            </a:lvl2pPr>
            <a:lvl3pPr>
              <a:defRPr lang="en-US" sz="1200" dirty="0" smtClean="0">
                <a:solidFill>
                  <a:schemeClr val="tx1">
                    <a:lumMod val="75000"/>
                    <a:lumOff val="25000"/>
                  </a:schemeClr>
                </a:solidFill>
              </a:defRPr>
            </a:lvl3pPr>
            <a:lvl4pPr>
              <a:defRPr lang="en-US" sz="1200" dirty="0" smtClean="0">
                <a:solidFill>
                  <a:schemeClr val="tx1">
                    <a:lumMod val="75000"/>
                    <a:lumOff val="25000"/>
                  </a:schemeClr>
                </a:solidFill>
              </a:defRPr>
            </a:lvl4pPr>
            <a:lvl5pPr>
              <a:defRPr lang="en-US" sz="1200" dirty="0">
                <a:solidFill>
                  <a:schemeClr val="tx1">
                    <a:lumMod val="75000"/>
                    <a:lumOff val="25000"/>
                  </a:schemeClr>
                </a:solidFill>
              </a:defRPr>
            </a:lvl5pPr>
          </a:lstStyle>
          <a:p>
            <a:pPr marL="0" lvl="0" indent="0" rtl="0">
              <a:lnSpc>
                <a:spcPct val="150000"/>
              </a:lnSpc>
              <a:spcBef>
                <a:spcPts val="1000"/>
              </a:spcBef>
              <a:spcAft>
                <a:spcPts val="1200"/>
              </a:spcAft>
              <a:buNone/>
            </a:pPr>
            <a:r>
              <a:rPr lang="el-GR" noProof="0"/>
              <a:t>Επεξεργασία στυλ υποδείγματος κειμένου</a:t>
            </a:r>
          </a:p>
          <a:p>
            <a:pPr marL="0" lvl="1" indent="0" rtl="0">
              <a:lnSpc>
                <a:spcPct val="150000"/>
              </a:lnSpc>
              <a:spcBef>
                <a:spcPts val="1000"/>
              </a:spcBef>
              <a:spcAft>
                <a:spcPts val="1200"/>
              </a:spcAft>
              <a:buNone/>
            </a:pPr>
            <a:r>
              <a:rPr lang="el-GR" noProof="0"/>
              <a:t>Δεύτερου επιπέδου</a:t>
            </a:r>
          </a:p>
          <a:p>
            <a:pPr marL="0" lvl="2" indent="0" rtl="0">
              <a:lnSpc>
                <a:spcPct val="150000"/>
              </a:lnSpc>
              <a:spcBef>
                <a:spcPts val="1000"/>
              </a:spcBef>
              <a:spcAft>
                <a:spcPts val="1200"/>
              </a:spcAft>
              <a:buNone/>
            </a:pPr>
            <a:r>
              <a:rPr lang="el-GR" noProof="0"/>
              <a:t>Τρίτου επιπέδου</a:t>
            </a:r>
          </a:p>
          <a:p>
            <a:pPr marL="0" lvl="3" indent="0" rtl="0">
              <a:lnSpc>
                <a:spcPct val="150000"/>
              </a:lnSpc>
              <a:spcBef>
                <a:spcPts val="1000"/>
              </a:spcBef>
              <a:spcAft>
                <a:spcPts val="1200"/>
              </a:spcAft>
              <a:buNone/>
            </a:pPr>
            <a:r>
              <a:rPr lang="el-GR" noProof="0"/>
              <a:t>Τέταρτου επιπέδου</a:t>
            </a:r>
          </a:p>
          <a:p>
            <a:pPr marL="0" lvl="4" indent="0" rtl="0">
              <a:lnSpc>
                <a:spcPct val="150000"/>
              </a:lnSpc>
              <a:spcBef>
                <a:spcPts val="1000"/>
              </a:spcBef>
              <a:spcAft>
                <a:spcPts val="1200"/>
              </a:spcAft>
              <a:buNone/>
            </a:pPr>
            <a:r>
              <a:rPr lang="el-GR" noProof="0"/>
              <a:t>Πέμπτου επιπέδου</a:t>
            </a:r>
            <a:endParaRPr lang="el-GR" noProof="0" dirty="0"/>
          </a:p>
        </p:txBody>
      </p:sp>
    </p:spTree>
    <p:extLst>
      <p:ext uri="{BB962C8B-B14F-4D97-AF65-F5344CB8AC3E}">
        <p14:creationId xmlns:p14="http://schemas.microsoft.com/office/powerpoint/2010/main" val="133565553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Ορθογώνιο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el-GR" sz="1800" dirty="0"/>
          </a:p>
        </p:txBody>
      </p:sp>
      <p:sp>
        <p:nvSpPr>
          <p:cNvPr id="2" name="Θέση τίτλου 1"/>
          <p:cNvSpPr>
            <a:spLocks noGrp="1"/>
          </p:cNvSpPr>
          <p:nvPr>
            <p:ph type="title"/>
          </p:nvPr>
        </p:nvSpPr>
        <p:spPr>
          <a:xfrm>
            <a:off x="521208" y="448056"/>
            <a:ext cx="10058302" cy="640080"/>
          </a:xfrm>
          <a:prstGeom prst="rect">
            <a:avLst/>
          </a:prstGeom>
        </p:spPr>
        <p:txBody>
          <a:bodyPr vert="horz" lIns="91440" tIns="45720" rIns="91440" bIns="45720" rtlCol="0" anchor="b" anchorCtr="0">
            <a:normAutofit/>
          </a:bodyPr>
          <a:lstStyle/>
          <a:p>
            <a:pPr rtl="0"/>
            <a:r>
              <a:rPr lang="el-GR" dirty="0"/>
              <a:t>Κάντε κλικ για να επεξεργαστείτε το Στυλ κύριου τίτλου</a:t>
            </a:r>
          </a:p>
        </p:txBody>
      </p:sp>
      <p:sp>
        <p:nvSpPr>
          <p:cNvPr id="3" name="Θέση κειμένου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el-GR" dirty="0"/>
              <a:t>Επεξεργασία στυλ υποδείγματος κειμένου</a:t>
            </a:r>
          </a:p>
          <a:p>
            <a:pPr marL="228600" lvl="0" indent="-228600" algn="l" defTabSz="914400" rtl="0" eaLnBrk="1" latinLnBrk="0" hangingPunct="1">
              <a:lnSpc>
                <a:spcPct val="90000"/>
              </a:lnSpc>
              <a:spcBef>
                <a:spcPct val="30000"/>
              </a:spcBef>
              <a:buFont typeface="Arial" panose="020B0604020202020204" pitchFamily="34" charset="0"/>
              <a:buChar char="•"/>
            </a:pPr>
            <a:r>
              <a:rPr lang="el-GR" dirty="0"/>
              <a:t>Δεύτερου επιπέδου</a:t>
            </a:r>
          </a:p>
          <a:p>
            <a:pPr marL="685800" lvl="1" indent="-228600" algn="l" defTabSz="914400" rtl="0" eaLnBrk="1" latinLnBrk="0" hangingPunct="1">
              <a:lnSpc>
                <a:spcPct val="90000"/>
              </a:lnSpc>
              <a:spcBef>
                <a:spcPct val="30000"/>
              </a:spcBef>
              <a:buFont typeface="Arial" panose="020B0604020202020204" pitchFamily="34" charset="0"/>
              <a:buChar char="•"/>
            </a:pPr>
            <a:r>
              <a:rPr lang="el-GR" dirty="0"/>
              <a:t>Τρίτου επιπέδου</a:t>
            </a:r>
          </a:p>
          <a:p>
            <a:pPr marL="1143000" lvl="2" indent="-228600" algn="l" defTabSz="914400" rtl="0" eaLnBrk="1" latinLnBrk="0" hangingPunct="1">
              <a:lnSpc>
                <a:spcPct val="90000"/>
              </a:lnSpc>
              <a:spcBef>
                <a:spcPct val="30000"/>
              </a:spcBef>
              <a:buFont typeface="Arial" panose="020B0604020202020204" pitchFamily="34" charset="0"/>
              <a:buChar char="•"/>
            </a:pPr>
            <a:r>
              <a:rPr lang="el-GR" dirty="0"/>
              <a:t>Τέταρτου επιπέδου</a:t>
            </a:r>
          </a:p>
          <a:p>
            <a:pPr marL="1600200" lvl="3" indent="-228600" algn="l" defTabSz="914400" rtl="0" eaLnBrk="1" latinLnBrk="0" hangingPunct="1">
              <a:lnSpc>
                <a:spcPct val="90000"/>
              </a:lnSpc>
              <a:spcBef>
                <a:spcPct val="30000"/>
              </a:spcBef>
              <a:buFont typeface="Arial" panose="020B0604020202020204" pitchFamily="34" charset="0"/>
              <a:buChar char="•"/>
            </a:pPr>
            <a:r>
              <a:rPr lang="el-GR" dirty="0"/>
              <a:t>Πέμπτου επιπέδου</a:t>
            </a:r>
          </a:p>
        </p:txBody>
      </p:sp>
      <p:sp>
        <p:nvSpPr>
          <p:cNvPr id="4" name="Θέση ημερομηνίας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pPr rtl="0"/>
            <a:fld id="{577B7329-A8D8-42EA-B94C-D5FD42F8F744}" type="datetime1">
              <a:rPr lang="el-GR" smtClean="0"/>
              <a:t>4/12/2018</a:t>
            </a:fld>
            <a:endParaRPr lang="el-GR" dirty="0"/>
          </a:p>
        </p:txBody>
      </p:sp>
      <p:sp>
        <p:nvSpPr>
          <p:cNvPr id="5" name="Θέση υποσέλιδου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pPr rtl="0"/>
            <a:endParaRPr lang="el-GR" dirty="0"/>
          </a:p>
        </p:txBody>
      </p:sp>
      <p:sp>
        <p:nvSpPr>
          <p:cNvPr id="6" name="Θέση αριθμού διαφάνειας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pPr rtl="0"/>
            <a:fld id="{9860EDB8-5305-433F-BE41-D7A86D811DB3}" type="slidenum">
              <a:rPr lang="el-GR" smtClean="0"/>
              <a:pPr/>
              <a:t>‹#›</a:t>
            </a:fld>
            <a:endParaRPr lang="el-GR" dirty="0"/>
          </a:p>
        </p:txBody>
      </p:sp>
      <p:cxnSp>
        <p:nvCxnSpPr>
          <p:cNvPr id="8" name="Ευθεία γραμμή σύνδεσης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Lst>
  <p:hf sldNum="0" hdr="0" ftr="0" dt="0"/>
  <p:txStyles>
    <p:titleStyle>
      <a:lvl1pPr algn="l" defTabSz="914400" rtl="0" eaLnBrk="1" latinLnBrk="0" hangingPunct="1">
        <a:spcBef>
          <a:spcPct val="0"/>
        </a:spcBef>
        <a:buNone/>
        <a:defRPr sz="2800" kern="1200">
          <a:solidFill>
            <a:schemeClr val="tx1"/>
          </a:solidFill>
          <a:latin typeface="+mj-lt"/>
          <a:ea typeface="+mj-ea"/>
          <a:cs typeface="+mj-cs"/>
        </a:defRPr>
      </a:lvl1pPr>
    </p:titleStyle>
    <p:bodyStyle>
      <a:lvl1pPr marL="0" indent="0" algn="l" defTabSz="914400" rtl="0" eaLnBrk="1" latinLnBrk="0" hangingPunct="1">
        <a:lnSpc>
          <a:spcPct val="150000"/>
        </a:lnSpc>
        <a:spcBef>
          <a:spcPts val="1000"/>
        </a:spcBef>
        <a:spcAft>
          <a:spcPts val="1200"/>
        </a:spcAft>
        <a:buFontTx/>
        <a:buNone/>
        <a:defRPr lang="en-US" sz="1200" kern="1200" dirty="0">
          <a:solidFill>
            <a:schemeClr val="tx1"/>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bit.ly/2Q5Dr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mbientlab.com/product/metawearc" TargetMode="Externa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5.png"/><Relationship Id="rId4"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hyperlink" Target="http://www.stat.ucla.edu/~sabatti/statarray/textr/node5.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hyperlink" Target="http://scikit-learn.org/stable/auto_examples/cluster/plot_kmeans_silhouette_analysis.html" TargetMode="External"/><Relationship Id="rId4" Type="http://schemas.openxmlformats.org/officeDocument/2006/relationships/hyperlink" Target="http://scikit-learn.org/stable/modules/lda_qda.html"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cikit-learn.org/stable/modules/generated/sklearn.decomposition.PCA.html"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ctrTitle"/>
          </p:nvPr>
        </p:nvSpPr>
        <p:spPr>
          <a:xfrm>
            <a:off x="838200" y="1164324"/>
            <a:ext cx="10515600" cy="2387600"/>
          </a:xfrm>
        </p:spPr>
        <p:txBody>
          <a:bodyPr rtlCol="0" anchor="ctr" anchorCtr="0">
            <a:normAutofit/>
          </a:bodyPr>
          <a:lstStyle/>
          <a:p>
            <a:pPr rtl="0"/>
            <a:r>
              <a:rPr lang="el-GR" sz="4800" dirty="0">
                <a:solidFill>
                  <a:schemeClr val="bg1"/>
                </a:solidFill>
              </a:rPr>
              <a:t>Μηχανική Μάθηση και Αθλητισμός</a:t>
            </a:r>
          </a:p>
        </p:txBody>
      </p:sp>
      <p:sp>
        <p:nvSpPr>
          <p:cNvPr id="3" name="Υπότιτλος 2"/>
          <p:cNvSpPr>
            <a:spLocks noGrp="1"/>
          </p:cNvSpPr>
          <p:nvPr>
            <p:ph type="subTitle" idx="4294967295"/>
          </p:nvPr>
        </p:nvSpPr>
        <p:spPr>
          <a:xfrm>
            <a:off x="855620" y="2933105"/>
            <a:ext cx="9582736" cy="1137793"/>
          </a:xfrm>
        </p:spPr>
        <p:txBody>
          <a:bodyPr rtlCol="0">
            <a:normAutofit fontScale="85000" lnSpcReduction="20000"/>
          </a:bodyPr>
          <a:lstStyle/>
          <a:p>
            <a:pPr marL="0" indent="0" rtl="0">
              <a:buNone/>
            </a:pPr>
            <a:r>
              <a:rPr lang="el-GR" sz="2400" dirty="0">
                <a:solidFill>
                  <a:schemeClr val="bg1"/>
                </a:solidFill>
                <a:latin typeface="+mj-lt"/>
              </a:rPr>
              <a:t>Μαυροπούλου Κυριακή, ΑΕΜ 12</a:t>
            </a:r>
          </a:p>
          <a:p>
            <a:pPr marL="0" indent="0" rtl="0">
              <a:buNone/>
            </a:pPr>
            <a:r>
              <a:rPr lang="el-GR" sz="2400" dirty="0">
                <a:solidFill>
                  <a:schemeClr val="bg1"/>
                </a:solidFill>
                <a:latin typeface="+mj-lt"/>
              </a:rPr>
              <a:t>Μπάμπης Νικόλαος, ΑΕΜ 13</a:t>
            </a:r>
          </a:p>
        </p:txBody>
      </p:sp>
      <p:pic>
        <p:nvPicPr>
          <p:cNvPr id="6" name="Εικόνα 5">
            <a:extLst>
              <a:ext uri="{FF2B5EF4-FFF2-40B4-BE49-F238E27FC236}">
                <a16:creationId xmlns:a16="http://schemas.microsoft.com/office/drawing/2014/main" id="{5323E79F-2D72-413A-8A58-9C858F1944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409813" y="5485787"/>
            <a:ext cx="2545173" cy="1148254"/>
          </a:xfrm>
          <a:prstGeom prst="rect">
            <a:avLst/>
          </a:prstGeom>
        </p:spPr>
      </p:pic>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10578915" cy="640080"/>
          </a:xfrm>
        </p:spPr>
        <p:txBody>
          <a:bodyPr rtlCol="0">
            <a:noAutofit/>
          </a:bodyPr>
          <a:lstStyle/>
          <a:p>
            <a:pPr rtl="0"/>
            <a:r>
              <a:rPr lang="el-GR" dirty="0">
                <a:latin typeface="Segoe UI Light" panose="020B0502040204020203" pitchFamily="34" charset="0"/>
                <a:cs typeface="Segoe UI Light" panose="020B0502040204020203" pitchFamily="34" charset="0"/>
              </a:rPr>
              <a:t>Η ορολογία «</a:t>
            </a:r>
            <a:r>
              <a:rPr lang="en-US" dirty="0">
                <a:latin typeface="Segoe UI Light" panose="020B0502040204020203" pitchFamily="34" charset="0"/>
                <a:cs typeface="Segoe UI Light" panose="020B0502040204020203" pitchFamily="34" charset="0"/>
              </a:rPr>
              <a:t>Machine Learning</a:t>
            </a:r>
            <a:r>
              <a:rPr lang="el-GR" dirty="0">
                <a:latin typeface="Segoe UI Light" panose="020B0502040204020203" pitchFamily="34" charset="0"/>
                <a:cs typeface="Segoe UI Light" panose="020B0502040204020203" pitchFamily="34" charset="0"/>
              </a:rPr>
              <a:t>»</a:t>
            </a:r>
          </a:p>
        </p:txBody>
      </p:sp>
      <p:sp>
        <p:nvSpPr>
          <p:cNvPr id="38" name="Θέση περιεχομένου 17"/>
          <p:cNvSpPr txBox="1">
            <a:spLocks/>
          </p:cNvSpPr>
          <p:nvPr/>
        </p:nvSpPr>
        <p:spPr>
          <a:xfrm>
            <a:off x="541610" y="1524708"/>
            <a:ext cx="4321704" cy="387151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l-GR" sz="1400" dirty="0">
                <a:latin typeface="Segoe UI" panose="020B0502040204020203" pitchFamily="34" charset="0"/>
                <a:cs typeface="Segoe UI" panose="020B0502040204020203" pitchFamily="34" charset="0"/>
              </a:rPr>
              <a:t>Η χρήση των δεδομένων στον αθλητισμό, έχει δει μεγάλη ανάπτυξη τα τελευταία χρόνια. Έτσι λοιπόν υπάρχει μεγάλη ανάγκη πλέον στην  διερεύνηση μελέτης και την κατασκευή αλγορίθμων που μπορούν να μαθαίνουν από τα δεδομένα αυτά. Τέτοιο αλγόριθμοι λειτουργούν, δημιουργώντας μοντέλα από δεδομένα, προκειμένου να κάνουν προβλέψεις ή να εξάγουν αποφάσεις που εκφράζονται ως το αποτέλεσμα.</a:t>
            </a:r>
          </a:p>
        </p:txBody>
      </p:sp>
      <p:pic>
        <p:nvPicPr>
          <p:cNvPr id="3" name="Εικόνα 2">
            <a:extLst>
              <a:ext uri="{FF2B5EF4-FFF2-40B4-BE49-F238E27FC236}">
                <a16:creationId xmlns:a16="http://schemas.microsoft.com/office/drawing/2014/main" id="{8FCAADA0-4330-41C5-A1F4-5AAC37BA0E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170714" y="3209773"/>
            <a:ext cx="6479676" cy="2737891"/>
          </a:xfrm>
          <a:prstGeom prst="rect">
            <a:avLst/>
          </a:prstGeom>
        </p:spPr>
      </p:pic>
      <p:sp>
        <p:nvSpPr>
          <p:cNvPr id="7" name="Θέση περιεχομένου 17">
            <a:extLst>
              <a:ext uri="{FF2B5EF4-FFF2-40B4-BE49-F238E27FC236}">
                <a16:creationId xmlns:a16="http://schemas.microsoft.com/office/drawing/2014/main" id="{12156FDE-401E-4EAE-80DB-835E893FF230}"/>
              </a:ext>
            </a:extLst>
          </p:cNvPr>
          <p:cNvSpPr txBox="1">
            <a:spLocks/>
          </p:cNvSpPr>
          <p:nvPr/>
        </p:nvSpPr>
        <p:spPr>
          <a:xfrm>
            <a:off x="10920972" y="5947664"/>
            <a:ext cx="729418" cy="33745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a:spcAft>
                <a:spcPts val="600"/>
              </a:spcAft>
              <a:buNone/>
              <a:defRPr/>
            </a:pPr>
            <a:r>
              <a:rPr lang="en-US" sz="1400" dirty="0">
                <a:latin typeface="Segoe UI" panose="020B0502040204020203" pitchFamily="34" charset="0"/>
                <a:cs typeface="Segoe UI" panose="020B0502040204020203" pitchFamily="34" charset="0"/>
                <a:hlinkClick r:id="rId4"/>
              </a:rPr>
              <a:t>source</a:t>
            </a:r>
            <a:endParaRPr lang="el-GR" sz="14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4576161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Τίτλος 3"/>
          <p:cNvSpPr>
            <a:spLocks noGrp="1"/>
          </p:cNvSpPr>
          <p:nvPr>
            <p:ph type="title"/>
          </p:nvPr>
        </p:nvSpPr>
        <p:spPr>
          <a:xfrm>
            <a:off x="521207" y="448056"/>
            <a:ext cx="11090690" cy="640080"/>
          </a:xfrm>
        </p:spPr>
        <p:txBody>
          <a:bodyPr rtlCol="0">
            <a:normAutofit/>
          </a:bodyPr>
          <a:lstStyle/>
          <a:p>
            <a:r>
              <a:rPr lang="el-GR" dirty="0">
                <a:latin typeface="Segoe UI Light" panose="020B0502040204020203" pitchFamily="34" charset="0"/>
                <a:cs typeface="Segoe UI Light" panose="020B0502040204020203" pitchFamily="34" charset="0"/>
              </a:rPr>
              <a:t>-Εφαρμογή Αισθητήρα </a:t>
            </a:r>
            <a:r>
              <a:rPr lang="en-US" dirty="0">
                <a:latin typeface="Segoe UI Light" panose="020B0502040204020203" pitchFamily="34" charset="0"/>
                <a:cs typeface="Segoe UI Light" panose="020B0502040204020203" pitchFamily="34" charset="0"/>
              </a:rPr>
              <a:t>“MetawearC” </a:t>
            </a:r>
            <a:r>
              <a:rPr lang="el-GR" dirty="0">
                <a:latin typeface="Segoe UI Light" panose="020B0502040204020203" pitchFamily="34" charset="0"/>
                <a:cs typeface="Segoe UI Light" panose="020B0502040204020203" pitchFamily="34" charset="0"/>
              </a:rPr>
              <a:t>στο Ποδόσφαιρο.</a:t>
            </a:r>
          </a:p>
        </p:txBody>
      </p:sp>
      <p:sp>
        <p:nvSpPr>
          <p:cNvPr id="25"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sz="1600" dirty="0">
                <a:latin typeface="Segoe UI" panose="020B0502040204020203" pitchFamily="34" charset="0"/>
                <a:cs typeface="Segoe UI" panose="020B0502040204020203" pitchFamily="34" charset="0"/>
              </a:rPr>
              <a:t>Πώς λειτουργεί:</a:t>
            </a:r>
          </a:p>
        </p:txBody>
      </p:sp>
      <p:sp>
        <p:nvSpPr>
          <p:cNvPr id="21" name="Θέση περιεχομένου 17"/>
          <p:cNvSpPr txBox="1">
            <a:spLocks/>
          </p:cNvSpPr>
          <p:nvPr/>
        </p:nvSpPr>
        <p:spPr>
          <a:xfrm>
            <a:off x="844563" y="2058984"/>
            <a:ext cx="5878966" cy="412966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κατάλληλου αισθητήρα, με χαρακτηριστικά</a:t>
            </a:r>
            <a:r>
              <a:rPr lang="en-US" sz="1400" dirty="0">
                <a:solidFill>
                  <a:prstClr val="black">
                    <a:lumMod val="75000"/>
                    <a:lumOff val="25000"/>
                  </a:prstClr>
                </a:solidFill>
                <a:latin typeface="Segoe UI" panose="020B0502040204020203" pitchFamily="34" charset="0"/>
                <a:cs typeface="Segoe UI" panose="020B0502040204020203" pitchFamily="34" charset="0"/>
              </a:rPr>
              <a:t>:</a:t>
            </a:r>
            <a:br>
              <a:rPr lang="en-US"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επιταχυνσιόμετρο - γυροσκόπιο.</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Τοποθέτηση αισθητήρα σε ειδικό ποδοσφαιρικό παπούτσι αθλητή</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καταγραφή κίνησης.</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Αποστολή δεδομένων μέσω </a:t>
            </a:r>
            <a:r>
              <a:rPr lang="en-US" sz="1400" dirty="0">
                <a:solidFill>
                  <a:prstClr val="black">
                    <a:lumMod val="75000"/>
                    <a:lumOff val="25000"/>
                  </a:prstClr>
                </a:solidFill>
                <a:latin typeface="Segoe UI" panose="020B0502040204020203" pitchFamily="34" charset="0"/>
                <a:cs typeface="Segoe UI" panose="020B0502040204020203" pitchFamily="34" charset="0"/>
              </a:rPr>
              <a:t>cloud</a:t>
            </a:r>
            <a:r>
              <a:rPr lang="el-GR" sz="1400" dirty="0">
                <a:solidFill>
                  <a:prstClr val="black">
                    <a:lumMod val="75000"/>
                    <a:lumOff val="25000"/>
                  </a:prstClr>
                </a:solidFill>
                <a:latin typeface="Segoe UI" panose="020B0502040204020203" pitchFamily="34" charset="0"/>
                <a:cs typeface="Segoe UI" panose="020B0502040204020203" pitchFamily="34" charset="0"/>
              </a:rPr>
              <a:t> ή επιλογή </a:t>
            </a:r>
            <a:r>
              <a:rPr lang="en-US" sz="1400" dirty="0">
                <a:solidFill>
                  <a:prstClr val="black">
                    <a:lumMod val="75000"/>
                    <a:lumOff val="25000"/>
                  </a:prstClr>
                </a:solidFill>
                <a:latin typeface="Segoe UI" panose="020B0502040204020203" pitchFamily="34" charset="0"/>
                <a:cs typeface="Segoe UI" panose="020B0502040204020203" pitchFamily="34" charset="0"/>
              </a:rPr>
              <a:t>download</a:t>
            </a:r>
            <a:r>
              <a:rPr lang="el-GR" sz="1400" dirty="0">
                <a:solidFill>
                  <a:prstClr val="black">
                    <a:lumMod val="75000"/>
                    <a:lumOff val="25000"/>
                  </a:prstClr>
                </a:solidFill>
                <a:latin typeface="Segoe UI" panose="020B0502040204020203" pitchFamily="34" charset="0"/>
                <a:cs typeface="Segoe UI" panose="020B0502040204020203" pitchFamily="34" charset="0"/>
              </a:rPr>
              <a:t> σε μορφή </a:t>
            </a:r>
            <a:r>
              <a:rPr lang="en-US" sz="1400" dirty="0">
                <a:solidFill>
                  <a:prstClr val="black">
                    <a:lumMod val="75000"/>
                    <a:lumOff val="25000"/>
                  </a:prstClr>
                </a:solidFill>
                <a:latin typeface="Segoe UI" panose="020B0502040204020203" pitchFamily="34" charset="0"/>
                <a:cs typeface="Segoe UI" panose="020B0502040204020203" pitchFamily="34" charset="0"/>
              </a:rPr>
              <a:t>.csv </a:t>
            </a:r>
            <a:r>
              <a:rPr lang="el-GR" sz="1400" dirty="0">
                <a:solidFill>
                  <a:prstClr val="black">
                    <a:lumMod val="75000"/>
                    <a:lumOff val="25000"/>
                  </a:prstClr>
                </a:solidFill>
                <a:latin typeface="Segoe UI" panose="020B0502040204020203" pitchFamily="34" charset="0"/>
                <a:cs typeface="Segoe UI" panose="020B0502040204020203" pitchFamily="34" charset="0"/>
              </a:rPr>
              <a:t>αρχείου</a:t>
            </a:r>
            <a:r>
              <a:rPr lang="en-US" sz="1400" dirty="0">
                <a:solidFill>
                  <a:prstClr val="black">
                    <a:lumMod val="75000"/>
                    <a:lumOff val="25000"/>
                  </a:prstClr>
                </a:solidFill>
                <a:latin typeface="Segoe UI" panose="020B0502040204020203" pitchFamily="34" charset="0"/>
                <a:cs typeface="Segoe UI" panose="020B0502040204020203" pitchFamily="34" charset="0"/>
              </a:rPr>
              <a:t>.</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Οπτικοποίηση δεδομένων και καθαρισμός αυτών.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Επιλογή αλγορίθμου (</a:t>
            </a:r>
            <a:r>
              <a:rPr lang="en-US" sz="1400" dirty="0">
                <a:solidFill>
                  <a:prstClr val="black">
                    <a:lumMod val="75000"/>
                    <a:lumOff val="25000"/>
                  </a:prstClr>
                </a:solidFill>
                <a:latin typeface="Segoe UI" panose="020B0502040204020203" pitchFamily="34" charset="0"/>
                <a:cs typeface="Segoe UI" panose="020B0502040204020203" pitchFamily="34" charset="0"/>
              </a:rPr>
              <a:t>k-Nearest-Neighbor Classifier</a:t>
            </a:r>
            <a:r>
              <a:rPr lang="el-GR" sz="1400" dirty="0">
                <a:solidFill>
                  <a:prstClr val="black">
                    <a:lumMod val="75000"/>
                    <a:lumOff val="25000"/>
                  </a:prstClr>
                </a:solidFill>
                <a:latin typeface="Segoe UI" panose="020B0502040204020203" pitchFamily="34" charset="0"/>
                <a:cs typeface="Segoe UI" panose="020B0502040204020203" pitchFamily="34" charset="0"/>
              </a:rPr>
              <a:t>) για την ανάλυση των δεδομένων και εξαγωγή προβλέψεων.</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Διαχωρισμός δεδομένων σε </a:t>
            </a:r>
            <a:r>
              <a:rPr lang="en-US" sz="1400" dirty="0">
                <a:solidFill>
                  <a:prstClr val="black">
                    <a:lumMod val="75000"/>
                    <a:lumOff val="25000"/>
                  </a:prstClr>
                </a:solidFill>
                <a:latin typeface="Segoe UI" panose="020B0502040204020203" pitchFamily="34" charset="0"/>
                <a:cs typeface="Segoe UI" panose="020B0502040204020203" pitchFamily="34" charset="0"/>
              </a:rPr>
              <a:t>training set </a:t>
            </a:r>
            <a:r>
              <a:rPr lang="el-GR" sz="1400" dirty="0">
                <a:solidFill>
                  <a:prstClr val="black">
                    <a:lumMod val="75000"/>
                    <a:lumOff val="25000"/>
                  </a:prstClr>
                </a:solidFill>
                <a:latin typeface="Segoe UI" panose="020B0502040204020203" pitchFamily="34" charset="0"/>
                <a:cs typeface="Segoe UI" panose="020B0502040204020203" pitchFamily="34" charset="0"/>
              </a:rPr>
              <a:t>και </a:t>
            </a:r>
            <a:r>
              <a:rPr lang="en-US" sz="1400" dirty="0">
                <a:solidFill>
                  <a:prstClr val="black">
                    <a:lumMod val="75000"/>
                    <a:lumOff val="25000"/>
                  </a:prstClr>
                </a:solidFill>
                <a:latin typeface="Segoe UI" panose="020B0502040204020203" pitchFamily="34" charset="0"/>
                <a:cs typeface="Segoe UI" panose="020B0502040204020203" pitchFamily="34" charset="0"/>
              </a:rPr>
              <a:t>test set.</a:t>
            </a:r>
            <a:r>
              <a:rPr lang="el-GR" sz="1400" dirty="0">
                <a:solidFill>
                  <a:prstClr val="black">
                    <a:lumMod val="75000"/>
                    <a:lumOff val="25000"/>
                  </a:prstClr>
                </a:solidFill>
                <a:latin typeface="Segoe UI" panose="020B0502040204020203" pitchFamily="34" charset="0"/>
                <a:cs typeface="Segoe UI" panose="020B0502040204020203" pitchFamily="34" charset="0"/>
              </a:rPr>
              <a:t> </a:t>
            </a:r>
          </a:p>
          <a:p>
            <a:pPr>
              <a:spcAft>
                <a:spcPts val="600"/>
              </a:spcAft>
              <a:buFont typeface="Wingdings" panose="05000000000000000000" pitchFamily="2" charset="2"/>
              <a:buChar char="Ø"/>
              <a:defRPr/>
            </a:pPr>
            <a:r>
              <a:rPr lang="el-GR" sz="1400" dirty="0">
                <a:solidFill>
                  <a:prstClr val="black">
                    <a:lumMod val="75000"/>
                    <a:lumOff val="25000"/>
                  </a:prstClr>
                </a:solidFill>
                <a:latin typeface="Segoe UI" panose="020B0502040204020203" pitchFamily="34" charset="0"/>
                <a:cs typeface="Segoe UI" panose="020B0502040204020203" pitchFamily="34" charset="0"/>
              </a:rPr>
              <a:t>Πρόβλεψη για το αν υπάρχει επαφή με την μπάλα ή όχι. </a:t>
            </a: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a:p>
            <a:pPr>
              <a:spcAft>
                <a:spcPts val="6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a:p>
            <a:pPr>
              <a:spcAft>
                <a:spcPts val="600"/>
              </a:spcAft>
              <a:buFont typeface="Wingdings" panose="05000000000000000000" pitchFamily="2" charset="2"/>
              <a:buChar char="Ø"/>
              <a:defRPr/>
            </a:pPr>
            <a:endParaRPr lang="el-GR" sz="1400" dirty="0">
              <a:solidFill>
                <a:prstClr val="black">
                  <a:lumMod val="75000"/>
                  <a:lumOff val="25000"/>
                </a:prstClr>
              </a:solidFill>
              <a:cs typeface="Segoe UI"/>
            </a:endParaRPr>
          </a:p>
        </p:txBody>
      </p:sp>
      <p:sp>
        <p:nvSpPr>
          <p:cNvPr id="46" name="Θέση περιεχομένου 17">
            <a:extLst>
              <a:ext uri="{FF2B5EF4-FFF2-40B4-BE49-F238E27FC236}">
                <a16:creationId xmlns:a16="http://schemas.microsoft.com/office/drawing/2014/main" id="{0CABEA57-7AA8-485B-9F05-DBF59718FF4B}"/>
              </a:ext>
            </a:extLst>
          </p:cNvPr>
          <p:cNvSpPr txBox="1">
            <a:spLocks/>
          </p:cNvSpPr>
          <p:nvPr/>
        </p:nvSpPr>
        <p:spPr>
          <a:xfrm>
            <a:off x="847130" y="3994925"/>
            <a:ext cx="5158129" cy="56353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a:spcAft>
                <a:spcPts val="2000"/>
              </a:spcAft>
              <a:buFont typeface="Wingdings" panose="05000000000000000000" pitchFamily="2" charset="2"/>
              <a:buChar char="Ø"/>
              <a:defRPr/>
            </a:pP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3" name="Εικόνα 2">
            <a:extLst>
              <a:ext uri="{FF2B5EF4-FFF2-40B4-BE49-F238E27FC236}">
                <a16:creationId xmlns:a16="http://schemas.microsoft.com/office/drawing/2014/main" id="{06DBD0A2-8165-43C1-9594-F0CF98B807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1258" y="1411693"/>
            <a:ext cx="3711906" cy="248768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Εικόνα 5">
            <a:extLst>
              <a:ext uri="{FF2B5EF4-FFF2-40B4-BE49-F238E27FC236}">
                <a16:creationId xmlns:a16="http://schemas.microsoft.com/office/drawing/2014/main" id="{F054A5A8-D269-4013-8822-B6DC123FC6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66698" y="4635450"/>
            <a:ext cx="4467849" cy="1733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61" name="Θέση περιεχομένου 17">
            <a:extLst>
              <a:ext uri="{FF2B5EF4-FFF2-40B4-BE49-F238E27FC236}">
                <a16:creationId xmlns:a16="http://schemas.microsoft.com/office/drawing/2014/main" id="{F4410B6A-F3CC-481C-B565-48E91FD67D90}"/>
              </a:ext>
            </a:extLst>
          </p:cNvPr>
          <p:cNvSpPr txBox="1">
            <a:spLocks/>
          </p:cNvSpPr>
          <p:nvPr/>
        </p:nvSpPr>
        <p:spPr>
          <a:xfrm>
            <a:off x="7758971" y="3946778"/>
            <a:ext cx="3688494" cy="65908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latin typeface="Segoe UI" panose="020B0502040204020203" pitchFamily="34" charset="0"/>
                <a:cs typeface="Segoe UI" panose="020B0502040204020203" pitchFamily="34" charset="0"/>
              </a:rPr>
              <a:t>Αισθητήρας </a:t>
            </a:r>
            <a:r>
              <a:rPr lang="en-US" dirty="0">
                <a:latin typeface="Segoe UI" panose="020B0502040204020203" pitchFamily="34" charset="0"/>
                <a:cs typeface="Segoe UI" panose="020B0502040204020203" pitchFamily="34" charset="0"/>
              </a:rPr>
              <a:t>MetawearC</a:t>
            </a:r>
            <a:r>
              <a:rPr lang="el-GR" dirty="0">
                <a:latin typeface="Segoe UI" panose="020B0502040204020203" pitchFamily="34" charset="0"/>
                <a:cs typeface="Segoe UI" panose="020B0502040204020203" pitchFamily="34" charset="0"/>
              </a:rPr>
              <a:t> της εταιρείας </a:t>
            </a:r>
            <a:r>
              <a:rPr lang="en-US" dirty="0">
                <a:latin typeface="Segoe UI" panose="020B0502040204020203" pitchFamily="34" charset="0"/>
                <a:cs typeface="Segoe UI" panose="020B0502040204020203" pitchFamily="34" charset="0"/>
              </a:rPr>
              <a:t>MbientLab</a:t>
            </a:r>
            <a:r>
              <a:rPr lang="el-GR" dirty="0">
                <a:latin typeface="Segoe UI" panose="020B0502040204020203" pitchFamily="34" charset="0"/>
                <a:cs typeface="Segoe UI" panose="020B0502040204020203" pitchFamily="34" charset="0"/>
              </a:rPr>
              <a:t>.</a:t>
            </a:r>
            <a:br>
              <a:rPr lang="el-GR" dirty="0">
                <a:latin typeface="Segoe UI" panose="020B0502040204020203" pitchFamily="34" charset="0"/>
                <a:cs typeface="Segoe UI" panose="020B0502040204020203" pitchFamily="34" charset="0"/>
              </a:rPr>
            </a:br>
            <a:r>
              <a:rPr lang="en-US" dirty="0">
                <a:latin typeface="Segoe UI" panose="020B0502040204020203" pitchFamily="34" charset="0"/>
                <a:cs typeface="Segoe UI" panose="020B0502040204020203" pitchFamily="34" charset="0"/>
                <a:hlinkClick r:id="rId5"/>
              </a:rPr>
              <a:t>https://mbientlab.com/product/metawearc </a:t>
            </a:r>
            <a:endParaRPr lang="el-GR" dirty="0">
              <a:latin typeface="Segoe UI" panose="020B0502040204020203" pitchFamily="34" charset="0"/>
              <a:cs typeface="Segoe UI" panose="020B0502040204020203" pitchFamily="34" charset="0"/>
            </a:endParaRPr>
          </a:p>
        </p:txBody>
      </p:sp>
      <p:sp>
        <p:nvSpPr>
          <p:cNvPr id="62" name="Θέση περιεχομένου 17">
            <a:extLst>
              <a:ext uri="{FF2B5EF4-FFF2-40B4-BE49-F238E27FC236}">
                <a16:creationId xmlns:a16="http://schemas.microsoft.com/office/drawing/2014/main" id="{8CFA6769-5F8F-47F8-9E9D-4CBCC41B93F0}"/>
              </a:ext>
            </a:extLst>
          </p:cNvPr>
          <p:cNvSpPr txBox="1">
            <a:spLocks/>
          </p:cNvSpPr>
          <p:nvPr/>
        </p:nvSpPr>
        <p:spPr>
          <a:xfrm>
            <a:off x="7333279" y="638685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latin typeface="Segoe UI" panose="020B0502040204020203" pitchFamily="34" charset="0"/>
                <a:cs typeface="Segoe UI" panose="020B0502040204020203" pitchFamily="34" charset="0"/>
              </a:rPr>
              <a:t>Δεδομένα που εξάγονται από τον αισθητήρα σε μορφή</a:t>
            </a:r>
            <a:r>
              <a:rPr lang="en-US" dirty="0">
                <a:latin typeface="Segoe UI" panose="020B0502040204020203" pitchFamily="34" charset="0"/>
                <a:cs typeface="Segoe UI" panose="020B0502040204020203" pitchFamily="34" charset="0"/>
              </a:rPr>
              <a:t> .csv</a:t>
            </a:r>
            <a:r>
              <a:rPr lang="el-GR" dirty="0">
                <a:latin typeface="Segoe UI" panose="020B0502040204020203" pitchFamily="34" charset="0"/>
                <a:cs typeface="Segoe UI" panose="020B0502040204020203" pitchFamily="34" charset="0"/>
              </a:rPr>
              <a:t> . </a:t>
            </a:r>
          </a:p>
        </p:txBody>
      </p:sp>
    </p:spTree>
    <p:extLst>
      <p:ext uri="{BB962C8B-B14F-4D97-AF65-F5344CB8AC3E}">
        <p14:creationId xmlns:p14="http://schemas.microsoft.com/office/powerpoint/2010/main" val="11070017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CE46F4-5A92-4E8E-BE0C-9212B75BC272}"/>
              </a:ext>
            </a:extLst>
          </p:cNvPr>
          <p:cNvSpPr>
            <a:spLocks noGrp="1"/>
          </p:cNvSpPr>
          <p:nvPr>
            <p:ph type="title"/>
          </p:nvPr>
        </p:nvSpPr>
        <p:spPr/>
        <p:txBody>
          <a:bodyPr/>
          <a:lstStyle/>
          <a:p>
            <a:r>
              <a:rPr lang="el-GR" dirty="0"/>
              <a:t>Αποτελέσματα</a:t>
            </a:r>
            <a:endParaRPr lang="en-US" dirty="0"/>
          </a:p>
        </p:txBody>
      </p:sp>
      <p:sp>
        <p:nvSpPr>
          <p:cNvPr id="3" name="Content Placeholder 2">
            <a:extLst>
              <a:ext uri="{FF2B5EF4-FFF2-40B4-BE49-F238E27FC236}">
                <a16:creationId xmlns:a16="http://schemas.microsoft.com/office/drawing/2014/main" id="{7D73B733-501C-43C8-AEA7-6F79D8ABBF44}"/>
              </a:ext>
            </a:extLst>
          </p:cNvPr>
          <p:cNvSpPr>
            <a:spLocks noGrp="1"/>
          </p:cNvSpPr>
          <p:nvPr>
            <p:ph sz="quarter" idx="10"/>
          </p:nvPr>
        </p:nvSpPr>
        <p:spPr>
          <a:xfrm>
            <a:off x="539495" y="1435608"/>
            <a:ext cx="11151761" cy="2548563"/>
          </a:xfrm>
        </p:spPr>
        <p:txBody>
          <a:bodyPr>
            <a:noAutofit/>
          </a:bodyPr>
          <a:lstStyle/>
          <a:p>
            <a:r>
              <a:rPr lang="el-GR" sz="1400" dirty="0"/>
              <a:t>Ως </a:t>
            </a:r>
            <a:r>
              <a:rPr lang="en-US" sz="1400" dirty="0"/>
              <a:t>training set </a:t>
            </a:r>
            <a:r>
              <a:rPr lang="el-GR" sz="1400" dirty="0"/>
              <a:t>για την συγκεκριμένη υλοποίηση, χρησιμοποιήθηκαν τα εξής δείγματα</a:t>
            </a:r>
            <a:r>
              <a:rPr lang="en-US" sz="1400" dirty="0"/>
              <a:t>:</a:t>
            </a:r>
            <a:endParaRPr lang="el-GR" sz="1400" dirty="0"/>
          </a:p>
          <a:p>
            <a:pPr marL="171450" indent="-171450">
              <a:buFont typeface="Wingdings" panose="05000000000000000000" pitchFamily="2" charset="2"/>
              <a:buChar char="Ø"/>
            </a:pPr>
            <a:r>
              <a:rPr lang="el-GR" sz="1400" dirty="0"/>
              <a:t>τρέξιμο χωρίς καμία επαφή με την μπάλα</a:t>
            </a:r>
          </a:p>
          <a:p>
            <a:pPr marL="171450" indent="-171450">
              <a:buFont typeface="Wingdings" panose="05000000000000000000" pitchFamily="2" charset="2"/>
              <a:buChar char="Ø"/>
            </a:pPr>
            <a:r>
              <a:rPr lang="el-GR" sz="1400" dirty="0"/>
              <a:t>Τρέξιμο με απλή επαφή μπάλας</a:t>
            </a:r>
          </a:p>
          <a:p>
            <a:pPr marL="171450" indent="-171450">
              <a:buFont typeface="Wingdings" panose="05000000000000000000" pitchFamily="2" charset="2"/>
              <a:buChar char="Ø"/>
            </a:pPr>
            <a:r>
              <a:rPr lang="el-GR" sz="1400" dirty="0"/>
              <a:t>Τρέξιμο με πάσες</a:t>
            </a:r>
          </a:p>
          <a:p>
            <a:pPr marL="171450" indent="-171450">
              <a:buFont typeface="Wingdings" panose="05000000000000000000" pitchFamily="2" charset="2"/>
              <a:buChar char="Ø"/>
            </a:pPr>
            <a:r>
              <a:rPr lang="el-GR" sz="1400" dirty="0"/>
              <a:t>Τρέξιμο με εκτέλεση </a:t>
            </a:r>
            <a:r>
              <a:rPr lang="en-US" sz="1400" dirty="0"/>
              <a:t>shoot</a:t>
            </a:r>
            <a:r>
              <a:rPr lang="el-GR" sz="1400" dirty="0"/>
              <a:t>.</a:t>
            </a:r>
            <a:endParaRPr lang="en-US" sz="1400" dirty="0"/>
          </a:p>
        </p:txBody>
      </p:sp>
      <p:sp>
        <p:nvSpPr>
          <p:cNvPr id="4" name="Content Placeholder 2">
            <a:extLst>
              <a:ext uri="{FF2B5EF4-FFF2-40B4-BE49-F238E27FC236}">
                <a16:creationId xmlns:a16="http://schemas.microsoft.com/office/drawing/2014/main" id="{0226E4E3-4CC9-4DB0-8972-93DF81B3BCE8}"/>
              </a:ext>
            </a:extLst>
          </p:cNvPr>
          <p:cNvSpPr txBox="1">
            <a:spLocks/>
          </p:cNvSpPr>
          <p:nvPr/>
        </p:nvSpPr>
        <p:spPr>
          <a:xfrm>
            <a:off x="539495" y="4331643"/>
            <a:ext cx="11151761" cy="1416014"/>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50000"/>
              </a:lnSpc>
              <a:spcBef>
                <a:spcPts val="1000"/>
              </a:spcBef>
              <a:spcAft>
                <a:spcPts val="1200"/>
              </a:spcAft>
              <a:buFontTx/>
              <a:buNone/>
              <a:defRPr lang="en-US" sz="1200" kern="1200" smtClean="0">
                <a:solidFill>
                  <a:schemeClr val="tx1">
                    <a:lumMod val="75000"/>
                    <a:lumOff val="25000"/>
                  </a:schemeClr>
                </a:solidFill>
                <a:latin typeface="+mn-lt"/>
                <a:ea typeface="+mn-ea"/>
                <a:cs typeface="+mn-cs"/>
              </a:defRPr>
            </a:lvl1pPr>
            <a:lvl2pPr marL="228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685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1430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16002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l-GR" sz="1400" dirty="0"/>
              <a:t>Μετά από τον καθορισμό κατωφλιού, για τον καθαρισμό τον δεδομένων υπήρξε η δυνατότητα στο να εντοπισθούν ετικέτες για κάθε ένα «σημείο» που υπήρχε στα δεδομένα. </a:t>
            </a:r>
          </a:p>
          <a:p>
            <a:r>
              <a:rPr lang="el-GR" sz="1400" dirty="0"/>
              <a:t>Ως </a:t>
            </a:r>
            <a:r>
              <a:rPr lang="en-US" sz="1400" dirty="0"/>
              <a:t>testing set</a:t>
            </a:r>
            <a:r>
              <a:rPr lang="el-GR" sz="1400" dirty="0"/>
              <a:t> για την συγκεκριμένη υλοποίηση, χρησιμοποιήθηκε ένα αρχείο, κατά το οποίο ο παίκτης είχε 10 ακριβώς επαφές με την μπάλα. Τα αποτελέσματα του αλγορίθμου, εντόπισαν τις 9!</a:t>
            </a:r>
            <a:r>
              <a:rPr lang="en-US" sz="1400" dirty="0"/>
              <a:t> </a:t>
            </a:r>
            <a:r>
              <a:rPr lang="el-GR" sz="1400" dirty="0"/>
              <a:t>Με 90% επιτυχία λοιπόν, ολοκληρώθηκε αυτή η εφαρμογή.</a:t>
            </a:r>
          </a:p>
        </p:txBody>
      </p:sp>
    </p:spTree>
    <p:extLst>
      <p:ext uri="{BB962C8B-B14F-4D97-AF65-F5344CB8AC3E}">
        <p14:creationId xmlns:p14="http://schemas.microsoft.com/office/powerpoint/2010/main" val="39984303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A8ABF0-B494-4E27-AA0D-1485C663B422}"/>
              </a:ext>
            </a:extLst>
          </p:cNvPr>
          <p:cNvSpPr>
            <a:spLocks noGrp="1"/>
          </p:cNvSpPr>
          <p:nvPr>
            <p:ph type="title"/>
          </p:nvPr>
        </p:nvSpPr>
        <p:spPr>
          <a:xfrm>
            <a:off x="521207" y="448055"/>
            <a:ext cx="10068135" cy="727601"/>
          </a:xfrm>
        </p:spPr>
        <p:txBody>
          <a:bodyPr>
            <a:normAutofit fontScale="90000"/>
          </a:bodyPr>
          <a:lstStyle/>
          <a:p>
            <a:r>
              <a:rPr lang="el-GR" dirty="0"/>
              <a:t>-Πρόβλεψη ποδοσφαιρικού αποτελέσματος με τη χρήση Μηχανικής Μάθησης</a:t>
            </a:r>
            <a:endParaRPr lang="en-US" dirty="0"/>
          </a:p>
        </p:txBody>
      </p:sp>
      <p:sp>
        <p:nvSpPr>
          <p:cNvPr id="3" name="Content Placeholder 2">
            <a:extLst>
              <a:ext uri="{FF2B5EF4-FFF2-40B4-BE49-F238E27FC236}">
                <a16:creationId xmlns:a16="http://schemas.microsoft.com/office/drawing/2014/main" id="{98ED7B23-BF41-4692-B7CB-BFB7EFAD9283}"/>
              </a:ext>
            </a:extLst>
          </p:cNvPr>
          <p:cNvSpPr>
            <a:spLocks noGrp="1"/>
          </p:cNvSpPr>
          <p:nvPr>
            <p:ph sz="quarter" idx="10"/>
          </p:nvPr>
        </p:nvSpPr>
        <p:spPr>
          <a:xfrm>
            <a:off x="552776" y="1440180"/>
            <a:ext cx="11086447" cy="3977640"/>
          </a:xfrm>
        </p:spPr>
        <p:txBody>
          <a:bodyPr>
            <a:normAutofit lnSpcReduction="10000"/>
          </a:bodyPr>
          <a:lstStyle/>
          <a:p>
            <a:pPr marL="171450" indent="-171450">
              <a:lnSpc>
                <a:spcPct val="100000"/>
              </a:lnSpc>
              <a:buFont typeface="Wingdings" panose="05000000000000000000" pitchFamily="2" charset="2"/>
              <a:buChar char="Ø"/>
            </a:pPr>
            <a:r>
              <a:rPr lang="el-GR" sz="1400" dirty="0"/>
              <a:t>Στη συγκεκριμένη εφαρμογή εκτελέστηκαν διάφορες τεχνικές </a:t>
            </a:r>
            <a:r>
              <a:rPr lang="en-US" sz="1400" dirty="0"/>
              <a:t>Machine</a:t>
            </a:r>
            <a:r>
              <a:rPr lang="el-GR" sz="1400" dirty="0"/>
              <a:t> </a:t>
            </a:r>
            <a:r>
              <a:rPr lang="en-US" sz="1400" dirty="0"/>
              <a:t>Learning </a:t>
            </a:r>
            <a:r>
              <a:rPr lang="el-GR" sz="1400" dirty="0"/>
              <a:t>για πρόβλεψη αποτελεσμάτων σε ποδοσφαιρικούς</a:t>
            </a:r>
            <a:r>
              <a:rPr lang="en-US" sz="1400" dirty="0"/>
              <a:t> </a:t>
            </a:r>
            <a:r>
              <a:rPr lang="el-GR" sz="1400" dirty="0"/>
              <a:t>αγώνες τη αγγλικής ομάδας</a:t>
            </a:r>
            <a:r>
              <a:rPr lang="en-US" sz="1400" dirty="0"/>
              <a:t> </a:t>
            </a:r>
            <a:r>
              <a:rPr lang="en-US" sz="1400" dirty="0" err="1"/>
              <a:t>Totenam</a:t>
            </a:r>
            <a:r>
              <a:rPr lang="el-GR" sz="1400" dirty="0"/>
              <a:t>, χρησιμοποιώντας δεδομένα για την περίοδο 1995-1997.</a:t>
            </a:r>
          </a:p>
          <a:p>
            <a:pPr marL="171450" indent="-171450">
              <a:lnSpc>
                <a:spcPct val="100000"/>
              </a:lnSpc>
              <a:buFont typeface="Wingdings" panose="05000000000000000000" pitchFamily="2" charset="2"/>
              <a:buChar char="Ø"/>
            </a:pPr>
            <a:r>
              <a:rPr lang="el-GR" sz="1400" dirty="0"/>
              <a:t>Οι τεχνικές που χρησιμοποιήθηκαν είναι οι εξής:</a:t>
            </a:r>
          </a:p>
          <a:p>
            <a:pPr marL="514350" lvl="1" indent="-285750">
              <a:lnSpc>
                <a:spcPct val="100000"/>
              </a:lnSpc>
            </a:pPr>
            <a:r>
              <a:rPr lang="en-US" sz="1400" dirty="0"/>
              <a:t>Expert Bayes Network</a:t>
            </a:r>
          </a:p>
          <a:p>
            <a:pPr marL="514350" lvl="1" indent="-285750">
              <a:lnSpc>
                <a:spcPct val="100000"/>
              </a:lnSpc>
            </a:pPr>
            <a:r>
              <a:rPr lang="en-US" sz="1400" dirty="0"/>
              <a:t>MC4 Decision Tree</a:t>
            </a:r>
          </a:p>
          <a:p>
            <a:pPr marL="514350" lvl="1" indent="-285750">
              <a:lnSpc>
                <a:spcPct val="100000"/>
              </a:lnSpc>
            </a:pPr>
            <a:r>
              <a:rPr lang="en-US" sz="1400" dirty="0"/>
              <a:t>Naive Bayes</a:t>
            </a:r>
          </a:p>
          <a:p>
            <a:pPr marL="514350" lvl="1" indent="-285750">
              <a:lnSpc>
                <a:spcPct val="100000"/>
              </a:lnSpc>
            </a:pPr>
            <a:r>
              <a:rPr lang="en-US" sz="1400" dirty="0"/>
              <a:t>Data Driven Bayes</a:t>
            </a:r>
          </a:p>
          <a:p>
            <a:pPr marL="514350" lvl="1" indent="-285750">
              <a:lnSpc>
                <a:spcPct val="100000"/>
              </a:lnSpc>
            </a:pPr>
            <a:r>
              <a:rPr lang="en-US" sz="1400" dirty="0"/>
              <a:t>K-nearest Neighbors</a:t>
            </a:r>
          </a:p>
          <a:p>
            <a:pPr marL="171450" indent="-171450">
              <a:lnSpc>
                <a:spcPct val="100000"/>
              </a:lnSpc>
              <a:buFont typeface="Wingdings" panose="05000000000000000000" pitchFamily="2" charset="2"/>
              <a:buChar char="Ø"/>
            </a:pPr>
            <a:r>
              <a:rPr lang="el-GR" sz="1400" dirty="0"/>
              <a:t>Τα αποτελέσματα που εξήχθησαν από τον κάθε αλγόριθμο τέθηκαν σε σύγκριση, ώστε να εντοπιστούν οι διαφοροποιήσεις όσον αφορά </a:t>
            </a:r>
            <a:endParaRPr lang="en-US" sz="1400" dirty="0"/>
          </a:p>
        </p:txBody>
      </p:sp>
    </p:spTree>
    <p:extLst>
      <p:ext uri="{BB962C8B-B14F-4D97-AF65-F5344CB8AC3E}">
        <p14:creationId xmlns:p14="http://schemas.microsoft.com/office/powerpoint/2010/main" val="31485915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latin typeface="Segoe UI Light" panose="020B0502040204020203" pitchFamily="34" charset="0"/>
                <a:cs typeface="Segoe UI Light" panose="020B0502040204020203" pitchFamily="34" charset="0"/>
              </a:rPr>
              <a:t>Μεταμόρφωση</a:t>
            </a:r>
          </a:p>
        </p:txBody>
      </p:sp>
      <p:pic>
        <p:nvPicPr>
          <p:cNvPr id="2" name="media1">
            <a:hlinkClick r:id="" action="ppaction://media"/>
            <a:extLst>
              <a:ext uri="{FF2B5EF4-FFF2-40B4-BE49-F238E27FC236}">
                <a16:creationId xmlns:a16="http://schemas.microsoft.com/office/drawing/2014/main" id="{F930D87C-C7E5-4D63-8E81-062EA958AD17}"/>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418759" y="1543747"/>
            <a:ext cx="6110288" cy="3438380"/>
          </a:xfrm>
          <a:prstGeom prst="rect">
            <a:avLst/>
          </a:prstGeom>
        </p:spPr>
      </p:pic>
      <p:sp>
        <p:nvSpPr>
          <p:cNvPr id="5" name="Θέση περιεχομένου 4"/>
          <p:cNvSpPr>
            <a:spLocks noGrp="1"/>
          </p:cNvSpPr>
          <p:nvPr>
            <p:ph sz="half" idx="4294967295"/>
          </p:nvPr>
        </p:nvSpPr>
        <p:spPr>
          <a:xfrm>
            <a:off x="541610" y="1431010"/>
            <a:ext cx="4557164" cy="4790886"/>
          </a:xfrm>
        </p:spPr>
        <p:txBody>
          <a:bodyPr vert="horz" lIns="91440" tIns="45720" rIns="91440" bIns="45720" rtlCol="0">
            <a:normAutofit/>
          </a:bodyPr>
          <a:lstStyle/>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δυνατότητα "Μεταμόρφωση" δημιουργεί ομαλά εφέ κίνησης και μετακινήσεις αντικειμένων στην παρουσίασή σας. Χρησιμοποιείτε δύο παρόμοιες διαφάνειες, για να δημιουργήσετε το εφέ κίνησης, αλλά το ακροατήριό σας νομίζει ότι η ενέργεια συμβαίνει σε μια διαφάνεια. </a:t>
            </a:r>
          </a:p>
          <a:p>
            <a:pPr>
              <a:lnSpc>
                <a:spcPts val="1800"/>
              </a:lnSpc>
              <a:spcAft>
                <a:spcPts val="600"/>
              </a:spcAft>
            </a:pPr>
            <a:r>
              <a:rPr lang="el-GR" dirty="0">
                <a:solidFill>
                  <a:prstClr val="black">
                    <a:lumMod val="75000"/>
                    <a:lumOff val="25000"/>
                  </a:prstClr>
                </a:solidFill>
                <a:latin typeface="Segoe UI" panose="020B0502040204020203" pitchFamily="34" charset="0"/>
                <a:cs typeface="Segoe UI" panose="020B0502040204020203" pitchFamily="34" charset="0"/>
              </a:rPr>
              <a:t>Πατήστε για</a:t>
            </a:r>
            <a:r>
              <a:rPr lang="en-US" b="1" dirty="0">
                <a:solidFill>
                  <a:srgbClr val="D24726"/>
                </a:solidFill>
                <a:latin typeface="Segoe UI" panose="020B0502040204020203" pitchFamily="34" charset="0"/>
                <a:cs typeface="Segoe UI" panose="020B0502040204020203" pitchFamily="34" charset="0"/>
              </a:rPr>
              <a:t> </a:t>
            </a:r>
            <a:r>
              <a:rPr lang="el-GR" b="1" dirty="0">
                <a:solidFill>
                  <a:srgbClr val="D24726"/>
                </a:solidFill>
                <a:latin typeface="Segoe UI" panose="020B0502040204020203" pitchFamily="34" charset="0"/>
                <a:cs typeface="Segoe UI" panose="020B0502040204020203" pitchFamily="34" charset="0"/>
              </a:rPr>
              <a:t>αναπαραγωγή</a:t>
            </a:r>
            <a:r>
              <a:rPr lang="el-GR" sz="1200" dirty="0">
                <a:solidFill>
                  <a:prstClr val="black">
                    <a:lumMod val="75000"/>
                    <a:lumOff val="25000"/>
                  </a:prstClr>
                </a:solidFill>
                <a:latin typeface="Segoe UI" panose="020B0502040204020203" pitchFamily="34" charset="0"/>
                <a:cs typeface="Segoe UI" panose="020B0502040204020203" pitchFamily="34" charset="0"/>
              </a:rPr>
              <a:t> του βίντεο στη δεξιά πλευρά, για να δείτε ένα γρήγορο παράδειγμα.</a:t>
            </a:r>
          </a:p>
          <a:p>
            <a:pPr marL="0" indent="0" rtl="0">
              <a:lnSpc>
                <a:spcPts val="1800"/>
              </a:lnSpc>
              <a:spcBef>
                <a:spcPts val="1000"/>
              </a:spcBef>
              <a:spcAft>
                <a:spcPts val="600"/>
              </a:spcAft>
              <a:buNone/>
            </a:pPr>
            <a:r>
              <a:rPr lang="el-GR" sz="1200" dirty="0">
                <a:solidFill>
                  <a:prstClr val="black">
                    <a:lumMod val="75000"/>
                    <a:lumOff val="25000"/>
                  </a:prstClr>
                </a:solidFill>
                <a:latin typeface="Segoe UI" panose="020B0502040204020203" pitchFamily="34" charset="0"/>
                <a:cs typeface="Segoe UI" panose="020B0502040204020203" pitchFamily="34" charset="0"/>
              </a:rPr>
              <a:t>Η Μεταμόρφωση είναι μια δυνατότητα που παρέχεται μόνο με συνδρομή. Εάν έχετε μια συνδρομή στο Office 365, μπορείτε να τη δοκιμάσετε και εσείς με τα βήματα που παρέχονται στην επόμενη διαφάνεια:</a:t>
            </a:r>
          </a:p>
          <a:p>
            <a:pPr marL="0" indent="0" rtl="0">
              <a:lnSpc>
                <a:spcPts val="1800"/>
              </a:lnSpc>
              <a:spcBef>
                <a:spcPts val="1000"/>
              </a:spcBef>
              <a:spcAft>
                <a:spcPts val="600"/>
              </a:spcAft>
              <a:buNone/>
            </a:pPr>
            <a:endParaRPr lang="el-GR" sz="12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9580368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restart="whenNotActive" fill="hold" evtFilter="cancelBubble" nodeType="interactiveSeq">
                <p:stCondLst>
                  <p:cond evt="onClick" delay="0">
                    <p:tgtEl>
                      <p:spTgt spid="2"/>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2"/>
                                        </p:tgtEl>
                                      </p:cBhvr>
                                    </p:cmd>
                                  </p:childTnLst>
                                </p:cTn>
                              </p:par>
                            </p:childTnLst>
                          </p:cTn>
                        </p:par>
                      </p:childTnLst>
                    </p:cTn>
                  </p:par>
                </p:childTnLst>
              </p:cTn>
              <p:nextCondLst>
                <p:cond evt="onClick" delay="0">
                  <p:tgtEl>
                    <p:spTgt spid="2"/>
                  </p:tgtEl>
                </p:cond>
              </p:nextCondLst>
            </p:seq>
            <p:video>
              <p:cMediaNode vol="80000">
                <p:cTn id="7" fill="hold" display="0">
                  <p:stCondLst>
                    <p:cond delay="indefinite"/>
                  </p:stCondLst>
                </p:cTn>
                <p:tgtEl>
                  <p:spTgt spid="2"/>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Τίτλος 2"/>
          <p:cNvSpPr>
            <a:spLocks noGrp="1"/>
          </p:cNvSpPr>
          <p:nvPr>
            <p:ph type="title"/>
          </p:nvPr>
        </p:nvSpPr>
        <p:spPr/>
        <p:txBody>
          <a:bodyPr rtlCol="0"/>
          <a:lstStyle/>
          <a:p>
            <a:pPr rtl="0"/>
            <a:r>
              <a:rPr lang="el-GR" dirty="0"/>
              <a:t>Ρύθμιση της </a:t>
            </a:r>
            <a:r>
              <a:rPr lang="el-GR" dirty="0">
                <a:latin typeface="Segoe UI Light" panose="020B0502040204020203" pitchFamily="34" charset="0"/>
                <a:cs typeface="Segoe UI Light" panose="020B0502040204020203" pitchFamily="34" charset="0"/>
              </a:rPr>
              <a:t>Μεταμόρφωσης</a:t>
            </a:r>
          </a:p>
        </p:txBody>
      </p:sp>
      <p:sp>
        <p:nvSpPr>
          <p:cNvPr id="30" name="Θέση περιεχομένου 17"/>
          <p:cNvSpPr txBox="1">
            <a:spLocks/>
          </p:cNvSpPr>
          <p:nvPr/>
        </p:nvSpPr>
        <p:spPr>
          <a:xfrm>
            <a:off x="541609" y="1455491"/>
            <a:ext cx="5110161" cy="471149"/>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t>Δοκιμάστε τη μόνοι σας με αυτούς τους δύο απλούς πλανήτες:</a:t>
            </a:r>
          </a:p>
        </p:txBody>
      </p:sp>
      <p:grpSp>
        <p:nvGrpSpPr>
          <p:cNvPr id="13" name="Ομάδα 12" descr="Μικρός κύκλος με τον αριθμό 1 που υποδεικνύει το βήμα 1"/>
          <p:cNvGrpSpPr/>
          <p:nvPr/>
        </p:nvGrpSpPr>
        <p:grpSpPr bwMode="blackWhite">
          <a:xfrm>
            <a:off x="558723" y="1917997"/>
            <a:ext cx="558179" cy="409838"/>
            <a:chOff x="6953426" y="711274"/>
            <a:chExt cx="558179" cy="409838"/>
          </a:xfrm>
        </p:grpSpPr>
        <p:sp>
          <p:nvSpPr>
            <p:cNvPr id="14" name="Έλλειψη 1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15" name="Πλαίσιο κειμένου 14"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16" name="Θέση περιεχομένου 17"/>
          <p:cNvSpPr txBox="1">
            <a:spLocks/>
          </p:cNvSpPr>
          <p:nvPr/>
        </p:nvSpPr>
        <p:spPr>
          <a:xfrm>
            <a:off x="1066037" y="1958189"/>
            <a:ext cx="3296574" cy="838453"/>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Κάντε αναπαραγωγή αυτής της διαφάνειας: Κάντε δεξί κλικ στη μικρογραφία της διαφάνειας και επιλέξτε</a:t>
            </a:r>
            <a:r>
              <a:rPr lang="el-GR" dirty="0">
                <a:solidFill>
                  <a:prstClr val="black">
                    <a:lumMod val="75000"/>
                    <a:lumOff val="25000"/>
                  </a:prstClr>
                </a:solidFill>
                <a:cs typeface="Segoe UI"/>
              </a:rPr>
              <a:t> </a:t>
            </a:r>
            <a:r>
              <a:rPr lang="el-GR" dirty="0">
                <a:solidFill>
                  <a:srgbClr val="D24726"/>
                </a:solidFill>
                <a:latin typeface="Segoe UI Semibold" panose="020B0702040204020203" pitchFamily="34" charset="0"/>
                <a:cs typeface="Segoe UI Semibold" panose="020B0702040204020203" pitchFamily="34" charset="0"/>
              </a:rPr>
              <a:t>Αναπαραγωγή διαφάνειας</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2" name="Εικόνα 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27434" y="1715748"/>
            <a:ext cx="1460399" cy="1778890"/>
          </a:xfrm>
          <a:prstGeom prst="rect">
            <a:avLst/>
          </a:prstGeom>
        </p:spPr>
      </p:pic>
      <p:grpSp>
        <p:nvGrpSpPr>
          <p:cNvPr id="18" name="Ομάδα 17" descr="Μικρός κύκλος με τον αριθμό 2 που υποδεικνύει το βήμα 2"/>
          <p:cNvGrpSpPr/>
          <p:nvPr/>
        </p:nvGrpSpPr>
        <p:grpSpPr bwMode="blackWhite">
          <a:xfrm>
            <a:off x="558723" y="2778751"/>
            <a:ext cx="558179" cy="409838"/>
            <a:chOff x="6953426" y="711274"/>
            <a:chExt cx="558179" cy="409838"/>
          </a:xfrm>
        </p:grpSpPr>
        <p:sp>
          <p:nvSpPr>
            <p:cNvPr id="23" name="Έλλειψη 22"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4" name="Πλαίσιο κειμένου 23"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25" name="Θέση περιεχομένου 17"/>
          <p:cNvSpPr txBox="1">
            <a:spLocks/>
          </p:cNvSpPr>
          <p:nvPr/>
        </p:nvSpPr>
        <p:spPr>
          <a:xfrm>
            <a:off x="1066038" y="2818942"/>
            <a:ext cx="2651153" cy="1517087"/>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Στη δεύτερη από αυτές τις δύο πανομοιότυπες διαφάνειες, αλλάξτε τα σχήματα στα δεξιά με κάποιον τρόπο (μετακίνηση, αλλαγή μεγέθους, αλλαγή χρώματος) και, στη συνέχεια, επιλέξτε </a:t>
            </a:r>
            <a:r>
              <a:rPr lang="el-GR" dirty="0">
                <a:solidFill>
                  <a:srgbClr val="D24726"/>
                </a:solidFill>
                <a:latin typeface="Segoe UI Semibold" panose="020B0702040204020203" pitchFamily="34" charset="0"/>
                <a:cs typeface="Segoe UI Semibold" panose="020B0702040204020203" pitchFamily="34" charset="0"/>
              </a:rPr>
              <a:t>Μεταβάσεις</a:t>
            </a:r>
            <a:r>
              <a:rPr lang="el-GR" dirty="0">
                <a:solidFill>
                  <a:prstClr val="black">
                    <a:lumMod val="75000"/>
                    <a:lumOff val="25000"/>
                  </a:prstClr>
                </a:solidFill>
                <a:cs typeface="Segoe UI"/>
              </a:rPr>
              <a:t> &gt; </a:t>
            </a:r>
            <a:r>
              <a:rPr lang="el-GR" dirty="0">
                <a:solidFill>
                  <a:srgbClr val="D24726"/>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latin typeface="Segoe UI" panose="020B0502040204020203" pitchFamily="34" charset="0"/>
                <a:cs typeface="Segoe UI" panose="020B0502040204020203" pitchFamily="34" charset="0"/>
              </a:rPr>
              <a:t>.</a:t>
            </a:r>
          </a:p>
        </p:txBody>
      </p:sp>
      <p:pic>
        <p:nvPicPr>
          <p:cNvPr id="6" name="Εικόνα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83896" y="3217634"/>
            <a:ext cx="2468760" cy="1069872"/>
          </a:xfrm>
          <a:prstGeom prst="rect">
            <a:avLst/>
          </a:prstGeom>
        </p:spPr>
      </p:pic>
      <p:grpSp>
        <p:nvGrpSpPr>
          <p:cNvPr id="26" name="Ομάδα 25" descr="Μικρός κύκλος με τον αριθμό 3 που υποδεικνύει το βήμα 3"/>
          <p:cNvGrpSpPr/>
          <p:nvPr/>
        </p:nvGrpSpPr>
        <p:grpSpPr bwMode="blackWhite">
          <a:xfrm>
            <a:off x="557319" y="4344232"/>
            <a:ext cx="558179" cy="409838"/>
            <a:chOff x="6953426" y="711274"/>
            <a:chExt cx="558179" cy="409838"/>
          </a:xfrm>
        </p:grpSpPr>
        <p:sp>
          <p:nvSpPr>
            <p:cNvPr id="27" name="Έλλειψη 2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8" name="Πλαίσιο κειμένου 27"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29" name="Θέση περιεχομένου 17"/>
          <p:cNvSpPr txBox="1">
            <a:spLocks/>
          </p:cNvSpPr>
          <p:nvPr/>
        </p:nvSpPr>
        <p:spPr>
          <a:xfrm>
            <a:off x="1076798" y="4360522"/>
            <a:ext cx="2838937" cy="1423282"/>
          </a:xfrm>
          <a:prstGeom prst="rect">
            <a:avLst/>
          </a:prstGeom>
        </p:spPr>
        <p:txBody>
          <a:bodyPr vert="horz" lIns="91440" tIns="45720" rIns="91440" bIns="45720" rtlCol="0">
            <a:normAutofit fontScale="92500"/>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prstClr val="black">
                    <a:lumMod val="75000"/>
                    <a:lumOff val="25000"/>
                  </a:prstClr>
                </a:solidFill>
                <a:latin typeface="Segoe UI" panose="020B0502040204020203" pitchFamily="34" charset="0"/>
                <a:cs typeface="Segoe UI" panose="020B0502040204020203" pitchFamily="34" charset="0"/>
              </a:rPr>
              <a:t>Επιστρέψτε στην πρώτη από τις δύο διαφάνειες, πατήστε το κουμπί </a:t>
            </a:r>
            <a:r>
              <a:rPr lang="el-GR" dirty="0">
                <a:solidFill>
                  <a:srgbClr val="D24726"/>
                </a:solidFill>
                <a:latin typeface="Segoe UI Semibold" panose="020B0702040204020203" pitchFamily="34" charset="0"/>
                <a:cs typeface="Segoe UI Semibold" panose="020B0702040204020203" pitchFamily="34" charset="0"/>
              </a:rPr>
              <a:t>Προβολή παρουσίασης </a:t>
            </a:r>
            <a:r>
              <a:rPr lang="el-GR" dirty="0">
                <a:solidFill>
                  <a:prstClr val="black">
                    <a:lumMod val="75000"/>
                    <a:lumOff val="25000"/>
                  </a:prstClr>
                </a:solidFill>
                <a:latin typeface="Segoe UI" panose="020B0502040204020203" pitchFamily="34" charset="0"/>
                <a:cs typeface="Segoe UI" panose="020B0502040204020203" pitchFamily="34" charset="0"/>
              </a:rPr>
              <a:t> και, στη συνέχεια, επιλέξτε</a:t>
            </a:r>
            <a:r>
              <a:rPr lang="el-GR" dirty="0">
                <a:solidFill>
                  <a:prstClr val="black">
                    <a:lumMod val="75000"/>
                    <a:lumOff val="25000"/>
                  </a:prstClr>
                </a:solidFill>
              </a:rPr>
              <a:t> </a:t>
            </a:r>
            <a:r>
              <a:rPr lang="el-GR" dirty="0">
                <a:solidFill>
                  <a:srgbClr val="D24726"/>
                </a:solidFill>
                <a:latin typeface="Segoe UI Semibold" panose="020B0702040204020203" pitchFamily="34" charset="0"/>
                <a:cs typeface="Segoe UI Semibold" panose="020B0702040204020203" pitchFamily="34" charset="0"/>
              </a:rPr>
              <a:t>Αναπαραγωγή</a:t>
            </a:r>
            <a:r>
              <a:rPr lang="el-GR" dirty="0">
                <a:solidFill>
                  <a:prstClr val="black">
                    <a:lumMod val="75000"/>
                    <a:lumOff val="25000"/>
                  </a:prstClr>
                </a:solidFill>
              </a:rPr>
              <a:t> </a:t>
            </a:r>
            <a:r>
              <a:rPr lang="el-GR" dirty="0">
                <a:solidFill>
                  <a:prstClr val="black">
                    <a:lumMod val="75000"/>
                    <a:lumOff val="25000"/>
                  </a:prstClr>
                </a:solidFill>
                <a:latin typeface="Segoe UI" panose="020B0502040204020203" pitchFamily="34" charset="0"/>
                <a:cs typeface="Segoe UI" panose="020B0502040204020203" pitchFamily="34" charset="0"/>
              </a:rPr>
              <a:t> για να δείτε τον κύκλο σας να μεταμορφώνεται!</a:t>
            </a:r>
          </a:p>
        </p:txBody>
      </p:sp>
      <p:pic>
        <p:nvPicPr>
          <p:cNvPr id="5" name="Εικόνα 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915735" y="4344232"/>
            <a:ext cx="2134319" cy="887083"/>
          </a:xfrm>
          <a:prstGeom prst="rect">
            <a:avLst/>
          </a:prstGeom>
        </p:spPr>
      </p:pic>
      <p:sp>
        <p:nvSpPr>
          <p:cNvPr id="17" name="Θέση περιεχομένου 17"/>
          <p:cNvSpPr txBox="1">
            <a:spLocks/>
          </p:cNvSpPr>
          <p:nvPr/>
        </p:nvSpPr>
        <p:spPr>
          <a:xfrm>
            <a:off x="628962" y="5832234"/>
            <a:ext cx="4238006" cy="692907"/>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r>
              <a:rPr lang="el-GR" dirty="0">
                <a:solidFill>
                  <a:srgbClr val="D24726"/>
                </a:solidFill>
                <a:latin typeface="Segoe UI Semibold" panose="020B0702040204020203" pitchFamily="34" charset="0"/>
                <a:cs typeface="Segoe UI Semibold" panose="020B0702040204020203" pitchFamily="34" charset="0"/>
              </a:rPr>
              <a:t>Συμβουλή: </a:t>
            </a:r>
            <a:r>
              <a:rPr lang="el-GR" dirty="0">
                <a:solidFill>
                  <a:prstClr val="black">
                    <a:lumMod val="75000"/>
                    <a:lumOff val="25000"/>
                  </a:prstClr>
                </a:solidFill>
              </a:rPr>
              <a:t>Οι </a:t>
            </a:r>
            <a:r>
              <a:rPr lang="el-GR" dirty="0">
                <a:solidFill>
                  <a:srgbClr val="404040"/>
                </a:solidFill>
                <a:latin typeface="Segoe UI Semibold" panose="020B0702040204020203" pitchFamily="34" charset="0"/>
                <a:cs typeface="Segoe UI Semibold" panose="020B0702040204020203" pitchFamily="34" charset="0"/>
              </a:rPr>
              <a:t>Επιλογές εφέ </a:t>
            </a:r>
            <a:r>
              <a:rPr lang="el-GR" dirty="0">
                <a:solidFill>
                  <a:prstClr val="black">
                    <a:lumMod val="75000"/>
                    <a:lumOff val="25000"/>
                  </a:prstClr>
                </a:solidFill>
                <a:latin typeface="Segoe UI" panose="020B0502040204020203" pitchFamily="34" charset="0"/>
                <a:cs typeface="Segoe UI" panose="020B0502040204020203" pitchFamily="34" charset="0"/>
              </a:rPr>
              <a:t>σάς παρέχουν ακόμη περισσότερες επιλογές για τη </a:t>
            </a:r>
            <a:r>
              <a:rPr lang="el-GR" dirty="0">
                <a:solidFill>
                  <a:prstClr val="black">
                    <a:lumMod val="75000"/>
                    <a:lumOff val="25000"/>
                  </a:prstClr>
                </a:solidFill>
                <a:latin typeface="Segoe UI Semibold" panose="020B0702040204020203" pitchFamily="34" charset="0"/>
                <a:cs typeface="Segoe UI Semibold" panose="020B0702040204020203" pitchFamily="34" charset="0"/>
              </a:rPr>
              <a:t>Μεταμόρφωση</a:t>
            </a:r>
            <a:r>
              <a:rPr lang="el-GR" dirty="0">
                <a:solidFill>
                  <a:prstClr val="black">
                    <a:lumMod val="75000"/>
                    <a:lumOff val="25000"/>
                  </a:prstClr>
                </a:solidFill>
              </a:rPr>
              <a:t>.</a:t>
            </a:r>
          </a:p>
        </p:txBody>
      </p:sp>
      <p:cxnSp>
        <p:nvCxnSpPr>
          <p:cNvPr id="20" name="Ευθεία γραμμή σύνδεσης 19" descr="Ανοιχτή γκρι γραμμή που διαχωρίζει κείμενο και εικόνες για μεταμόρφωση"/>
          <p:cNvCxnSpPr/>
          <p:nvPr/>
        </p:nvCxnSpPr>
        <p:spPr>
          <a:xfrm>
            <a:off x="6296866" y="1472431"/>
            <a:ext cx="0" cy="4892634"/>
          </a:xfrm>
          <a:prstGeom prst="line">
            <a:avLst/>
          </a:prstGeom>
          <a:ln w="952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sp>
        <p:nvSpPr>
          <p:cNvPr id="10" name="Έλλειψη 9" descr="Μεγάλος, μπλε κύκλος με ένα μικρό ανοιχτό μπλε κύκλο μέσα του"/>
          <p:cNvSpPr/>
          <p:nvPr/>
        </p:nvSpPr>
        <p:spPr>
          <a:xfrm>
            <a:off x="7236525" y="1944862"/>
            <a:ext cx="3827244" cy="3743233"/>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
        <p:nvSpPr>
          <p:cNvPr id="11" name="Έλλειψη 10" descr="Μικρός ανοιχτός μπλε κύκλος μέσα σε μεγάλο σκούρο μπλε κύκλο"/>
          <p:cNvSpPr/>
          <p:nvPr/>
        </p:nvSpPr>
        <p:spPr bwMode="ltGray">
          <a:xfrm>
            <a:off x="8086223" y="2796642"/>
            <a:ext cx="2148929" cy="210175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l-GR" sz="1800" b="0" i="0" u="none" strike="noStrike" kern="0" cap="none" spc="0" normalizeH="0" baseline="0" dirty="0">
              <a:ln>
                <a:noFill/>
              </a:ln>
              <a:solidFill>
                <a:sysClr val="windowText" lastClr="000000"/>
              </a:solidFill>
              <a:effectLst/>
              <a:uLnTx/>
              <a:uFillTx/>
            </a:endParaRPr>
          </a:p>
        </p:txBody>
      </p:sp>
    </p:spTree>
    <p:extLst>
      <p:ext uri="{BB962C8B-B14F-4D97-AF65-F5344CB8AC3E}">
        <p14:creationId xmlns:p14="http://schemas.microsoft.com/office/powerpoint/2010/main" val="2596833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Τίτλος 1"/>
          <p:cNvSpPr>
            <a:spLocks noGrp="1"/>
          </p:cNvSpPr>
          <p:nvPr>
            <p:ph type="title"/>
          </p:nvPr>
        </p:nvSpPr>
        <p:spPr/>
        <p:txBody>
          <a:bodyPr rtlCol="0">
            <a:normAutofit/>
          </a:bodyPr>
          <a:lstStyle/>
          <a:p>
            <a:pPr lvl="0" rtl="0"/>
            <a:r>
              <a:rPr lang="el-GR" dirty="0">
                <a:latin typeface="Segoe UI Light" panose="020B0502040204020203" pitchFamily="34" charset="0"/>
                <a:cs typeface="Segoe UI Light" panose="020B0502040204020203" pitchFamily="34" charset="0"/>
              </a:rPr>
              <a:t>-Μηχανική Μάθηση στο </a:t>
            </a:r>
            <a:r>
              <a:rPr lang="en-US" dirty="0">
                <a:latin typeface="Segoe UI Light" panose="020B0502040204020203" pitchFamily="34" charset="0"/>
                <a:cs typeface="Segoe UI Light" panose="020B0502040204020203" pitchFamily="34" charset="0"/>
              </a:rPr>
              <a:t>NBA</a:t>
            </a:r>
            <a:endParaRPr lang="el-GR" dirty="0">
              <a:latin typeface="Segoe UI Light" panose="020B0502040204020203" pitchFamily="34" charset="0"/>
              <a:cs typeface="Segoe UI Light" panose="020B0502040204020203" pitchFamily="34" charset="0"/>
            </a:endParaRPr>
          </a:p>
        </p:txBody>
      </p:sp>
      <p:sp>
        <p:nvSpPr>
          <p:cNvPr id="5" name="Θέση περιεχομένου 4"/>
          <p:cNvSpPr>
            <a:spLocks noGrp="1"/>
          </p:cNvSpPr>
          <p:nvPr>
            <p:ph sz="half" idx="4294967295"/>
          </p:nvPr>
        </p:nvSpPr>
        <p:spPr>
          <a:xfrm>
            <a:off x="541610" y="1431010"/>
            <a:ext cx="5770699" cy="3978275"/>
          </a:xfrm>
        </p:spPr>
        <p:txBody>
          <a:bodyPr vert="horz" lIns="91440" tIns="45720" rIns="91440" bIns="45720" rtlCol="0">
            <a:normAutofit/>
          </a:bodyPr>
          <a:lstStyle/>
          <a:p>
            <a:pPr marL="0" indent="0" rtl="0">
              <a:lnSpc>
                <a:spcPts val="1800"/>
              </a:lnSpc>
              <a:spcBef>
                <a:spcPts val="1000"/>
              </a:spcBef>
              <a:spcAft>
                <a:spcPts val="2000"/>
              </a:spcAft>
              <a:buNone/>
            </a:pPr>
            <a:r>
              <a:rPr lang="en-US" sz="1400" dirty="0">
                <a:solidFill>
                  <a:prstClr val="black">
                    <a:lumMod val="75000"/>
                    <a:lumOff val="25000"/>
                  </a:prstClr>
                </a:solidFill>
                <a:latin typeface="Segoe UI" panose="020B0502040204020203" pitchFamily="34" charset="0"/>
                <a:cs typeface="Segoe UI" panose="020B0502040204020203" pitchFamily="34" charset="0"/>
              </a:rPr>
              <a:t>M</a:t>
            </a:r>
            <a:r>
              <a:rPr lang="el-GR" sz="1400" dirty="0">
                <a:solidFill>
                  <a:prstClr val="black">
                    <a:lumMod val="75000"/>
                    <a:lumOff val="25000"/>
                  </a:prstClr>
                </a:solidFill>
                <a:latin typeface="Segoe UI" panose="020B0502040204020203" pitchFamily="34" charset="0"/>
                <a:cs typeface="Segoe UI" panose="020B0502040204020203" pitchFamily="34" charset="0"/>
              </a:rPr>
              <a:t>έσω της μηχανικής μάθησης υπήρξε η δυνατότητα εντοπισμού των 8 τύπων παικτών του </a:t>
            </a:r>
            <a:r>
              <a:rPr lang="en-US" sz="1400" dirty="0">
                <a:solidFill>
                  <a:prstClr val="black">
                    <a:lumMod val="75000"/>
                    <a:lumOff val="25000"/>
                  </a:prstClr>
                </a:solidFill>
                <a:latin typeface="Segoe UI" panose="020B0502040204020203" pitchFamily="34" charset="0"/>
                <a:cs typeface="Segoe UI" panose="020B0502040204020203" pitchFamily="34" charset="0"/>
              </a:rPr>
              <a:t>NBA.</a:t>
            </a:r>
            <a:br>
              <a:rPr lang="el-GR" sz="1400" dirty="0">
                <a:solidFill>
                  <a:prstClr val="black">
                    <a:lumMod val="75000"/>
                    <a:lumOff val="25000"/>
                  </a:prstClr>
                </a:solidFill>
                <a:latin typeface="Segoe UI" panose="020B0502040204020203" pitchFamily="34" charset="0"/>
                <a:cs typeface="Segoe UI" panose="020B0502040204020203" pitchFamily="34" charset="0"/>
              </a:rPr>
            </a:br>
            <a:br>
              <a:rPr lang="el-GR" sz="1400" dirty="0">
                <a:solidFill>
                  <a:prstClr val="black">
                    <a:lumMod val="75000"/>
                    <a:lumOff val="25000"/>
                  </a:prstClr>
                </a:solidFill>
                <a:latin typeface="Segoe UI" panose="020B0502040204020203" pitchFamily="34" charset="0"/>
                <a:cs typeface="Segoe UI" panose="020B0502040204020203" pitchFamily="34" charset="0"/>
              </a:rPr>
            </a:br>
            <a:r>
              <a:rPr lang="el-GR" sz="1400" dirty="0">
                <a:solidFill>
                  <a:prstClr val="black">
                    <a:lumMod val="75000"/>
                    <a:lumOff val="25000"/>
                  </a:prstClr>
                </a:solidFill>
                <a:latin typeface="Segoe UI" panose="020B0502040204020203" pitchFamily="34" charset="0"/>
                <a:cs typeface="Segoe UI" panose="020B0502040204020203" pitchFamily="34" charset="0"/>
              </a:rPr>
              <a:t>Πώς λειτουργεί:</a:t>
            </a:r>
          </a:p>
        </p:txBody>
      </p:sp>
      <p:grpSp>
        <p:nvGrpSpPr>
          <p:cNvPr id="33" name="Ομάδα 32" descr="Μικρός κύκλος με τον αριθμό 1 που υποδεικνύει το βήμα 1"/>
          <p:cNvGrpSpPr/>
          <p:nvPr/>
        </p:nvGrpSpPr>
        <p:grpSpPr bwMode="blackWhite">
          <a:xfrm>
            <a:off x="490084" y="2570939"/>
            <a:ext cx="558179" cy="409838"/>
            <a:chOff x="6953426" y="711274"/>
            <a:chExt cx="558179" cy="409838"/>
          </a:xfrm>
        </p:grpSpPr>
        <p:sp>
          <p:nvSpPr>
            <p:cNvPr id="34" name="Έλλειψη 33"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5" name="Πλαίσιο κειμένου 34" descr="Αριθμός 1"/>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1</a:t>
              </a:r>
            </a:p>
          </p:txBody>
        </p:sp>
      </p:grpSp>
      <p:sp>
        <p:nvSpPr>
          <p:cNvPr id="42" name="Θέση περιεχομένου 17"/>
          <p:cNvSpPr txBox="1">
            <a:spLocks/>
          </p:cNvSpPr>
          <p:nvPr/>
        </p:nvSpPr>
        <p:spPr>
          <a:xfrm>
            <a:off x="1040204" y="2544923"/>
            <a:ext cx="2696774" cy="2059734"/>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Η απόκτηση των δεδομένων έγινε μέσω του </a:t>
            </a:r>
            <a:r>
              <a:rPr lang="en-US" sz="1400" dirty="0">
                <a:solidFill>
                  <a:prstClr val="black">
                    <a:lumMod val="75000"/>
                    <a:lumOff val="25000"/>
                  </a:prstClr>
                </a:solidFill>
                <a:latin typeface="Segoe UI" panose="020B0502040204020203" pitchFamily="34" charset="0"/>
                <a:cs typeface="Segoe UI" panose="020B0502040204020203" pitchFamily="34" charset="0"/>
              </a:rPr>
              <a:t>Selenium with Python</a:t>
            </a:r>
            <a:r>
              <a:rPr lang="el-GR" sz="1400" dirty="0">
                <a:solidFill>
                  <a:prstClr val="black">
                    <a:lumMod val="75000"/>
                    <a:lumOff val="25000"/>
                  </a:prstClr>
                </a:solidFill>
                <a:latin typeface="Segoe UI" panose="020B0502040204020203" pitchFamily="34" charset="0"/>
                <a:cs typeface="Segoe UI" panose="020B0502040204020203" pitchFamily="34" charset="0"/>
              </a:rPr>
              <a:t> και το κατώφλι είναι 40 αγωνιστικά παιχνίδια. Στο σύνολο αυτό υπάρχουν 547 παίκτες και56 χαρακτηριστικά από το 2014  έως και το 2017. </a:t>
            </a:r>
          </a:p>
        </p:txBody>
      </p:sp>
      <p:grpSp>
        <p:nvGrpSpPr>
          <p:cNvPr id="36" name="Ομάδα 35" descr="Μικρός κύκλος με τον αριθμό 2 που υποδεικνύει το βήμα 2"/>
          <p:cNvGrpSpPr/>
          <p:nvPr/>
        </p:nvGrpSpPr>
        <p:grpSpPr bwMode="blackWhite">
          <a:xfrm>
            <a:off x="3995520" y="2561850"/>
            <a:ext cx="558179" cy="409838"/>
            <a:chOff x="6953426" y="711274"/>
            <a:chExt cx="558179" cy="409838"/>
          </a:xfrm>
        </p:grpSpPr>
        <p:sp>
          <p:nvSpPr>
            <p:cNvPr id="37" name="Έλλειψη 36"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8" name="Πλαίσιο κειμένου 37" descr="Αριθμός 2"/>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2</a:t>
              </a:r>
            </a:p>
          </p:txBody>
        </p:sp>
      </p:grpSp>
      <p:sp>
        <p:nvSpPr>
          <p:cNvPr id="43" name="Θέση περιεχομένου 17"/>
          <p:cNvSpPr txBox="1">
            <a:spLocks/>
          </p:cNvSpPr>
          <p:nvPr/>
        </p:nvSpPr>
        <p:spPr>
          <a:xfrm>
            <a:off x="4553699" y="2544923"/>
            <a:ext cx="3520508" cy="3120020"/>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sz="1400" dirty="0"/>
              <a:t>Στα δεδομένα μεγάλης διαστάσεως, ο όγκος του χώρου αυξάνει με αποτέλεσμα τα διαθέσιμα δεδομένα να καταστούν αραιά. Αυτό είναι γνωστό ως " </a:t>
            </a:r>
            <a:r>
              <a:rPr lang="el-GR" sz="1400" dirty="0">
                <a:hlinkClick r:id="rId3"/>
              </a:rPr>
              <a:t>Κατάρα της </a:t>
            </a:r>
            <a:r>
              <a:rPr lang="el-GR" sz="1400" dirty="0" err="1">
                <a:hlinkClick r:id="rId3"/>
              </a:rPr>
              <a:t>Διατομείας</a:t>
            </a:r>
            <a:r>
              <a:rPr lang="el-GR" sz="1400" dirty="0"/>
              <a:t> "  Σε αυτή τη μελέτη, κάθε διάσταση αντιπροσωπεύεται από τις στατιστικές χαρακτηριστικών ενός παίκτη και για να επιτευχθεί ένα στατιστικώς σωστό αποτέλεσμα, η ποσότητα των δεδομένων πρέπει να μειωθεί με την απόκτηση ενός συνόλου βασικών στοιχείων, </a:t>
            </a:r>
            <a:r>
              <a:rPr lang="el-GR" sz="1400" dirty="0">
                <a:hlinkClick r:id="rId4"/>
              </a:rPr>
              <a:t>την ανάλυση γραμμικής διακρίσεως (LDA)</a:t>
            </a:r>
            <a:r>
              <a:rPr lang="el-GR" sz="1400" dirty="0"/>
              <a:t> .</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39" name="Ομάδα 38" descr="Μικρός κύκλος με τον αριθμό 3 που υποδεικνύει το βήμα 3"/>
          <p:cNvGrpSpPr/>
          <p:nvPr/>
        </p:nvGrpSpPr>
        <p:grpSpPr bwMode="blackWhite">
          <a:xfrm>
            <a:off x="8002564" y="2587229"/>
            <a:ext cx="558179" cy="409838"/>
            <a:chOff x="6953426" y="711274"/>
            <a:chExt cx="558179" cy="409838"/>
          </a:xfrm>
        </p:grpSpPr>
        <p:sp>
          <p:nvSpPr>
            <p:cNvPr id="40" name="Έλλειψη 3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41" name="Πλαίσιο κειμένου 40" descr="Αριθμός 3"/>
            <p:cNvSpPr txBox="1"/>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3</a:t>
              </a:r>
            </a:p>
          </p:txBody>
        </p:sp>
      </p:grpSp>
      <p:sp>
        <p:nvSpPr>
          <p:cNvPr id="44" name="Θέση περιεχομένου 17"/>
          <p:cNvSpPr txBox="1">
            <a:spLocks/>
          </p:cNvSpPr>
          <p:nvPr/>
        </p:nvSpPr>
        <p:spPr>
          <a:xfrm>
            <a:off x="8560743" y="2544923"/>
            <a:ext cx="3069530" cy="4697646"/>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Ο αλγόριθμος για το </a:t>
            </a:r>
            <a:r>
              <a:rPr lang="en-US" sz="1400" dirty="0">
                <a:solidFill>
                  <a:prstClr val="black">
                    <a:lumMod val="75000"/>
                    <a:lumOff val="25000"/>
                  </a:prstClr>
                </a:solidFill>
                <a:latin typeface="Segoe UI" panose="020B0502040204020203" pitchFamily="34" charset="0"/>
                <a:cs typeface="Segoe UI" panose="020B0502040204020203" pitchFamily="34" charset="0"/>
              </a:rPr>
              <a:t>clustering </a:t>
            </a:r>
            <a:r>
              <a:rPr lang="el-GR" sz="1400" dirty="0">
                <a:solidFill>
                  <a:prstClr val="black">
                    <a:lumMod val="75000"/>
                    <a:lumOff val="25000"/>
                  </a:prstClr>
                </a:solidFill>
                <a:latin typeface="Segoe UI" panose="020B0502040204020203" pitchFamily="34" charset="0"/>
                <a:cs typeface="Segoe UI" panose="020B0502040204020203" pitchFamily="34" charset="0"/>
              </a:rPr>
              <a:t>που χρησιμοποιήθηκε είναι ο </a:t>
            </a:r>
            <a:r>
              <a:rPr lang="en-US" sz="1400" u="sng" dirty="0">
                <a:solidFill>
                  <a:prstClr val="black">
                    <a:lumMod val="75000"/>
                    <a:lumOff val="25000"/>
                  </a:prstClr>
                </a:solidFill>
                <a:latin typeface="Segoe UI" panose="020B0502040204020203" pitchFamily="34" charset="0"/>
                <a:cs typeface="Segoe UI" panose="020B0502040204020203" pitchFamily="34" charset="0"/>
              </a:rPr>
              <a:t>K-means</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Αυτή η εργασία βασίστηκε, </a:t>
            </a:r>
            <a:r>
              <a:rPr lang="el-GR" sz="1400" dirty="0"/>
              <a:t>στην καλύτερη </a:t>
            </a:r>
            <a:r>
              <a:rPr lang="el-GR" sz="1400" dirty="0">
                <a:hlinkClick r:id="rId5"/>
              </a:rPr>
              <a:t>βαθμολογία σιλουέτας</a:t>
            </a:r>
            <a:r>
              <a:rPr lang="el-GR" sz="1400" dirty="0"/>
              <a:t>  για να βγουν οι 8 τύποι παικτών, η οποία είναι ένα μέτρο του πόσο παρόμοιο είναι ένα αντικείμενο με το δικό του σύμπλεγμα σε σύγκριση με άλλα σμήνη. Η βαθμολογία σιλουέτας κυμαίνεται από -1 έως 1. Εάν τα clusters έχουν υψηλή τιμή, τότε η διάταξη συμπλέγματος είναι κατάλληλη.</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pic>
        <p:nvPicPr>
          <p:cNvPr id="4" name="Εικόνα 3">
            <a:extLst>
              <a:ext uri="{FF2B5EF4-FFF2-40B4-BE49-F238E27FC236}">
                <a16:creationId xmlns:a16="http://schemas.microsoft.com/office/drawing/2014/main" id="{9F3A1C38-FAD7-4D39-AC4F-5824688139F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4276077"/>
            <a:ext cx="3205518" cy="2581923"/>
          </a:xfrm>
          <a:prstGeom prst="rect">
            <a:avLst/>
          </a:prstGeom>
        </p:spPr>
      </p:pic>
    </p:spTree>
    <p:extLst>
      <p:ext uri="{BB962C8B-B14F-4D97-AF65-F5344CB8AC3E}">
        <p14:creationId xmlns:p14="http://schemas.microsoft.com/office/powerpoint/2010/main" val="13286760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Τίτλος 5"/>
          <p:cNvSpPr>
            <a:spLocks noGrp="1"/>
          </p:cNvSpPr>
          <p:nvPr>
            <p:ph type="title"/>
          </p:nvPr>
        </p:nvSpPr>
        <p:spPr>
          <a:xfrm>
            <a:off x="521207" y="448056"/>
            <a:ext cx="10667903" cy="640080"/>
          </a:xfrm>
        </p:spPr>
        <p:txBody>
          <a:bodyPr rtlCol="0">
            <a:normAutofit/>
          </a:bodyPr>
          <a:lstStyle/>
          <a:p>
            <a:pPr rtl="0"/>
            <a:r>
              <a:rPr lang="el-GR" dirty="0">
                <a:latin typeface="Segoe UI Light" panose="020B0502040204020203" pitchFamily="34" charset="0"/>
                <a:cs typeface="Segoe UI Light" panose="020B0502040204020203" pitchFamily="34" charset="0"/>
              </a:rPr>
              <a:t>Αποκτήστε την εμπειρία των ειδικών με το πλαίσιο "Πείτε μου"</a:t>
            </a:r>
          </a:p>
        </p:txBody>
      </p:sp>
      <p:sp>
        <p:nvSpPr>
          <p:cNvPr id="38" name="Θέση περιεχομένου 17"/>
          <p:cNvSpPr txBox="1">
            <a:spLocks/>
          </p:cNvSpPr>
          <p:nvPr/>
        </p:nvSpPr>
        <p:spPr>
          <a:xfrm>
            <a:off x="541609" y="1296100"/>
            <a:ext cx="5110161" cy="1236475"/>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latin typeface="Segoe UI" panose="020B0502040204020203" pitchFamily="34" charset="0"/>
              <a:cs typeface="Segoe UI" panose="020B0502040204020203" pitchFamily="34" charset="0"/>
            </a:endParaRPr>
          </a:p>
        </p:txBody>
      </p:sp>
      <p:grpSp>
        <p:nvGrpSpPr>
          <p:cNvPr id="4" name="Ομάδα 3" descr="Μικρός κύκλος με τον αριθμό 1 που υποδεικνύει το βήμα 1"/>
          <p:cNvGrpSpPr/>
          <p:nvPr/>
        </p:nvGrpSpPr>
        <p:grpSpPr bwMode="blackWhite">
          <a:xfrm>
            <a:off x="359519" y="2557455"/>
            <a:ext cx="558179" cy="409838"/>
            <a:chOff x="6953426" y="711274"/>
            <a:chExt cx="558179" cy="409838"/>
          </a:xfrm>
        </p:grpSpPr>
        <p:sp>
          <p:nvSpPr>
            <p:cNvPr id="2" name="Έλλειψη 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 name="Πλαίσιο κειμένου 2" descr="Αριθμός 1"/>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4</a:t>
              </a:r>
            </a:p>
          </p:txBody>
        </p:sp>
      </p:grpSp>
      <p:sp>
        <p:nvSpPr>
          <p:cNvPr id="29" name="Θέση περιεχομένου 17"/>
          <p:cNvSpPr txBox="1">
            <a:spLocks/>
          </p:cNvSpPr>
          <p:nvPr/>
        </p:nvSpPr>
        <p:spPr>
          <a:xfrm>
            <a:off x="881909" y="2581671"/>
            <a:ext cx="4217878" cy="3212440"/>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lvl="0" indent="0" defTabSz="512763">
              <a:lnSpc>
                <a:spcPct val="100000"/>
              </a:lnSpc>
              <a:spcBef>
                <a:spcPts val="0"/>
              </a:spcBef>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Για να μειώσουμε τα χαρακτηριστικά χρησιμοποιήθηκε η</a:t>
            </a:r>
            <a:r>
              <a:rPr lang="el-GR" sz="1400" dirty="0">
                <a:hlinkClick r:id="rId3"/>
              </a:rPr>
              <a:t> βασική ανάλυση στοιχείων (PCA)</a:t>
            </a:r>
            <a:r>
              <a:rPr lang="el-GR" sz="1400" dirty="0"/>
              <a:t>. Ο αλγόριθμος βρίσκει τα ιδιοδιανύσματα ενός πλέγματος με τις υψηλότερες ιδιοτιμές και στη συνέχεια χρησιμοποιεί αυτές τις τιμές για να προβάλει τα δεδομένα σε μια νέα υποπεριοχή ίσων ή μικρότερων διαστάσεων.</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grpSp>
        <p:nvGrpSpPr>
          <p:cNvPr id="19" name="Ομάδα 18" descr="Μικρός κύκλος με τον αριθμό 2 που υποδεικνύει το βήμα 2"/>
          <p:cNvGrpSpPr/>
          <p:nvPr/>
        </p:nvGrpSpPr>
        <p:grpSpPr bwMode="blackWhite">
          <a:xfrm>
            <a:off x="4806046" y="2535620"/>
            <a:ext cx="558179" cy="409838"/>
            <a:chOff x="6953426" y="711274"/>
            <a:chExt cx="558179" cy="409838"/>
          </a:xfrm>
        </p:grpSpPr>
        <p:sp>
          <p:nvSpPr>
            <p:cNvPr id="20" name="Έλλειψη 19"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21" name="Πλαίσιο κειμένου 20" descr="Αριθμός 2"/>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l-GR" dirty="0">
                  <a:solidFill>
                    <a:schemeClr val="bg1"/>
                  </a:solidFill>
                  <a:latin typeface="Segoe UI Semibold" panose="020B0702040204020203" pitchFamily="34" charset="0"/>
                  <a:cs typeface="Segoe UI Semibold" panose="020B0702040204020203" pitchFamily="34" charset="0"/>
                </a:rPr>
                <a:t>5</a:t>
              </a:r>
            </a:p>
          </p:txBody>
        </p:sp>
      </p:grpSp>
      <p:sp>
        <p:nvSpPr>
          <p:cNvPr id="22" name="Θέση περιεχομένου 17"/>
          <p:cNvSpPr txBox="1">
            <a:spLocks/>
          </p:cNvSpPr>
          <p:nvPr/>
        </p:nvSpPr>
        <p:spPr>
          <a:xfrm>
            <a:off x="5325157" y="2551910"/>
            <a:ext cx="3504072" cy="2240834"/>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Για την οπτικοποίηση των δεδομένων, χρησιμοποιήθηκε μια ισχυρή εφαρμογή (</a:t>
            </a:r>
            <a:r>
              <a:rPr lang="en-US" sz="1400" dirty="0">
                <a:solidFill>
                  <a:prstClr val="black">
                    <a:lumMod val="75000"/>
                    <a:lumOff val="25000"/>
                  </a:prstClr>
                </a:solidFill>
                <a:latin typeface="Segoe UI" panose="020B0502040204020203" pitchFamily="34" charset="0"/>
                <a:cs typeface="Segoe UI" panose="020B0502040204020203" pitchFamily="34" charset="0"/>
              </a:rPr>
              <a:t>Tableau</a:t>
            </a:r>
            <a:r>
              <a:rPr lang="el-GR" sz="1400" dirty="0">
                <a:solidFill>
                  <a:prstClr val="black">
                    <a:lumMod val="75000"/>
                    <a:lumOff val="25000"/>
                  </a:prstClr>
                </a:solidFill>
                <a:latin typeface="Segoe UI" panose="020B0502040204020203" pitchFamily="34" charset="0"/>
                <a:cs typeface="Segoe UI" panose="020B0502040204020203" pitchFamily="34" charset="0"/>
              </a:rPr>
              <a:t>)</a:t>
            </a:r>
            <a:r>
              <a:rPr lang="en-US" sz="1400" dirty="0">
                <a:solidFill>
                  <a:prstClr val="black">
                    <a:lumMod val="75000"/>
                    <a:lumOff val="25000"/>
                  </a:prstClr>
                </a:solidFill>
                <a:latin typeface="Segoe UI" panose="020B0502040204020203" pitchFamily="34" charset="0"/>
                <a:cs typeface="Segoe UI" panose="020B0502040204020203" pitchFamily="34" charset="0"/>
              </a:rPr>
              <a:t>, </a:t>
            </a:r>
            <a:r>
              <a:rPr lang="el-GR" sz="1400" dirty="0">
                <a:solidFill>
                  <a:prstClr val="black">
                    <a:lumMod val="75000"/>
                    <a:lumOff val="25000"/>
                  </a:prstClr>
                </a:solidFill>
                <a:latin typeface="Segoe UI" panose="020B0502040204020203" pitchFamily="34" charset="0"/>
                <a:cs typeface="Segoe UI" panose="020B0502040204020203" pitchFamily="34" charset="0"/>
              </a:rPr>
              <a:t>η οποία καθιστά τα αποτελέσματα της</a:t>
            </a:r>
            <a:r>
              <a:rPr lang="en-US" sz="1400" dirty="0">
                <a:solidFill>
                  <a:prstClr val="black">
                    <a:lumMod val="75000"/>
                    <a:lumOff val="25000"/>
                  </a:prstClr>
                </a:solidFill>
                <a:latin typeface="Segoe UI" panose="020B0502040204020203" pitchFamily="34" charset="0"/>
                <a:cs typeface="Segoe UI" panose="020B0502040204020203" pitchFamily="34" charset="0"/>
              </a:rPr>
              <a:t>,</a:t>
            </a:r>
            <a:r>
              <a:rPr lang="el-GR" sz="1400" dirty="0">
                <a:solidFill>
                  <a:prstClr val="black">
                    <a:lumMod val="75000"/>
                    <a:lumOff val="25000"/>
                  </a:prstClr>
                </a:solidFill>
                <a:latin typeface="Segoe UI" panose="020B0502040204020203" pitchFamily="34" charset="0"/>
                <a:cs typeface="Segoe UI" panose="020B0502040204020203" pitchFamily="34" charset="0"/>
              </a:rPr>
              <a:t> καθαρά και συνοπτικά.</a:t>
            </a:r>
          </a:p>
        </p:txBody>
      </p:sp>
      <p:grpSp>
        <p:nvGrpSpPr>
          <p:cNvPr id="31" name="Ομάδα 30" descr="Μικρός κύκλος με τον αριθμό 3 που υποδεικνύει το βήμα 3"/>
          <p:cNvGrpSpPr/>
          <p:nvPr/>
        </p:nvGrpSpPr>
        <p:grpSpPr bwMode="blackWhite">
          <a:xfrm>
            <a:off x="8725128" y="2531657"/>
            <a:ext cx="558179" cy="409838"/>
            <a:chOff x="6953426" y="711274"/>
            <a:chExt cx="558179" cy="409838"/>
          </a:xfrm>
        </p:grpSpPr>
        <p:sp>
          <p:nvSpPr>
            <p:cNvPr id="32" name="Έλλειψη 31" descr="Μικρός κύκλος"/>
            <p:cNvSpPr/>
            <p:nvPr/>
          </p:nvSpPr>
          <p:spPr bwMode="blackWhite">
            <a:xfrm>
              <a:off x="7025069" y="711274"/>
              <a:ext cx="409838" cy="409838"/>
            </a:xfrm>
            <a:prstGeom prst="ellipse">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el-GR" dirty="0"/>
            </a:p>
          </p:txBody>
        </p:sp>
        <p:sp>
          <p:nvSpPr>
            <p:cNvPr id="33" name="Πλαίσιο κειμένου 32" descr="Αριθμός 3"/>
            <p:cNvSpPr txBox="1">
              <a:spLocks noChangeAspect="1"/>
            </p:cNvSpPr>
            <p:nvPr/>
          </p:nvSpPr>
          <p:spPr bwMode="blackWhite">
            <a:xfrm>
              <a:off x="6953426" y="727564"/>
              <a:ext cx="558179" cy="369332"/>
            </a:xfrm>
            <a:prstGeom prst="rect">
              <a:avLst/>
            </a:prstGeom>
            <a:noFill/>
          </p:spPr>
          <p:txBody>
            <a:bodyPr wrap="square" rtlCol="0">
              <a:spAutoFit/>
            </a:bodyPr>
            <a:lstStyle/>
            <a:p>
              <a:pPr algn="ctr" rtl="0"/>
              <a:r>
                <a:rPr lang="en-US" dirty="0">
                  <a:solidFill>
                    <a:schemeClr val="bg1"/>
                  </a:solidFill>
                  <a:latin typeface="Segoe UI Semibold" panose="020B0702040204020203" pitchFamily="34" charset="0"/>
                  <a:cs typeface="Segoe UI Semibold" panose="020B0702040204020203" pitchFamily="34" charset="0"/>
                </a:rPr>
                <a:t>6</a:t>
              </a:r>
              <a:endParaRPr lang="el-GR" dirty="0">
                <a:solidFill>
                  <a:schemeClr val="bg1"/>
                </a:solidFill>
                <a:latin typeface="Segoe UI Semibold" panose="020B0702040204020203" pitchFamily="34" charset="0"/>
                <a:cs typeface="Segoe UI Semibold" panose="020B0702040204020203" pitchFamily="34" charset="0"/>
              </a:endParaRPr>
            </a:p>
          </p:txBody>
        </p:sp>
      </p:grpSp>
      <p:sp>
        <p:nvSpPr>
          <p:cNvPr id="34" name="Θέση περιεχομένου 17"/>
          <p:cNvSpPr txBox="1">
            <a:spLocks/>
          </p:cNvSpPr>
          <p:nvPr/>
        </p:nvSpPr>
        <p:spPr>
          <a:xfrm>
            <a:off x="9324216" y="2597270"/>
            <a:ext cx="2484648" cy="2124211"/>
          </a:xfrm>
          <a:prstGeom prst="rect">
            <a:avLst/>
          </a:prstGeom>
        </p:spPr>
        <p:txBody>
          <a:bodyPr vert="horz" lIns="91440" tIns="45720" rIns="91440" bIns="45720" rtlCol="0">
            <a:no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defTabSz="512763" rtl="0">
              <a:spcAft>
                <a:spcPts val="2000"/>
              </a:spcAft>
              <a:buNone/>
            </a:pPr>
            <a:r>
              <a:rPr lang="el-GR" sz="1400" dirty="0">
                <a:solidFill>
                  <a:prstClr val="black">
                    <a:lumMod val="75000"/>
                    <a:lumOff val="25000"/>
                  </a:prstClr>
                </a:solidFill>
                <a:latin typeface="Segoe UI" panose="020B0502040204020203" pitchFamily="34" charset="0"/>
                <a:cs typeface="Segoe UI" panose="020B0502040204020203" pitchFamily="34" charset="0"/>
              </a:rPr>
              <a:t>Οι 8 τύποι παικτών σαν αποτέλεσμα αυτής της εργασίας ορίσθηκαν</a:t>
            </a:r>
            <a:r>
              <a:rPr lang="en-US" sz="1400" dirty="0">
                <a:solidFill>
                  <a:prstClr val="black">
                    <a:lumMod val="75000"/>
                    <a:lumOff val="25000"/>
                  </a:prstClr>
                </a:solidFill>
                <a:latin typeface="Segoe UI" panose="020B0502040204020203" pitchFamily="34" charset="0"/>
                <a:cs typeface="Segoe UI" panose="020B0502040204020203" pitchFamily="34" charset="0"/>
              </a:rPr>
              <a:t>: Defensive Centers, 3-and-D Wings, Scoring Wings, Versatile Forwards, Floor Generals, Shooting Wings, Combo Guards, Offensive Centers.</a:t>
            </a:r>
            <a:endParaRPr lang="el-GR" sz="1400" dirty="0">
              <a:solidFill>
                <a:prstClr val="black">
                  <a:lumMod val="75000"/>
                  <a:lumOff val="25000"/>
                </a:prst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727668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Τίτλος 7"/>
          <p:cNvSpPr>
            <a:spLocks noGrp="1"/>
          </p:cNvSpPr>
          <p:nvPr>
            <p:ph type="title"/>
          </p:nvPr>
        </p:nvSpPr>
        <p:spPr>
          <a:xfrm>
            <a:off x="521207" y="448056"/>
            <a:ext cx="8150845" cy="640080"/>
          </a:xfrm>
        </p:spPr>
        <p:txBody>
          <a:bodyPr rtlCol="0">
            <a:normAutofit/>
          </a:bodyPr>
          <a:lstStyle/>
          <a:p>
            <a:pPr rtl="0"/>
            <a:r>
              <a:rPr lang="el-GR" dirty="0">
                <a:latin typeface="Segoe UI Light" panose="020B0502040204020203" pitchFamily="34" charset="0"/>
                <a:cs typeface="Segoe UI Light" panose="020B0502040204020203" pitchFamily="34" charset="0"/>
              </a:rPr>
              <a:t>Εξερεύνηση χωρίς κλείσιμο των διαφανειών</a:t>
            </a:r>
          </a:p>
        </p:txBody>
      </p:sp>
      <p:sp>
        <p:nvSpPr>
          <p:cNvPr id="16" name="Θέση περιεχομένου 17"/>
          <p:cNvSpPr txBox="1">
            <a:spLocks/>
          </p:cNvSpPr>
          <p:nvPr/>
        </p:nvSpPr>
        <p:spPr>
          <a:xfrm>
            <a:off x="623380" y="1976107"/>
            <a:ext cx="6093106" cy="29057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r>
              <a:rPr lang="el-GR" dirty="0"/>
              <a:t>Χρησιμοποιώντας την μηχανική μάθηση, ταξινομήθηκαν οι παίκτες του NBA με τα στατιστικά χαρακτηριστικά τους σε φυσικά clusters που ταιριάζουν καλύτερα με τα σύνολα δεξιοτήτων τους. Από τα clusters που έχουν κατασκευασθεί, οι αλγόριθμοι εντοπίζουν ποια χαρακτηριστικά είναι πιο σημαντικά για έναν παίκτη και τα ομαδοποιούν με τέτοιο τρόπο ώστε να είναι εύκολα ερμηνεύσιμα και εγγενώς κατανοητά από τους παίκτες, τους προπονητές και τους οπαδούς.</a:t>
            </a:r>
            <a:endParaRPr lang="el-GR" dirty="0">
              <a:latin typeface="Segoe UI" panose="020B0502040204020203" pitchFamily="34" charset="0"/>
              <a:cs typeface="Segoe UI" panose="020B0502040204020203" pitchFamily="34" charset="0"/>
            </a:endParaRPr>
          </a:p>
        </p:txBody>
      </p:sp>
      <p:sp>
        <p:nvSpPr>
          <p:cNvPr id="42" name="Θέση περιεχομένου 17"/>
          <p:cNvSpPr txBox="1">
            <a:spLocks/>
          </p:cNvSpPr>
          <p:nvPr/>
        </p:nvSpPr>
        <p:spPr>
          <a:xfrm>
            <a:off x="1066038" y="5273573"/>
            <a:ext cx="2919669" cy="1298398"/>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a:spcAft>
                <a:spcPts val="2000"/>
              </a:spcAft>
              <a:buNone/>
            </a:pPr>
            <a:endParaRPr lang="el-GR" sz="1800" dirty="0">
              <a:solidFill>
                <a:prstClr val="black">
                  <a:lumMod val="75000"/>
                  <a:lumOff val="25000"/>
                </a:prstClr>
              </a:solidFill>
              <a:latin typeface="Segoe UI" panose="020B0502040204020203" pitchFamily="34" charset="0"/>
              <a:cs typeface="Segoe UI" panose="020B0502040204020203" pitchFamily="34" charset="0"/>
            </a:endParaRPr>
          </a:p>
        </p:txBody>
      </p:sp>
      <p:sp>
        <p:nvSpPr>
          <p:cNvPr id="43" name="Θέση περιεχομένου 17"/>
          <p:cNvSpPr txBox="1">
            <a:spLocks/>
          </p:cNvSpPr>
          <p:nvPr/>
        </p:nvSpPr>
        <p:spPr>
          <a:xfrm>
            <a:off x="4654504" y="5260745"/>
            <a:ext cx="3106367" cy="1324053"/>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solidFill>
                <a:srgbClr val="D24726"/>
              </a:solidFill>
              <a:latin typeface="Segoe UI" panose="020B0502040204020203" pitchFamily="34" charset="0"/>
              <a:cs typeface="Segoe UI" panose="020B0502040204020203" pitchFamily="34" charset="0"/>
            </a:endParaRPr>
          </a:p>
        </p:txBody>
      </p:sp>
      <p:sp>
        <p:nvSpPr>
          <p:cNvPr id="44" name="Θέση περιεχομένου 17"/>
          <p:cNvSpPr txBox="1">
            <a:spLocks/>
          </p:cNvSpPr>
          <p:nvPr/>
        </p:nvSpPr>
        <p:spPr>
          <a:xfrm>
            <a:off x="8429668" y="5273573"/>
            <a:ext cx="3107336" cy="1341886"/>
          </a:xfrm>
          <a:prstGeom prst="rect">
            <a:avLst/>
          </a:prstGeom>
        </p:spPr>
        <p:txBody>
          <a:bodyPr vert="horz" lIns="91440" tIns="45720" rIns="91440" bIns="45720" rtlCol="0">
            <a:normAutofit/>
          </a:bodyPr>
          <a:lstStyle>
            <a:lvl1pPr marL="2286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1pPr>
            <a:lvl2pPr marL="6858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2pPr>
            <a:lvl3pPr marL="11430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3pPr>
            <a:lvl4pPr marL="16002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smtClean="0">
                <a:solidFill>
                  <a:schemeClr val="tx1">
                    <a:lumMod val="75000"/>
                    <a:lumOff val="25000"/>
                  </a:schemeClr>
                </a:solidFill>
                <a:latin typeface="+mn-lt"/>
                <a:ea typeface="+mn-ea"/>
                <a:cs typeface="+mn-cs"/>
              </a:defRPr>
            </a:lvl4pPr>
            <a:lvl5pPr marL="2057400" indent="-228600" algn="l" defTabSz="914400" rtl="0" eaLnBrk="1" latinLnBrk="0" hangingPunct="1">
              <a:lnSpc>
                <a:spcPts val="1800"/>
              </a:lnSpc>
              <a:spcBef>
                <a:spcPts val="1000"/>
              </a:spcBef>
              <a:spcAft>
                <a:spcPts val="1000"/>
              </a:spcAft>
              <a:buFont typeface="Arial" panose="020B0604020202020204" pitchFamily="34" charset="0"/>
              <a:buChar char="•"/>
              <a:defRPr lang="en-US" sz="1200" kern="1200">
                <a:solidFill>
                  <a:schemeClr val="tx1">
                    <a:lumMod val="75000"/>
                    <a:lumOff val="25000"/>
                  </a:schemeClr>
                </a:solidFill>
                <a:latin typeface="+mn-lt"/>
                <a:ea typeface="+mn-ea"/>
                <a:cs typeface="+mn-cs"/>
              </a:defRPr>
            </a:lvl5pPr>
            <a:lvl6pPr marL="25146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ct val="30000"/>
              </a:spcBef>
              <a:buFont typeface="Arial" panose="020B0604020202020204" pitchFamily="34" charset="0"/>
              <a:buChar char="•"/>
              <a:defRPr sz="1800" kern="1200">
                <a:solidFill>
                  <a:schemeClr val="tx1"/>
                </a:solidFill>
                <a:latin typeface="+mn-lt"/>
                <a:ea typeface="+mn-ea"/>
                <a:cs typeface="+mn-cs"/>
              </a:defRPr>
            </a:lvl9pPr>
          </a:lstStyle>
          <a:p>
            <a:pPr marL="0" indent="0" rtl="0">
              <a:spcAft>
                <a:spcPts val="2000"/>
              </a:spcAft>
              <a:buNone/>
            </a:pPr>
            <a:endParaRPr lang="el-GR" dirty="0">
              <a:solidFill>
                <a:prstClr val="black">
                  <a:lumMod val="75000"/>
                  <a:lumOff val="25000"/>
                </a:prstClr>
              </a:solidFill>
            </a:endParaRPr>
          </a:p>
        </p:txBody>
      </p:sp>
      <p:pic>
        <p:nvPicPr>
          <p:cNvPr id="3" name="Εικόνα 2">
            <a:extLst>
              <a:ext uri="{FF2B5EF4-FFF2-40B4-BE49-F238E27FC236}">
                <a16:creationId xmlns:a16="http://schemas.microsoft.com/office/drawing/2014/main" id="{9A736163-6258-431A-9341-4E0FFE174C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16486" y="1383148"/>
            <a:ext cx="5236029" cy="5190069"/>
          </a:xfrm>
          <a:prstGeom prst="rect">
            <a:avLst/>
          </a:prstGeom>
        </p:spPr>
      </p:pic>
    </p:spTree>
    <p:extLst>
      <p:ext uri="{BB962C8B-B14F-4D97-AF65-F5344CB8AC3E}">
        <p14:creationId xmlns:p14="http://schemas.microsoft.com/office/powerpoint/2010/main" val="17693260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Τίτλος 9"/>
          <p:cNvSpPr>
            <a:spLocks noGrp="1"/>
          </p:cNvSpPr>
          <p:nvPr>
            <p:ph type="title"/>
          </p:nvPr>
        </p:nvSpPr>
        <p:spPr>
          <a:xfrm>
            <a:off x="521208" y="968473"/>
            <a:ext cx="7624288" cy="1207799"/>
          </a:xfrm>
        </p:spPr>
        <p:txBody>
          <a:bodyPr rtlCol="0">
            <a:normAutofit/>
          </a:bodyPr>
          <a:lstStyle/>
          <a:p>
            <a:pPr rtl="0"/>
            <a:r>
              <a:rPr lang="el-GR" dirty="0">
                <a:latin typeface="Segoe UI Light" panose="020B0502040204020203" pitchFamily="34" charset="0"/>
                <a:cs typeface="Segoe UI Light" panose="020B0502040204020203" pitchFamily="34" charset="0"/>
              </a:rPr>
              <a:t>Ευχαριστούμε για την προσοχή σας.</a:t>
            </a:r>
          </a:p>
        </p:txBody>
      </p:sp>
      <p:sp>
        <p:nvSpPr>
          <p:cNvPr id="5" name="Θέση περιεχομένου 4"/>
          <p:cNvSpPr>
            <a:spLocks noGrp="1"/>
          </p:cNvSpPr>
          <p:nvPr>
            <p:ph sz="half" idx="4294967295"/>
          </p:nvPr>
        </p:nvSpPr>
        <p:spPr>
          <a:xfrm>
            <a:off x="541611" y="2614427"/>
            <a:ext cx="11168608" cy="3978275"/>
          </a:xfrm>
        </p:spPr>
        <p:txBody>
          <a:bodyPr rtlCol="0">
            <a:normAutofit/>
          </a:bodyPr>
          <a:lstStyle/>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a:p>
            <a:pPr marL="0" indent="0" rtl="0">
              <a:lnSpc>
                <a:spcPts val="3600"/>
              </a:lnSpc>
              <a:spcAft>
                <a:spcPts val="0"/>
              </a:spcAft>
              <a:buNone/>
            </a:pPr>
            <a:endParaRPr lang="el-GR" sz="2000" dirty="0">
              <a:latin typeface="Segoe UI Light" panose="020B0502040204020203" pitchFamily="34" charset="0"/>
              <a:cs typeface="Segoe UI Light" panose="020B0502040204020203" pitchFamily="34" charset="0"/>
            </a:endParaRPr>
          </a:p>
        </p:txBody>
      </p:sp>
      <p:sp>
        <p:nvSpPr>
          <p:cNvPr id="9" name="Πλαίσιο κειμένου 8"/>
          <p:cNvSpPr txBox="1"/>
          <p:nvPr/>
        </p:nvSpPr>
        <p:spPr>
          <a:xfrm>
            <a:off x="541611" y="4187585"/>
            <a:ext cx="6855885" cy="400110"/>
          </a:xfrm>
          <a:prstGeom prst="rect">
            <a:avLst/>
          </a:prstGeom>
          <a:noFill/>
        </p:spPr>
        <p:txBody>
          <a:bodyPr wrap="square" rtlCol="0">
            <a:spAutoFit/>
          </a:bodyPr>
          <a:lstStyle/>
          <a:p>
            <a:pPr algn="l" rtl="0"/>
            <a:r>
              <a:rPr lang="el-GR" sz="2000" dirty="0">
                <a:latin typeface="Segoe UI Light" panose="020B0502040204020203" pitchFamily="34" charset="0"/>
                <a:cs typeface="Segoe UI Light" panose="020B0502040204020203" pitchFamily="34" charset="0"/>
              </a:rPr>
              <a:t>Είμαστε διαθέσιμοι για οποιαδήποτε απορία σας. </a:t>
            </a:r>
          </a:p>
        </p:txBody>
      </p:sp>
    </p:spTree>
    <p:extLst>
      <p:ext uri="{BB962C8B-B14F-4D97-AF65-F5344CB8AC3E}">
        <p14:creationId xmlns:p14="http://schemas.microsoft.com/office/powerpoint/2010/main" val="89302588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xmlns:p14="http://schemas.microsoft.com/office/powerpoint/2010/main" spd="slow">
        <p:fade/>
      </p:transition>
    </mc:Fallback>
  </mc:AlternateContent>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15684342_TF10001108" id="{DBFF3AF7-5888-433F-AD38-299F70BCE26A}" vid="{65FC6890-4B6D-44B3-978B-79AC4729D2FE}"/>
    </a:ext>
  </a:extLst>
</a:theme>
</file>

<file path=ppt/theme/theme2.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Θέμα του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Καλώς ορίσατε στο PowerPoint</Template>
  <TotalTime>282</TotalTime>
  <Words>788</Words>
  <Application>Microsoft Office PowerPoint</Application>
  <PresentationFormat>Ευρεία οθόνη</PresentationFormat>
  <Paragraphs>81</Paragraphs>
  <Slides>11</Slides>
  <Notes>9</Notes>
  <HiddenSlides>0</HiddenSlides>
  <MMClips>1</MMClips>
  <ScaleCrop>false</ScaleCrop>
  <HeadingPairs>
    <vt:vector size="6" baseType="variant">
      <vt:variant>
        <vt:lpstr>Γραμματοσειρές που χρησιμοποιούνται</vt:lpstr>
      </vt:variant>
      <vt:variant>
        <vt:i4>6</vt:i4>
      </vt:variant>
      <vt:variant>
        <vt:lpstr>Θέμα</vt:lpstr>
      </vt:variant>
      <vt:variant>
        <vt:i4>1</vt:i4>
      </vt:variant>
      <vt:variant>
        <vt:lpstr>Τίτλοι διαφανειών</vt:lpstr>
      </vt:variant>
      <vt:variant>
        <vt:i4>11</vt:i4>
      </vt:variant>
    </vt:vector>
  </HeadingPairs>
  <TitlesOfParts>
    <vt:vector size="18" baseType="lpstr">
      <vt:lpstr>Arial</vt:lpstr>
      <vt:lpstr>Calibri</vt:lpstr>
      <vt:lpstr>Segoe UI</vt:lpstr>
      <vt:lpstr>Segoe UI Light</vt:lpstr>
      <vt:lpstr>Segoe UI Semibold</vt:lpstr>
      <vt:lpstr>Wingdings</vt:lpstr>
      <vt:lpstr>WelcomeDoc</vt:lpstr>
      <vt:lpstr>Μηχανική Μάθηση και Αθλητισμός</vt:lpstr>
      <vt:lpstr>Η ορολογία «Machine Learning»</vt:lpstr>
      <vt:lpstr>-Εφαρμογή Αισθητήρα “MetawearC” στο Ποδόσφαιρο.</vt:lpstr>
      <vt:lpstr>Αποτελέσματα</vt:lpstr>
      <vt:lpstr>-Πρόβλεψη ποδοσφαιρικού αποτελέσματος με τη χρήση Μηχανικής Μάθησης</vt:lpstr>
      <vt:lpstr>Μεταμόρφωση</vt:lpstr>
      <vt:lpstr>Ρύθμιση της Μεταμόρφωσης</vt:lpstr>
      <vt:lpstr>-Μηχανική Μάθηση στο NBA</vt:lpstr>
      <vt:lpstr>Αποκτήστε την εμπειρία των ειδικών με το πλαίσιο "Πείτε μου"</vt:lpstr>
      <vt:lpstr>Εξερεύνηση χωρίς κλείσιμο των διαφανειών</vt:lpstr>
      <vt:lpstr>Ευχαριστούμε για την προσοχή σας.</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Μηχανική Μάθηση και Αθλητισμός</dc:title>
  <dc:creator>dell</dc:creator>
  <cp:keywords/>
  <cp:lastModifiedBy>dell</cp:lastModifiedBy>
  <cp:revision>28</cp:revision>
  <dcterms:created xsi:type="dcterms:W3CDTF">2018-12-01T09:08:18Z</dcterms:created>
  <dcterms:modified xsi:type="dcterms:W3CDTF">2018-12-04T19:09:52Z</dcterms:modified>
  <cp:version/>
</cp:coreProperties>
</file>