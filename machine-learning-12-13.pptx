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
  </p:notesMasterIdLst>
  <p:handoutMasterIdLst>
    <p:handoutMasterId r:id="rId14"/>
  </p:handoutMasterIdLst>
  <p:sldIdLst>
    <p:sldId id="256" r:id="rId2"/>
    <p:sldId id="271" r:id="rId3"/>
    <p:sldId id="279" r:id="rId4"/>
    <p:sldId id="284" r:id="rId5"/>
    <p:sldId id="283" r:id="rId6"/>
    <p:sldId id="281" r:id="rId7"/>
    <p:sldId id="280" r:id="rId8"/>
    <p:sldId id="257" r:id="rId9"/>
    <p:sldId id="275" r:id="rId10"/>
    <p:sldId id="276" r:id="rId11"/>
    <p:sldId id="282" r:id="rId12"/>
  </p:sldIdLst>
  <p:sldSz cx="12192000" cy="6858000"/>
  <p:notesSz cx="6858000" cy="9144000"/>
  <p:defaultTextStyle>
    <a:defPPr rtl="0">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Καλώς ορίσατε" id="{E75E278A-FF0E-49A4-B170-79828D63BBAD}">
          <p14:sldIdLst>
            <p14:sldId id="256"/>
          </p14:sldIdLst>
        </p14:section>
        <p14:section name="Σχεδίαση, Μεταμόρφωση, Σχολιασμός, Συνεργασία, Πείτε μου" id="{B9B51309-D148-4332-87C2-07BE32FBCA3B}">
          <p14:sldIdLst>
            <p14:sldId id="271"/>
            <p14:sldId id="279"/>
            <p14:sldId id="284"/>
            <p14:sldId id="283"/>
            <p14:sldId id="281"/>
            <p14:sldId id="280"/>
            <p14:sldId id="257"/>
            <p14:sldId id="275"/>
            <p14:sldId id="276"/>
          </p14:sldIdLst>
        </p14:section>
        <p14:section name="Μάθετε περισσότερα" id="{2CC34DB2-6590-42C0-AD4B-A04C6060184E}">
          <p14:sldIdLst>
            <p14:sldId id="28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 id="3" name="dell" initials="d" lastIdx="1" clrIdx="2">
    <p:extLst>
      <p:ext uri="{19B8F6BF-5375-455C-9EA6-DF929625EA0E}">
        <p15:presenceInfo xmlns:p15="http://schemas.microsoft.com/office/powerpoint/2012/main" userId="del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187" autoAdjust="0"/>
    <p:restoredTop sz="94214" autoAdjust="0"/>
  </p:normalViewPr>
  <p:slideViewPr>
    <p:cSldViewPr snapToGrid="0">
      <p:cViewPr varScale="1">
        <p:scale>
          <a:sx n="52" d="100"/>
          <a:sy n="52" d="100"/>
        </p:scale>
        <p:origin x="102" y="144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45" d="100"/>
          <a:sy n="45" d="100"/>
        </p:scale>
        <p:origin x="2574" y="3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dirty="0"/>
          </a:p>
        </p:txBody>
      </p:sp>
      <p:sp>
        <p:nvSpPr>
          <p:cNvPr id="3" name="Θέση ημερομηνίας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60A3599D-F7E3-4649-B859-D4940257D38C}" type="datetime1">
              <a:rPr lang="el-GR" smtClean="0"/>
              <a:t>6/12/2018</a:t>
            </a:fld>
            <a:endParaRPr lang="el-GR" dirty="0"/>
          </a:p>
        </p:txBody>
      </p:sp>
      <p:sp>
        <p:nvSpPr>
          <p:cNvPr id="4" name="Θέση υποσέλιδου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dirty="0"/>
          </a:p>
        </p:txBody>
      </p:sp>
      <p:sp>
        <p:nvSpPr>
          <p:cNvPr id="5" name="Θέση αριθμού διαφάνειας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l-GR" smtClean="0"/>
              <a:t>‹#›</a:t>
            </a:fld>
            <a:endParaRPr lang="el-GR" dirty="0"/>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noProof="0" dirty="0"/>
          </a:p>
        </p:txBody>
      </p:sp>
      <p:sp>
        <p:nvSpPr>
          <p:cNvPr id="3" name="Θέση ημερομηνίας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B3D094AE-4861-4AAD-8067-7B835847F302}" type="datetime1">
              <a:rPr lang="el-GR" noProof="0" smtClean="0"/>
              <a:t>6/12/2018</a:t>
            </a:fld>
            <a:endParaRPr lang="el-GR" noProof="0" dirty="0"/>
          </a:p>
        </p:txBody>
      </p:sp>
      <p:sp>
        <p:nvSpPr>
          <p:cNvPr id="4" name="Θέση εικόνας διαφάνειας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l-GR" noProof="0" dirty="0"/>
          </a:p>
        </p:txBody>
      </p:sp>
      <p:sp>
        <p:nvSpPr>
          <p:cNvPr id="5" name="Θέση σημειώσεων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l-GR" noProof="0" dirty="0"/>
              <a:t>Στυλ υποδείγματος κειμένου</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6" name="Θέση υποσέλιδου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noProof="0" dirty="0"/>
          </a:p>
        </p:txBody>
      </p:sp>
      <p:sp>
        <p:nvSpPr>
          <p:cNvPr id="7" name="Θέση αριθμού διαφάνειας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DF61EA0F-A667-4B49-8422-0062BC55E249}" type="slidenum">
              <a:rPr lang="el-GR" noProof="0" smtClean="0"/>
              <a:t>‹#›</a:t>
            </a:fld>
            <a:endParaRPr lang="el-GR" noProof="0"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1</a:t>
            </a:fld>
            <a:endParaRPr lang="el-GR" dirty="0"/>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2</a:t>
            </a:fld>
            <a:endParaRPr lang="el-GR" dirty="0"/>
          </a:p>
        </p:txBody>
      </p:sp>
    </p:spTree>
    <p:extLst>
      <p:ext uri="{BB962C8B-B14F-4D97-AF65-F5344CB8AC3E}">
        <p14:creationId xmlns:p14="http://schemas.microsoft.com/office/powerpoint/2010/main" val="4977550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3</a:t>
            </a:fld>
            <a:endParaRPr lang="el-GR" dirty="0"/>
          </a:p>
        </p:txBody>
      </p:sp>
    </p:spTree>
    <p:extLst>
      <p:ext uri="{BB962C8B-B14F-4D97-AF65-F5344CB8AC3E}">
        <p14:creationId xmlns:p14="http://schemas.microsoft.com/office/powerpoint/2010/main" val="1873392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6</a:t>
            </a:fld>
            <a:endParaRPr lang="el-GR" dirty="0"/>
          </a:p>
        </p:txBody>
      </p:sp>
    </p:spTree>
    <p:extLst>
      <p:ext uri="{BB962C8B-B14F-4D97-AF65-F5344CB8AC3E}">
        <p14:creationId xmlns:p14="http://schemas.microsoft.com/office/powerpoint/2010/main" val="5215945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7</a:t>
            </a:fld>
            <a:endParaRPr lang="el-GR" dirty="0"/>
          </a:p>
        </p:txBody>
      </p:sp>
    </p:spTree>
    <p:extLst>
      <p:ext uri="{BB962C8B-B14F-4D97-AF65-F5344CB8AC3E}">
        <p14:creationId xmlns:p14="http://schemas.microsoft.com/office/powerpoint/2010/main" val="29738837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8</a:t>
            </a:fld>
            <a:endParaRPr lang="el-GR" dirty="0"/>
          </a:p>
        </p:txBody>
      </p:sp>
    </p:spTree>
    <p:extLst>
      <p:ext uri="{BB962C8B-B14F-4D97-AF65-F5344CB8AC3E}">
        <p14:creationId xmlns:p14="http://schemas.microsoft.com/office/powerpoint/2010/main" val="24213146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9</a:t>
            </a:fld>
            <a:endParaRPr lang="el-GR" dirty="0"/>
          </a:p>
        </p:txBody>
      </p:sp>
    </p:spTree>
    <p:extLst>
      <p:ext uri="{BB962C8B-B14F-4D97-AF65-F5344CB8AC3E}">
        <p14:creationId xmlns:p14="http://schemas.microsoft.com/office/powerpoint/2010/main" val="8829598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10</a:t>
            </a:fld>
            <a:endParaRPr lang="el-GR" dirty="0"/>
          </a:p>
        </p:txBody>
      </p:sp>
    </p:spTree>
    <p:extLst>
      <p:ext uri="{BB962C8B-B14F-4D97-AF65-F5344CB8AC3E}">
        <p14:creationId xmlns:p14="http://schemas.microsoft.com/office/powerpoint/2010/main" val="5079949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r>
              <a:rPr lang="el-GR" dirty="0"/>
              <a:t>Σε λειτουργία προβολής παρουσίασης, επιλέξτε τα βέλη για να επισκεφθείτε συνδέσεις.</a:t>
            </a:r>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11</a:t>
            </a:fld>
            <a:endParaRPr lang="el-GR" dirty="0"/>
          </a:p>
        </p:txBody>
      </p:sp>
    </p:spTree>
    <p:extLst>
      <p:ext uri="{BB962C8B-B14F-4D97-AF65-F5344CB8AC3E}">
        <p14:creationId xmlns:p14="http://schemas.microsoft.com/office/powerpoint/2010/main" val="34217808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Διαφάνεια τίτλου">
    <p:spTree>
      <p:nvGrpSpPr>
        <p:cNvPr id="1" name=""/>
        <p:cNvGrpSpPr/>
        <p:nvPr/>
      </p:nvGrpSpPr>
      <p:grpSpPr>
        <a:xfrm>
          <a:off x="0" y="0"/>
          <a:ext cx="0" cy="0"/>
          <a:chOff x="0" y="0"/>
          <a:chExt cx="0" cy="0"/>
        </a:xfrm>
      </p:grpSpPr>
      <p:sp>
        <p:nvSpPr>
          <p:cNvPr id="7" name="Ορθογώνιο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Τίτλος και περιεχόμενο">
    <p:spTree>
      <p:nvGrpSpPr>
        <p:cNvPr id="1" name=""/>
        <p:cNvGrpSpPr/>
        <p:nvPr/>
      </p:nvGrpSpPr>
      <p:grpSpPr>
        <a:xfrm>
          <a:off x="0" y="0"/>
          <a:ext cx="0" cy="0"/>
          <a:chOff x="0" y="0"/>
          <a:chExt cx="0" cy="0"/>
        </a:xfrm>
      </p:grpSpPr>
      <p:sp>
        <p:nvSpPr>
          <p:cNvPr id="9" name="Ορθογώνιο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noProof="0" dirty="0"/>
          </a:p>
        </p:txBody>
      </p:sp>
      <p:cxnSp>
        <p:nvCxnSpPr>
          <p:cNvPr id="12" name="Ευθεία γραμμή σύνδεσης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Τίτλος 3"/>
          <p:cNvSpPr>
            <a:spLocks noGrp="1"/>
          </p:cNvSpPr>
          <p:nvPr>
            <p:ph type="title"/>
          </p:nvPr>
        </p:nvSpPr>
        <p:spPr>
          <a:xfrm>
            <a:off x="521207" y="448056"/>
            <a:ext cx="10068135" cy="640080"/>
          </a:xfrm>
        </p:spPr>
        <p:txBody>
          <a:bodyPr rtlCol="0" anchor="b" anchorCtr="0">
            <a:normAutofit/>
          </a:bodyPr>
          <a:lstStyle>
            <a:lvl1pPr>
              <a:defRPr sz="2800">
                <a:solidFill>
                  <a:schemeClr val="bg2">
                    <a:lumMod val="25000"/>
                  </a:schemeClr>
                </a:solidFill>
              </a:defRPr>
            </a:lvl1pPr>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defRPr>
            </a:lvl1pPr>
            <a:lvl2pPr>
              <a:defRPr lang="en-US" sz="1200" smtClean="0">
                <a:solidFill>
                  <a:schemeClr val="tx1">
                    <a:lumMod val="75000"/>
                    <a:lumOff val="25000"/>
                  </a:schemeClr>
                </a:solidFill>
              </a:defRPr>
            </a:lvl2pPr>
            <a:lvl3pPr>
              <a:defRPr lang="en-US" sz="1200" smtClean="0">
                <a:solidFill>
                  <a:schemeClr val="tx1">
                    <a:lumMod val="75000"/>
                    <a:lumOff val="25000"/>
                  </a:schemeClr>
                </a:solidFill>
              </a:defRPr>
            </a:lvl3pPr>
            <a:lvl4pPr>
              <a:defRPr lang="en-US" sz="1200" smtClean="0">
                <a:solidFill>
                  <a:schemeClr val="tx1">
                    <a:lumMod val="75000"/>
                    <a:lumOff val="25000"/>
                  </a:schemeClr>
                </a:solidFill>
              </a:defRPr>
            </a:lvl4pPr>
            <a:lvl5pPr>
              <a:defRPr lang="en-US" sz="120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
        <p:nvSpPr>
          <p:cNvPr id="6"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368E473F-9E20-4236-857A-0F18234A7730}" type="datetime1">
              <a:rPr lang="el-GR" noProof="0" smtClean="0"/>
              <a:t>6/12/2018</a:t>
            </a:fld>
            <a:endParaRPr lang="el-GR" noProof="0" dirty="0"/>
          </a:p>
        </p:txBody>
      </p:sp>
      <p:sp>
        <p:nvSpPr>
          <p:cNvPr id="7"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noProof="0" dirty="0"/>
          </a:p>
        </p:txBody>
      </p:sp>
      <p:sp>
        <p:nvSpPr>
          <p:cNvPr id="8" name="Θέση αριθμού διαφάνειας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noProof="0" smtClean="0"/>
              <a:pPr/>
              <a:t>‹#›</a:t>
            </a:fld>
            <a:endParaRPr lang="el-GR" noProof="0" dirty="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Κεφαλίδα ενότητας">
    <p:spTree>
      <p:nvGrpSpPr>
        <p:cNvPr id="1" name=""/>
        <p:cNvGrpSpPr/>
        <p:nvPr/>
      </p:nvGrpSpPr>
      <p:grpSpPr>
        <a:xfrm>
          <a:off x="0" y="0"/>
          <a:ext cx="0" cy="0"/>
          <a:chOff x="0" y="0"/>
          <a:chExt cx="0" cy="0"/>
        </a:xfrm>
      </p:grpSpPr>
      <p:sp>
        <p:nvSpPr>
          <p:cNvPr id="9" name="Ορθογώνιο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10" name="Ορθογώνιο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a:xfrm>
            <a:off x="521208" y="884902"/>
            <a:ext cx="6876288" cy="1291369"/>
          </a:xfrm>
        </p:spPr>
        <p:txBody>
          <a:bodyPr rtlCol="0">
            <a:normAutofit/>
          </a:bodyPr>
          <a:lstStyle>
            <a:lvl1pPr>
              <a:defRPr sz="3600">
                <a:solidFill>
                  <a:schemeClr val="bg1"/>
                </a:solidFill>
              </a:defRPr>
            </a:lvl1pPr>
          </a:lstStyle>
          <a:p>
            <a:pPr rtl="0"/>
            <a:r>
              <a:rPr lang="el-GR" noProof="0"/>
              <a:t>Κάντε κλικ για να επεξεργαστείτε τον τίτλο υποδείγματος</a:t>
            </a:r>
            <a:endParaRPr lang="el-GR" noProof="0" dirty="0"/>
          </a:p>
        </p:txBody>
      </p:sp>
      <p:sp>
        <p:nvSpPr>
          <p:cNvPr id="7" name="Θέση περιεχομένου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Tree>
    <p:extLst>
      <p:ext uri="{BB962C8B-B14F-4D97-AF65-F5344CB8AC3E}">
        <p14:creationId xmlns:p14="http://schemas.microsoft.com/office/powerpoint/2010/main" val="13356555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Ορθογώνιο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dirty="0"/>
          </a:p>
        </p:txBody>
      </p:sp>
      <p:sp>
        <p:nvSpPr>
          <p:cNvPr id="2" name="Θέση τίτλου 1"/>
          <p:cNvSpPr>
            <a:spLocks noGrp="1"/>
          </p:cNvSpPr>
          <p:nvPr>
            <p:ph type="title"/>
          </p:nvPr>
        </p:nvSpPr>
        <p:spPr>
          <a:xfrm>
            <a:off x="521208" y="448056"/>
            <a:ext cx="10058302" cy="640080"/>
          </a:xfrm>
          <a:prstGeom prst="rect">
            <a:avLst/>
          </a:prstGeom>
        </p:spPr>
        <p:txBody>
          <a:bodyPr vert="horz" lIns="91440" tIns="45720" rIns="91440" bIns="45720" rtlCol="0" anchor="b" anchorCtr="0">
            <a:normAutofit/>
          </a:bodyPr>
          <a:lstStyle/>
          <a:p>
            <a:pPr rtl="0"/>
            <a:r>
              <a:rPr lang="el-GR" dirty="0"/>
              <a:t>Κάντε κλικ για να επεξεργαστείτε το Στυλ κύριου τίτλου</a:t>
            </a:r>
          </a:p>
        </p:txBody>
      </p:sp>
      <p:sp>
        <p:nvSpPr>
          <p:cNvPr id="3" name="Θέση κειμένου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el-GR" dirty="0"/>
              <a:t>Επεξεργασία στυλ υποδείγματος κειμένου</a:t>
            </a:r>
          </a:p>
          <a:p>
            <a:pPr marL="228600" lvl="0" indent="-228600" algn="l" defTabSz="914400" rtl="0" eaLnBrk="1" latinLnBrk="0" hangingPunct="1">
              <a:lnSpc>
                <a:spcPct val="90000"/>
              </a:lnSpc>
              <a:spcBef>
                <a:spcPct val="30000"/>
              </a:spcBef>
              <a:buFont typeface="Arial" panose="020B0604020202020204" pitchFamily="34" charset="0"/>
              <a:buChar char="•"/>
            </a:pPr>
            <a:r>
              <a:rPr lang="el-GR" dirty="0"/>
              <a:t>Δεύτερου επιπέδου</a:t>
            </a:r>
          </a:p>
          <a:p>
            <a:pPr marL="685800" lvl="1" indent="-228600" algn="l" defTabSz="914400" rtl="0" eaLnBrk="1" latinLnBrk="0" hangingPunct="1">
              <a:lnSpc>
                <a:spcPct val="90000"/>
              </a:lnSpc>
              <a:spcBef>
                <a:spcPct val="30000"/>
              </a:spcBef>
              <a:buFont typeface="Arial" panose="020B0604020202020204" pitchFamily="34" charset="0"/>
              <a:buChar char="•"/>
            </a:pPr>
            <a:r>
              <a:rPr lang="el-GR" dirty="0"/>
              <a:t>Τρίτου επιπέδου</a:t>
            </a:r>
          </a:p>
          <a:p>
            <a:pPr marL="1143000" lvl="2" indent="-228600" algn="l" defTabSz="914400" rtl="0" eaLnBrk="1" latinLnBrk="0" hangingPunct="1">
              <a:lnSpc>
                <a:spcPct val="90000"/>
              </a:lnSpc>
              <a:spcBef>
                <a:spcPct val="30000"/>
              </a:spcBef>
              <a:buFont typeface="Arial" panose="020B0604020202020204" pitchFamily="34" charset="0"/>
              <a:buChar char="•"/>
            </a:pPr>
            <a:r>
              <a:rPr lang="el-GR" dirty="0"/>
              <a:t>Τέταρτου επιπέδου</a:t>
            </a:r>
          </a:p>
          <a:p>
            <a:pPr marL="1600200" lvl="3" indent="-228600" algn="l" defTabSz="914400" rtl="0" eaLnBrk="1" latinLnBrk="0" hangingPunct="1">
              <a:lnSpc>
                <a:spcPct val="90000"/>
              </a:lnSpc>
              <a:spcBef>
                <a:spcPct val="30000"/>
              </a:spcBef>
              <a:buFont typeface="Arial" panose="020B0604020202020204" pitchFamily="34" charset="0"/>
              <a:buChar char="•"/>
            </a:pPr>
            <a:r>
              <a:rPr lang="el-GR" dirty="0"/>
              <a:t>Πέμπτου επιπέδου</a:t>
            </a:r>
          </a:p>
        </p:txBody>
      </p:sp>
      <p:sp>
        <p:nvSpPr>
          <p:cNvPr id="4"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577B7329-A8D8-42EA-B94C-D5FD42F8F744}" type="datetime1">
              <a:rPr lang="el-GR" smtClean="0"/>
              <a:t>6/12/2018</a:t>
            </a:fld>
            <a:endParaRPr lang="el-GR" dirty="0"/>
          </a:p>
        </p:txBody>
      </p:sp>
      <p:sp>
        <p:nvSpPr>
          <p:cNvPr id="5"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dirty="0"/>
          </a:p>
        </p:txBody>
      </p:sp>
      <p:sp>
        <p:nvSpPr>
          <p:cNvPr id="6" name="Θέση αριθμού διαφάνειας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smtClean="0"/>
              <a:pPr/>
              <a:t>‹#›</a:t>
            </a:fld>
            <a:endParaRPr lang="el-GR" dirty="0"/>
          </a:p>
        </p:txBody>
      </p:sp>
      <p:cxnSp>
        <p:nvCxnSpPr>
          <p:cNvPr id="8" name="Ευθεία γραμμή σύνδεσης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hf sldNum="0" hdr="0" ftr="0" dt="0"/>
  <p:txStyles>
    <p:titleStyle>
      <a:lvl1pPr algn="l" defTabSz="914400" rtl="0" eaLnBrk="1" latinLnBrk="0" hangingPunct="1">
        <a:spcBef>
          <a:spcPct val="0"/>
        </a:spcBef>
        <a:buNone/>
        <a:defRPr sz="2800" kern="1200">
          <a:solidFill>
            <a:schemeClr val="tx1"/>
          </a:solidFill>
          <a:latin typeface="+mj-lt"/>
          <a:ea typeface="+mj-ea"/>
          <a:cs typeface="+mj-cs"/>
        </a:defRPr>
      </a:lvl1pPr>
    </p:titleStyle>
    <p:bodyStyle>
      <a:lvl1pPr marL="0" indent="0" algn="l" defTabSz="914400" rtl="0" eaLnBrk="1" latinLnBrk="0" hangingPunct="1">
        <a:lnSpc>
          <a:spcPct val="150000"/>
        </a:lnSpc>
        <a:spcBef>
          <a:spcPts val="1000"/>
        </a:spcBef>
        <a:spcAft>
          <a:spcPts val="1200"/>
        </a:spcAft>
        <a:buFontTx/>
        <a:buNone/>
        <a:defRPr lang="en-US" sz="1200" kern="1200" dirty="0">
          <a:solidFill>
            <a:schemeClr val="tx1"/>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bit.ly/2Q5DrNs"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mbientlab.com/product/metawearc" TargetMode="Externa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www.stat.ucla.edu/~sabatti/statarray/textr/node5.html"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hyperlink" Target="http://scikit-learn.org/stable/auto_examples/cluster/plot_kmeans_silhouette_analysis.html" TargetMode="External"/><Relationship Id="rId4" Type="http://schemas.openxmlformats.org/officeDocument/2006/relationships/hyperlink" Target="http://scikit-learn.org/stable/modules/lda_qda.html"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cikit-learn.org/stable/modules/generated/sklearn.decomposition.PCA.html"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ctrTitle"/>
          </p:nvPr>
        </p:nvSpPr>
        <p:spPr>
          <a:xfrm>
            <a:off x="838200" y="1164324"/>
            <a:ext cx="10515600" cy="2387600"/>
          </a:xfrm>
        </p:spPr>
        <p:txBody>
          <a:bodyPr rtlCol="0" anchor="ctr" anchorCtr="0">
            <a:normAutofit/>
          </a:bodyPr>
          <a:lstStyle/>
          <a:p>
            <a:pPr rtl="0"/>
            <a:r>
              <a:rPr lang="el-GR" sz="4800" dirty="0">
                <a:solidFill>
                  <a:schemeClr val="bg1"/>
                </a:solidFill>
              </a:rPr>
              <a:t>Μηχανική Μάθηση και Αθλητισμός</a:t>
            </a:r>
          </a:p>
        </p:txBody>
      </p:sp>
      <p:sp>
        <p:nvSpPr>
          <p:cNvPr id="3" name="Υπότιτλος 2"/>
          <p:cNvSpPr>
            <a:spLocks noGrp="1"/>
          </p:cNvSpPr>
          <p:nvPr>
            <p:ph type="subTitle" idx="4294967295"/>
          </p:nvPr>
        </p:nvSpPr>
        <p:spPr>
          <a:xfrm>
            <a:off x="855620" y="2933105"/>
            <a:ext cx="9582736" cy="1137793"/>
          </a:xfrm>
        </p:spPr>
        <p:txBody>
          <a:bodyPr rtlCol="0">
            <a:normAutofit fontScale="85000" lnSpcReduction="20000"/>
          </a:bodyPr>
          <a:lstStyle/>
          <a:p>
            <a:pPr marL="0" indent="0" rtl="0">
              <a:buNone/>
            </a:pPr>
            <a:r>
              <a:rPr lang="el-GR" sz="2400" dirty="0">
                <a:solidFill>
                  <a:schemeClr val="bg1"/>
                </a:solidFill>
                <a:latin typeface="+mj-lt"/>
              </a:rPr>
              <a:t>Μαυροπούλου Κυριακή, ΑΕΜ 12</a:t>
            </a:r>
          </a:p>
          <a:p>
            <a:pPr marL="0" indent="0" rtl="0">
              <a:buNone/>
            </a:pPr>
            <a:r>
              <a:rPr lang="el-GR" sz="2400" dirty="0">
                <a:solidFill>
                  <a:schemeClr val="bg1"/>
                </a:solidFill>
                <a:latin typeface="+mj-lt"/>
              </a:rPr>
              <a:t>Μπάμπης Νικόλαος, ΑΕΜ 13</a:t>
            </a:r>
          </a:p>
        </p:txBody>
      </p:sp>
      <p:pic>
        <p:nvPicPr>
          <p:cNvPr id="6" name="Εικόνα 5">
            <a:extLst>
              <a:ext uri="{FF2B5EF4-FFF2-40B4-BE49-F238E27FC236}">
                <a16:creationId xmlns:a16="http://schemas.microsoft.com/office/drawing/2014/main" id="{5323E79F-2D72-413A-8A58-9C858F1944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409813" y="5485787"/>
            <a:ext cx="2545173" cy="1148254"/>
          </a:xfrm>
          <a:prstGeom prst="rect">
            <a:avLst/>
          </a:prstGeom>
        </p:spPr>
      </p:pic>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10578915" cy="640080"/>
          </a:xfrm>
        </p:spPr>
        <p:txBody>
          <a:bodyPr rtlCol="0">
            <a:noAutofit/>
          </a:bodyPr>
          <a:lstStyle/>
          <a:p>
            <a:pPr rtl="0"/>
            <a:r>
              <a:rPr lang="el-GR" dirty="0">
                <a:latin typeface="Segoe UI Light" panose="020B0502040204020203" pitchFamily="34" charset="0"/>
                <a:cs typeface="Segoe UI Light" panose="020B0502040204020203" pitchFamily="34" charset="0"/>
              </a:rPr>
              <a:t>Η ορολογία «</a:t>
            </a:r>
            <a:r>
              <a:rPr lang="en-US" dirty="0">
                <a:latin typeface="Segoe UI Light" panose="020B0502040204020203" pitchFamily="34" charset="0"/>
                <a:cs typeface="Segoe UI Light" panose="020B0502040204020203" pitchFamily="34" charset="0"/>
              </a:rPr>
              <a:t>Machine Learning</a:t>
            </a:r>
            <a:r>
              <a:rPr lang="el-GR" dirty="0">
                <a:latin typeface="Segoe UI Light" panose="020B0502040204020203" pitchFamily="34" charset="0"/>
                <a:cs typeface="Segoe UI Light" panose="020B0502040204020203" pitchFamily="34" charset="0"/>
              </a:rPr>
              <a:t>»</a:t>
            </a:r>
          </a:p>
        </p:txBody>
      </p:sp>
      <p:sp>
        <p:nvSpPr>
          <p:cNvPr id="38" name="Θέση περιεχομένου 17"/>
          <p:cNvSpPr txBox="1">
            <a:spLocks/>
          </p:cNvSpPr>
          <p:nvPr/>
        </p:nvSpPr>
        <p:spPr>
          <a:xfrm>
            <a:off x="541610" y="1524708"/>
            <a:ext cx="4321704" cy="387151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a:spcAft>
                <a:spcPts val="600"/>
              </a:spcAft>
              <a:buNone/>
              <a:defRPr/>
            </a:pPr>
            <a:r>
              <a:rPr lang="el-GR" sz="1400" dirty="0">
                <a:latin typeface="Segoe UI" panose="020B0502040204020203" pitchFamily="34" charset="0"/>
                <a:cs typeface="Segoe UI" panose="020B0502040204020203" pitchFamily="34" charset="0"/>
              </a:rPr>
              <a:t>Η χρήση των δεδομένων στον αθλητισμό, έχει δει μεγάλη ανάπτυξη τα τελευταία χρόνια. Έτσι λοιπόν υπάρχει μεγάλη ανάγκη πλέον στην  διερεύνηση μελέτης και την κατασκευή αλγορίθμων που μπορούν να μαθαίνουν από τα δεδομένα αυτά. Τέτοιο αλγόριθμοι λειτουργούν, δημιουργώντας μοντέλα από δεδομένα, προκειμένου να κάνουν προβλέψεις ή να εξάγουν αποφάσεις που εκφράζονται ως το αποτέλεσμα.</a:t>
            </a:r>
          </a:p>
        </p:txBody>
      </p:sp>
      <p:pic>
        <p:nvPicPr>
          <p:cNvPr id="3" name="Εικόνα 2">
            <a:extLst>
              <a:ext uri="{FF2B5EF4-FFF2-40B4-BE49-F238E27FC236}">
                <a16:creationId xmlns:a16="http://schemas.microsoft.com/office/drawing/2014/main" id="{8FCAADA0-4330-41C5-A1F4-5AAC37BA0E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70714" y="3209773"/>
            <a:ext cx="6479676" cy="2737891"/>
          </a:xfrm>
          <a:prstGeom prst="rect">
            <a:avLst/>
          </a:prstGeom>
        </p:spPr>
      </p:pic>
      <p:sp>
        <p:nvSpPr>
          <p:cNvPr id="7" name="Θέση περιεχομένου 17">
            <a:extLst>
              <a:ext uri="{FF2B5EF4-FFF2-40B4-BE49-F238E27FC236}">
                <a16:creationId xmlns:a16="http://schemas.microsoft.com/office/drawing/2014/main" id="{12156FDE-401E-4EAE-80DB-835E893FF230}"/>
              </a:ext>
            </a:extLst>
          </p:cNvPr>
          <p:cNvSpPr txBox="1">
            <a:spLocks/>
          </p:cNvSpPr>
          <p:nvPr/>
        </p:nvSpPr>
        <p:spPr>
          <a:xfrm>
            <a:off x="10920972" y="5947664"/>
            <a:ext cx="729418" cy="33745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a:spcAft>
                <a:spcPts val="600"/>
              </a:spcAft>
              <a:buNone/>
              <a:defRPr/>
            </a:pPr>
            <a:r>
              <a:rPr lang="en-US" sz="1400" dirty="0">
                <a:latin typeface="Segoe UI" panose="020B0502040204020203" pitchFamily="34" charset="0"/>
                <a:cs typeface="Segoe UI" panose="020B0502040204020203" pitchFamily="34" charset="0"/>
                <a:hlinkClick r:id="rId4"/>
              </a:rPr>
              <a:t>source</a:t>
            </a:r>
            <a:endParaRPr lang="el-GR" sz="14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4576161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Τίτλος 3"/>
          <p:cNvSpPr>
            <a:spLocks noGrp="1"/>
          </p:cNvSpPr>
          <p:nvPr>
            <p:ph type="title"/>
          </p:nvPr>
        </p:nvSpPr>
        <p:spPr>
          <a:xfrm>
            <a:off x="521207" y="448056"/>
            <a:ext cx="11090690" cy="640080"/>
          </a:xfrm>
        </p:spPr>
        <p:txBody>
          <a:bodyPr rtlCol="0">
            <a:normAutofit/>
          </a:bodyPr>
          <a:lstStyle/>
          <a:p>
            <a:r>
              <a:rPr lang="el-GR" dirty="0">
                <a:latin typeface="Segoe UI Light" panose="020B0502040204020203" pitchFamily="34" charset="0"/>
                <a:cs typeface="Segoe UI Light" panose="020B0502040204020203" pitchFamily="34" charset="0"/>
              </a:rPr>
              <a:t>-Εφαρμογή Αισθητήρα </a:t>
            </a:r>
            <a:r>
              <a:rPr lang="en-US" dirty="0">
                <a:latin typeface="Segoe UI Light" panose="020B0502040204020203" pitchFamily="34" charset="0"/>
                <a:cs typeface="Segoe UI Light" panose="020B0502040204020203" pitchFamily="34" charset="0"/>
              </a:rPr>
              <a:t>“MetawearC” </a:t>
            </a:r>
            <a:r>
              <a:rPr lang="el-GR" dirty="0">
                <a:latin typeface="Segoe UI Light" panose="020B0502040204020203" pitchFamily="34" charset="0"/>
                <a:cs typeface="Segoe UI Light" panose="020B0502040204020203" pitchFamily="34" charset="0"/>
              </a:rPr>
              <a:t>στο Ποδόσφαιρο.</a:t>
            </a:r>
          </a:p>
        </p:txBody>
      </p:sp>
      <p:sp>
        <p:nvSpPr>
          <p:cNvPr id="25" name="Θέση περιεχομένου 17"/>
          <p:cNvSpPr txBox="1">
            <a:spLocks/>
          </p:cNvSpPr>
          <p:nvPr/>
        </p:nvSpPr>
        <p:spPr>
          <a:xfrm>
            <a:off x="541609" y="145549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sz="1600" dirty="0">
                <a:latin typeface="Segoe UI" panose="020B0502040204020203" pitchFamily="34" charset="0"/>
                <a:cs typeface="Segoe UI" panose="020B0502040204020203" pitchFamily="34" charset="0"/>
              </a:rPr>
              <a:t>Πώς λειτουργεί:</a:t>
            </a:r>
          </a:p>
        </p:txBody>
      </p:sp>
      <p:sp>
        <p:nvSpPr>
          <p:cNvPr id="21" name="Θέση περιεχομένου 17"/>
          <p:cNvSpPr txBox="1">
            <a:spLocks/>
          </p:cNvSpPr>
          <p:nvPr/>
        </p:nvSpPr>
        <p:spPr>
          <a:xfrm>
            <a:off x="844563" y="2058984"/>
            <a:ext cx="5878966" cy="4129664"/>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κατάλληλου αισθητήρα, με χαρακτηριστικά</a:t>
            </a:r>
            <a:r>
              <a:rPr lang="en-US" sz="1400" dirty="0">
                <a:solidFill>
                  <a:prstClr val="black">
                    <a:lumMod val="75000"/>
                    <a:lumOff val="25000"/>
                  </a:prstClr>
                </a:solidFill>
                <a:latin typeface="Segoe UI" panose="020B0502040204020203" pitchFamily="34" charset="0"/>
                <a:cs typeface="Segoe UI" panose="020B0502040204020203" pitchFamily="34" charset="0"/>
              </a:rPr>
              <a:t>:</a:t>
            </a:r>
            <a:br>
              <a:rPr lang="en-US" sz="1400" dirty="0">
                <a:solidFill>
                  <a:prstClr val="black">
                    <a:lumMod val="75000"/>
                    <a:lumOff val="25000"/>
                  </a:prstClr>
                </a:solidFill>
                <a:latin typeface="Segoe UI" panose="020B0502040204020203" pitchFamily="34" charset="0"/>
                <a:cs typeface="Segoe UI" panose="020B0502040204020203" pitchFamily="34" charset="0"/>
              </a:rPr>
            </a:br>
            <a:r>
              <a:rPr lang="el-GR" sz="1400" dirty="0">
                <a:solidFill>
                  <a:prstClr val="black">
                    <a:lumMod val="75000"/>
                    <a:lumOff val="25000"/>
                  </a:prstClr>
                </a:solidFill>
                <a:latin typeface="Segoe UI" panose="020B0502040204020203" pitchFamily="34" charset="0"/>
                <a:cs typeface="Segoe UI" panose="020B0502040204020203" pitchFamily="34" charset="0"/>
              </a:rPr>
              <a:t>επιταχυνσιόμετρο - γυροσκόπιο.</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Τοποθέτηση αισθητήρα σε ειδικό ποδοσφαιρικό παπούτσι αθλητή</a:t>
            </a:r>
            <a:r>
              <a:rPr lang="en-US" sz="1400" dirty="0">
                <a:solidFill>
                  <a:prstClr val="black">
                    <a:lumMod val="75000"/>
                    <a:lumOff val="25000"/>
                  </a:prstClr>
                </a:solidFill>
                <a:latin typeface="Segoe UI" panose="020B0502040204020203" pitchFamily="34" charset="0"/>
                <a:cs typeface="Segoe UI" panose="020B0502040204020203" pitchFamily="34" charset="0"/>
              </a:rPr>
              <a: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καταγραφή κίνησης.</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Αποστολή δεδομένων μέσω </a:t>
            </a:r>
            <a:r>
              <a:rPr lang="en-US" sz="1400" dirty="0">
                <a:solidFill>
                  <a:prstClr val="black">
                    <a:lumMod val="75000"/>
                    <a:lumOff val="25000"/>
                  </a:prstClr>
                </a:solidFill>
                <a:latin typeface="Segoe UI" panose="020B0502040204020203" pitchFamily="34" charset="0"/>
                <a:cs typeface="Segoe UI" panose="020B0502040204020203" pitchFamily="34" charset="0"/>
              </a:rPr>
              <a:t>cloud</a:t>
            </a:r>
            <a:r>
              <a:rPr lang="el-GR" sz="1400" dirty="0">
                <a:solidFill>
                  <a:prstClr val="black">
                    <a:lumMod val="75000"/>
                    <a:lumOff val="25000"/>
                  </a:prstClr>
                </a:solidFill>
                <a:latin typeface="Segoe UI" panose="020B0502040204020203" pitchFamily="34" charset="0"/>
                <a:cs typeface="Segoe UI" panose="020B0502040204020203" pitchFamily="34" charset="0"/>
              </a:rPr>
              <a:t> ή επιλογή </a:t>
            </a:r>
            <a:r>
              <a:rPr lang="en-US" sz="1400" dirty="0">
                <a:solidFill>
                  <a:prstClr val="black">
                    <a:lumMod val="75000"/>
                    <a:lumOff val="25000"/>
                  </a:prstClr>
                </a:solidFill>
                <a:latin typeface="Segoe UI" panose="020B0502040204020203" pitchFamily="34" charset="0"/>
                <a:cs typeface="Segoe UI" panose="020B0502040204020203" pitchFamily="34" charset="0"/>
              </a:rPr>
              <a:t>download</a:t>
            </a:r>
            <a:r>
              <a:rPr lang="el-GR" sz="1400" dirty="0">
                <a:solidFill>
                  <a:prstClr val="black">
                    <a:lumMod val="75000"/>
                    <a:lumOff val="25000"/>
                  </a:prstClr>
                </a:solidFill>
                <a:latin typeface="Segoe UI" panose="020B0502040204020203" pitchFamily="34" charset="0"/>
                <a:cs typeface="Segoe UI" panose="020B0502040204020203" pitchFamily="34" charset="0"/>
              </a:rPr>
              <a:t> σε μορφή </a:t>
            </a:r>
            <a:r>
              <a:rPr lang="en-US" sz="1400" dirty="0">
                <a:solidFill>
                  <a:prstClr val="black">
                    <a:lumMod val="75000"/>
                    <a:lumOff val="25000"/>
                  </a:prstClr>
                </a:solidFill>
                <a:latin typeface="Segoe UI" panose="020B0502040204020203" pitchFamily="34" charset="0"/>
                <a:cs typeface="Segoe UI" panose="020B0502040204020203" pitchFamily="34" charset="0"/>
              </a:rPr>
              <a:t>.csv </a:t>
            </a:r>
            <a:r>
              <a:rPr lang="el-GR" sz="1400" dirty="0">
                <a:solidFill>
                  <a:prstClr val="black">
                    <a:lumMod val="75000"/>
                    <a:lumOff val="25000"/>
                  </a:prstClr>
                </a:solidFill>
                <a:latin typeface="Segoe UI" panose="020B0502040204020203" pitchFamily="34" charset="0"/>
                <a:cs typeface="Segoe UI" panose="020B0502040204020203" pitchFamily="34" charset="0"/>
              </a:rPr>
              <a:t>αρχείου</a:t>
            </a:r>
            <a:r>
              <a:rPr lang="en-US" sz="1400" dirty="0">
                <a:solidFill>
                  <a:prstClr val="black">
                    <a:lumMod val="75000"/>
                    <a:lumOff val="25000"/>
                  </a:prstClr>
                </a:solidFill>
                <a:latin typeface="Segoe UI" panose="020B0502040204020203" pitchFamily="34" charset="0"/>
                <a:cs typeface="Segoe UI" panose="020B0502040204020203" pitchFamily="34" charset="0"/>
              </a:rPr>
              <a:t>.</a:t>
            </a: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Οπτικοποίηση δεδομένων και καθαρισμός αυτών.</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αλγορίθμου (</a:t>
            </a:r>
            <a:r>
              <a:rPr lang="en-US" sz="1400" dirty="0">
                <a:solidFill>
                  <a:prstClr val="black">
                    <a:lumMod val="75000"/>
                    <a:lumOff val="25000"/>
                  </a:prstClr>
                </a:solidFill>
                <a:latin typeface="Segoe UI" panose="020B0502040204020203" pitchFamily="34" charset="0"/>
                <a:cs typeface="Segoe UI" panose="020B0502040204020203" pitchFamily="34" charset="0"/>
              </a:rPr>
              <a:t>k-Nearest-Neighbor Classifier</a:t>
            </a:r>
            <a:r>
              <a:rPr lang="el-GR" sz="1400" dirty="0">
                <a:solidFill>
                  <a:prstClr val="black">
                    <a:lumMod val="75000"/>
                    <a:lumOff val="25000"/>
                  </a:prstClr>
                </a:solidFill>
                <a:latin typeface="Segoe UI" panose="020B0502040204020203" pitchFamily="34" charset="0"/>
                <a:cs typeface="Segoe UI" panose="020B0502040204020203" pitchFamily="34" charset="0"/>
              </a:rPr>
              <a:t>) για την ανάλυση των δεδομένων και εξαγωγή προβλέψεων.</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Διαχωρισμός δεδομένων σε </a:t>
            </a:r>
            <a:r>
              <a:rPr lang="en-US" sz="1400" dirty="0">
                <a:solidFill>
                  <a:prstClr val="black">
                    <a:lumMod val="75000"/>
                    <a:lumOff val="25000"/>
                  </a:prstClr>
                </a:solidFill>
                <a:latin typeface="Segoe UI" panose="020B0502040204020203" pitchFamily="34" charset="0"/>
                <a:cs typeface="Segoe UI" panose="020B0502040204020203" pitchFamily="34" charset="0"/>
              </a:rPr>
              <a:t>training set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a:t>
            </a:r>
            <a:r>
              <a:rPr lang="en-US" sz="1400" dirty="0">
                <a:solidFill>
                  <a:prstClr val="black">
                    <a:lumMod val="75000"/>
                    <a:lumOff val="25000"/>
                  </a:prstClr>
                </a:solidFill>
                <a:latin typeface="Segoe UI" panose="020B0502040204020203" pitchFamily="34" charset="0"/>
                <a:cs typeface="Segoe UI" panose="020B0502040204020203" pitchFamily="34" charset="0"/>
              </a:rPr>
              <a:t>test set.</a:t>
            </a:r>
            <a:r>
              <a:rPr lang="el-GR" sz="1400" dirty="0">
                <a:solidFill>
                  <a:prstClr val="black">
                    <a:lumMod val="75000"/>
                    <a:lumOff val="25000"/>
                  </a:prstClr>
                </a:solidFill>
                <a:latin typeface="Segoe UI" panose="020B0502040204020203" pitchFamily="34" charset="0"/>
                <a:cs typeface="Segoe UI" panose="020B0502040204020203" pitchFamily="34" charset="0"/>
              </a:rPr>
              <a:t> </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Πρόβλεψη για το αν υπάρχει επαφή με την μπάλα ή όχι. </a:t>
            </a: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cs typeface="Segoe UI"/>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cs typeface="Segoe UI"/>
            </a:endParaRPr>
          </a:p>
        </p:txBody>
      </p:sp>
      <p:sp>
        <p:nvSpPr>
          <p:cNvPr id="46" name="Θέση περιεχομένου 17">
            <a:extLst>
              <a:ext uri="{FF2B5EF4-FFF2-40B4-BE49-F238E27FC236}">
                <a16:creationId xmlns:a16="http://schemas.microsoft.com/office/drawing/2014/main" id="{0CABEA57-7AA8-485B-9F05-DBF59718FF4B}"/>
              </a:ext>
            </a:extLst>
          </p:cNvPr>
          <p:cNvSpPr txBox="1">
            <a:spLocks/>
          </p:cNvSpPr>
          <p:nvPr/>
        </p:nvSpPr>
        <p:spPr>
          <a:xfrm>
            <a:off x="847130" y="3994925"/>
            <a:ext cx="5158129" cy="56353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p:txBody>
      </p:sp>
      <p:pic>
        <p:nvPicPr>
          <p:cNvPr id="3" name="Εικόνα 2">
            <a:extLst>
              <a:ext uri="{FF2B5EF4-FFF2-40B4-BE49-F238E27FC236}">
                <a16:creationId xmlns:a16="http://schemas.microsoft.com/office/drawing/2014/main" id="{06DBD0A2-8165-43C1-9594-F0CF98B807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1258" y="1411693"/>
            <a:ext cx="3711906" cy="248768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6" name="Εικόνα 5">
            <a:extLst>
              <a:ext uri="{FF2B5EF4-FFF2-40B4-BE49-F238E27FC236}">
                <a16:creationId xmlns:a16="http://schemas.microsoft.com/office/drawing/2014/main" id="{F054A5A8-D269-4013-8822-B6DC123FC6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66698" y="4635450"/>
            <a:ext cx="4467849" cy="173379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1" name="Θέση περιεχομένου 17">
            <a:extLst>
              <a:ext uri="{FF2B5EF4-FFF2-40B4-BE49-F238E27FC236}">
                <a16:creationId xmlns:a16="http://schemas.microsoft.com/office/drawing/2014/main" id="{F4410B6A-F3CC-481C-B565-48E91FD67D90}"/>
              </a:ext>
            </a:extLst>
          </p:cNvPr>
          <p:cNvSpPr txBox="1">
            <a:spLocks/>
          </p:cNvSpPr>
          <p:nvPr/>
        </p:nvSpPr>
        <p:spPr>
          <a:xfrm>
            <a:off x="7758971" y="3946778"/>
            <a:ext cx="3688494" cy="65908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latin typeface="Segoe UI" panose="020B0502040204020203" pitchFamily="34" charset="0"/>
                <a:cs typeface="Segoe UI" panose="020B0502040204020203" pitchFamily="34" charset="0"/>
              </a:rPr>
              <a:t>Αισθητήρας </a:t>
            </a:r>
            <a:r>
              <a:rPr lang="en-US" dirty="0">
                <a:latin typeface="Segoe UI" panose="020B0502040204020203" pitchFamily="34" charset="0"/>
                <a:cs typeface="Segoe UI" panose="020B0502040204020203" pitchFamily="34" charset="0"/>
              </a:rPr>
              <a:t>MetawearC</a:t>
            </a:r>
            <a:r>
              <a:rPr lang="el-GR" dirty="0">
                <a:latin typeface="Segoe UI" panose="020B0502040204020203" pitchFamily="34" charset="0"/>
                <a:cs typeface="Segoe UI" panose="020B0502040204020203" pitchFamily="34" charset="0"/>
              </a:rPr>
              <a:t> της εταιρείας </a:t>
            </a:r>
            <a:r>
              <a:rPr lang="en-US" dirty="0">
                <a:latin typeface="Segoe UI" panose="020B0502040204020203" pitchFamily="34" charset="0"/>
                <a:cs typeface="Segoe UI" panose="020B0502040204020203" pitchFamily="34" charset="0"/>
              </a:rPr>
              <a:t>MbientLab</a:t>
            </a:r>
            <a:r>
              <a:rPr lang="el-GR" dirty="0">
                <a:latin typeface="Segoe UI" panose="020B0502040204020203" pitchFamily="34" charset="0"/>
                <a:cs typeface="Segoe UI" panose="020B0502040204020203" pitchFamily="34" charset="0"/>
              </a:rPr>
              <a:t>.</a:t>
            </a:r>
            <a:br>
              <a:rPr lang="el-GR" dirty="0">
                <a:latin typeface="Segoe UI" panose="020B0502040204020203" pitchFamily="34" charset="0"/>
                <a:cs typeface="Segoe UI" panose="020B0502040204020203" pitchFamily="34" charset="0"/>
              </a:rPr>
            </a:br>
            <a:r>
              <a:rPr lang="en-US" dirty="0">
                <a:latin typeface="Segoe UI" panose="020B0502040204020203" pitchFamily="34" charset="0"/>
                <a:cs typeface="Segoe UI" panose="020B0502040204020203" pitchFamily="34" charset="0"/>
                <a:hlinkClick r:id="rId5"/>
              </a:rPr>
              <a:t>https://mbientlab.com/product/metawearc </a:t>
            </a:r>
            <a:endParaRPr lang="el-GR" dirty="0">
              <a:latin typeface="Segoe UI" panose="020B0502040204020203" pitchFamily="34" charset="0"/>
              <a:cs typeface="Segoe UI" panose="020B0502040204020203" pitchFamily="34" charset="0"/>
            </a:endParaRPr>
          </a:p>
        </p:txBody>
      </p:sp>
      <p:sp>
        <p:nvSpPr>
          <p:cNvPr id="62" name="Θέση περιεχομένου 17">
            <a:extLst>
              <a:ext uri="{FF2B5EF4-FFF2-40B4-BE49-F238E27FC236}">
                <a16:creationId xmlns:a16="http://schemas.microsoft.com/office/drawing/2014/main" id="{8CFA6769-5F8F-47F8-9E9D-4CBCC41B93F0}"/>
              </a:ext>
            </a:extLst>
          </p:cNvPr>
          <p:cNvSpPr txBox="1">
            <a:spLocks/>
          </p:cNvSpPr>
          <p:nvPr/>
        </p:nvSpPr>
        <p:spPr>
          <a:xfrm>
            <a:off x="7333279" y="638685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latin typeface="Segoe UI" panose="020B0502040204020203" pitchFamily="34" charset="0"/>
                <a:cs typeface="Segoe UI" panose="020B0502040204020203" pitchFamily="34" charset="0"/>
              </a:rPr>
              <a:t>Δεδομένα που εξάγονται από τον αισθητήρα σε μορφή</a:t>
            </a:r>
            <a:r>
              <a:rPr lang="en-US" dirty="0">
                <a:latin typeface="Segoe UI" panose="020B0502040204020203" pitchFamily="34" charset="0"/>
                <a:cs typeface="Segoe UI" panose="020B0502040204020203" pitchFamily="34" charset="0"/>
              </a:rPr>
              <a:t> .csv</a:t>
            </a:r>
            <a:r>
              <a:rPr lang="el-GR" dirty="0">
                <a:latin typeface="Segoe UI" panose="020B0502040204020203" pitchFamily="34" charset="0"/>
                <a:cs typeface="Segoe UI" panose="020B0502040204020203" pitchFamily="34" charset="0"/>
              </a:rPr>
              <a:t> . </a:t>
            </a:r>
          </a:p>
        </p:txBody>
      </p:sp>
    </p:spTree>
    <p:extLst>
      <p:ext uri="{BB962C8B-B14F-4D97-AF65-F5344CB8AC3E}">
        <p14:creationId xmlns:p14="http://schemas.microsoft.com/office/powerpoint/2010/main" val="11070017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E46F4-5A92-4E8E-BE0C-9212B75BC272}"/>
              </a:ext>
            </a:extLst>
          </p:cNvPr>
          <p:cNvSpPr>
            <a:spLocks noGrp="1"/>
          </p:cNvSpPr>
          <p:nvPr>
            <p:ph type="title"/>
          </p:nvPr>
        </p:nvSpPr>
        <p:spPr/>
        <p:txBody>
          <a:bodyPr/>
          <a:lstStyle/>
          <a:p>
            <a:r>
              <a:rPr lang="el-GR" dirty="0"/>
              <a:t>Αποτελέσματα</a:t>
            </a:r>
            <a:endParaRPr lang="en-US" dirty="0"/>
          </a:p>
        </p:txBody>
      </p:sp>
      <p:sp>
        <p:nvSpPr>
          <p:cNvPr id="3" name="Content Placeholder 2">
            <a:extLst>
              <a:ext uri="{FF2B5EF4-FFF2-40B4-BE49-F238E27FC236}">
                <a16:creationId xmlns:a16="http://schemas.microsoft.com/office/drawing/2014/main" id="{7D73B733-501C-43C8-AEA7-6F79D8ABBF44}"/>
              </a:ext>
            </a:extLst>
          </p:cNvPr>
          <p:cNvSpPr>
            <a:spLocks noGrp="1"/>
          </p:cNvSpPr>
          <p:nvPr>
            <p:ph sz="quarter" idx="10"/>
          </p:nvPr>
        </p:nvSpPr>
        <p:spPr>
          <a:xfrm>
            <a:off x="539495" y="1435608"/>
            <a:ext cx="11151761" cy="2548563"/>
          </a:xfrm>
        </p:spPr>
        <p:txBody>
          <a:bodyPr>
            <a:noAutofit/>
          </a:bodyPr>
          <a:lstStyle/>
          <a:p>
            <a:r>
              <a:rPr lang="el-GR" sz="1400" dirty="0"/>
              <a:t>Ως </a:t>
            </a:r>
            <a:r>
              <a:rPr lang="en-US" sz="1400" dirty="0"/>
              <a:t>training set </a:t>
            </a:r>
            <a:r>
              <a:rPr lang="el-GR" sz="1400" dirty="0"/>
              <a:t>για την συγκεκριμένη υλοποίηση, χρησιμοποιήθηκαν τα εξής δείγματα</a:t>
            </a:r>
            <a:r>
              <a:rPr lang="en-US" sz="1400" dirty="0"/>
              <a:t>:</a:t>
            </a:r>
            <a:endParaRPr lang="el-GR" sz="1400" dirty="0"/>
          </a:p>
          <a:p>
            <a:pPr marL="171450" indent="-171450">
              <a:buFont typeface="Wingdings" panose="05000000000000000000" pitchFamily="2" charset="2"/>
              <a:buChar char="Ø"/>
            </a:pPr>
            <a:r>
              <a:rPr lang="el-GR" sz="1400" dirty="0"/>
              <a:t>τρέξιμο χωρίς καμία επαφή με την μπάλα</a:t>
            </a:r>
          </a:p>
          <a:p>
            <a:pPr marL="171450" indent="-171450">
              <a:buFont typeface="Wingdings" panose="05000000000000000000" pitchFamily="2" charset="2"/>
              <a:buChar char="Ø"/>
            </a:pPr>
            <a:r>
              <a:rPr lang="el-GR" sz="1400" dirty="0"/>
              <a:t>Τρέξιμο με απλή επαφή μπάλας</a:t>
            </a:r>
          </a:p>
          <a:p>
            <a:pPr marL="171450" indent="-171450">
              <a:buFont typeface="Wingdings" panose="05000000000000000000" pitchFamily="2" charset="2"/>
              <a:buChar char="Ø"/>
            </a:pPr>
            <a:r>
              <a:rPr lang="el-GR" sz="1400" dirty="0"/>
              <a:t>Τρέξιμο με πάσες</a:t>
            </a:r>
          </a:p>
          <a:p>
            <a:pPr marL="171450" indent="-171450">
              <a:buFont typeface="Wingdings" panose="05000000000000000000" pitchFamily="2" charset="2"/>
              <a:buChar char="Ø"/>
            </a:pPr>
            <a:r>
              <a:rPr lang="el-GR" sz="1400" dirty="0"/>
              <a:t>Τρέξιμο με εκτέλεση </a:t>
            </a:r>
            <a:r>
              <a:rPr lang="en-US" sz="1400" dirty="0"/>
              <a:t>shoot</a:t>
            </a:r>
            <a:r>
              <a:rPr lang="el-GR" sz="1400" dirty="0"/>
              <a:t>.</a:t>
            </a:r>
            <a:endParaRPr lang="en-US" sz="1400" dirty="0"/>
          </a:p>
        </p:txBody>
      </p:sp>
      <p:sp>
        <p:nvSpPr>
          <p:cNvPr id="4" name="Content Placeholder 2">
            <a:extLst>
              <a:ext uri="{FF2B5EF4-FFF2-40B4-BE49-F238E27FC236}">
                <a16:creationId xmlns:a16="http://schemas.microsoft.com/office/drawing/2014/main" id="{0226E4E3-4CC9-4DB0-8972-93DF81B3BCE8}"/>
              </a:ext>
            </a:extLst>
          </p:cNvPr>
          <p:cNvSpPr txBox="1">
            <a:spLocks/>
          </p:cNvSpPr>
          <p:nvPr/>
        </p:nvSpPr>
        <p:spPr>
          <a:xfrm>
            <a:off x="539495" y="4331643"/>
            <a:ext cx="11151761" cy="1416014"/>
          </a:xfrm>
          <a:prstGeom prst="rect">
            <a:avLst/>
          </a:prstGeom>
        </p:spPr>
        <p:txBody>
          <a:bodyPr vert="horz" lIns="91440" tIns="45720" rIns="91440" bIns="45720" rtlCol="0">
            <a:normAutofit fontScale="92500" lnSpcReduction="20000"/>
          </a:bodyPr>
          <a:lstStyle>
            <a:lvl1pPr marL="0" indent="0" algn="l" defTabSz="914400" rtl="0" eaLnBrk="1" latinLnBrk="0" hangingPunct="1">
              <a:lnSpc>
                <a:spcPct val="150000"/>
              </a:lnSpc>
              <a:spcBef>
                <a:spcPts val="1000"/>
              </a:spcBef>
              <a:spcAft>
                <a:spcPts val="1200"/>
              </a:spcAft>
              <a:buFontTx/>
              <a:buNone/>
              <a:defRPr lang="en-US" sz="1200" kern="1200" smtClean="0">
                <a:solidFill>
                  <a:schemeClr val="tx1">
                    <a:lumMod val="75000"/>
                    <a:lumOff val="25000"/>
                  </a:schemeClr>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l-GR" sz="1400" dirty="0"/>
              <a:t>Μετά από τον καθορισμό κατωφλιού, για τον καθαρισμό τον δεδομένων υπήρξε η δυνατότητα στο να εντοπισθούν ετικέτες για κάθε ένα «σημείο» που υπήρχε στα δεδομένα. </a:t>
            </a:r>
          </a:p>
          <a:p>
            <a:r>
              <a:rPr lang="el-GR" sz="1400" dirty="0"/>
              <a:t>Ως </a:t>
            </a:r>
            <a:r>
              <a:rPr lang="en-US" sz="1400" dirty="0"/>
              <a:t>testing set</a:t>
            </a:r>
            <a:r>
              <a:rPr lang="el-GR" sz="1400" dirty="0"/>
              <a:t> για την συγκεκριμένη υλοποίηση, χρησιμοποιήθηκε ένα αρχείο, κατά το οποίο ο παίκτης είχε 10 ακριβώς επαφές με την μπάλα. Τα αποτελέσματα του αλγορίθμου, εντόπισαν τις 9!</a:t>
            </a:r>
            <a:r>
              <a:rPr lang="en-US" sz="1400" dirty="0"/>
              <a:t> </a:t>
            </a:r>
            <a:r>
              <a:rPr lang="el-GR" sz="1400" dirty="0"/>
              <a:t>Με 90% επιτυχία λοιπόν, ολοκληρώθηκε αυτή η εφαρμογή.</a:t>
            </a:r>
          </a:p>
        </p:txBody>
      </p:sp>
    </p:spTree>
    <p:extLst>
      <p:ext uri="{BB962C8B-B14F-4D97-AF65-F5344CB8AC3E}">
        <p14:creationId xmlns:p14="http://schemas.microsoft.com/office/powerpoint/2010/main" val="39984303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DE529BB-E959-481D-A69B-B17EE44D6E24}"/>
              </a:ext>
            </a:extLst>
          </p:cNvPr>
          <p:cNvSpPr txBox="1">
            <a:spLocks/>
          </p:cNvSpPr>
          <p:nvPr/>
        </p:nvSpPr>
        <p:spPr>
          <a:xfrm>
            <a:off x="571437" y="415305"/>
            <a:ext cx="10068135" cy="727601"/>
          </a:xfrm>
          <a:prstGeom prst="rect">
            <a:avLst/>
          </a:prstGeom>
        </p:spPr>
        <p:txBody>
          <a:bodyPr vert="horz" lIns="91440" tIns="45720" rIns="91440" bIns="45720" rtlCol="0" anchor="b" anchorCtr="0">
            <a:normAutofit fontScale="90000" lnSpcReduction="20000"/>
          </a:bodyPr>
          <a:lstStyle>
            <a:lvl1pPr algn="l" defTabSz="914400" rtl="0" eaLnBrk="1" latinLnBrk="0" hangingPunct="1">
              <a:spcBef>
                <a:spcPct val="0"/>
              </a:spcBef>
              <a:buNone/>
              <a:defRPr sz="2800" kern="1200">
                <a:solidFill>
                  <a:schemeClr val="bg2">
                    <a:lumMod val="25000"/>
                  </a:schemeClr>
                </a:solidFill>
                <a:latin typeface="+mj-lt"/>
                <a:ea typeface="+mj-ea"/>
                <a:cs typeface="+mj-cs"/>
              </a:defRPr>
            </a:lvl1pPr>
          </a:lstStyle>
          <a:p>
            <a:r>
              <a:rPr lang="el-GR" dirty="0"/>
              <a:t>Πρόβλεψη ποδοσφαιρικού αποτελέσματος με τη χρήση Μηχανικής Μάθησης</a:t>
            </a:r>
            <a:r>
              <a:rPr lang="en-US" dirty="0"/>
              <a:t> (1)</a:t>
            </a:r>
          </a:p>
        </p:txBody>
      </p:sp>
      <p:sp>
        <p:nvSpPr>
          <p:cNvPr id="5" name="Content Placeholder 2">
            <a:extLst>
              <a:ext uri="{FF2B5EF4-FFF2-40B4-BE49-F238E27FC236}">
                <a16:creationId xmlns:a16="http://schemas.microsoft.com/office/drawing/2014/main" id="{67D8DA50-1A10-4B7A-8B06-468C5CC3B10B}"/>
              </a:ext>
            </a:extLst>
          </p:cNvPr>
          <p:cNvSpPr txBox="1">
            <a:spLocks/>
          </p:cNvSpPr>
          <p:nvPr/>
        </p:nvSpPr>
        <p:spPr>
          <a:xfrm>
            <a:off x="603006" y="1407430"/>
            <a:ext cx="11086447" cy="3977640"/>
          </a:xfrm>
          <a:prstGeom prst="rect">
            <a:avLst/>
          </a:prstGeom>
        </p:spPr>
        <p:txBody>
          <a:bodyPr vert="horz" lIns="91440" tIns="45720" rIns="91440" bIns="45720" rtlCol="0">
            <a:normAutofit fontScale="92500" lnSpcReduction="20000"/>
          </a:bodyPr>
          <a:lstStyle>
            <a:lvl1pPr marL="0" indent="0" algn="l" defTabSz="914400" rtl="0" eaLnBrk="1" latinLnBrk="0" hangingPunct="1">
              <a:lnSpc>
                <a:spcPct val="150000"/>
              </a:lnSpc>
              <a:spcBef>
                <a:spcPts val="1000"/>
              </a:spcBef>
              <a:spcAft>
                <a:spcPts val="1200"/>
              </a:spcAft>
              <a:buFontTx/>
              <a:buNone/>
              <a:defRPr lang="en-US" sz="1200" kern="1200" smtClean="0">
                <a:solidFill>
                  <a:schemeClr val="tx1">
                    <a:lumMod val="75000"/>
                    <a:lumOff val="25000"/>
                  </a:schemeClr>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pPr marL="171450" indent="-171450">
              <a:lnSpc>
                <a:spcPct val="110000"/>
              </a:lnSpc>
              <a:buFont typeface="Wingdings" panose="05000000000000000000" pitchFamily="2" charset="2"/>
              <a:buChar char="Ø"/>
            </a:pPr>
            <a:r>
              <a:rPr lang="el-GR" sz="1400" dirty="0"/>
              <a:t>Στη συγκεκριμένη εφαρμογή εκτελέστηκαν διάφορες τεχνικές </a:t>
            </a:r>
            <a:r>
              <a:rPr lang="el-GR" sz="1400" dirty="0" err="1"/>
              <a:t>Machine</a:t>
            </a:r>
            <a:r>
              <a:rPr lang="el-GR" sz="1400" dirty="0"/>
              <a:t> </a:t>
            </a:r>
            <a:r>
              <a:rPr lang="el-GR" sz="1400" dirty="0" err="1"/>
              <a:t>Learning</a:t>
            </a:r>
            <a:r>
              <a:rPr lang="el-GR" sz="1400" dirty="0"/>
              <a:t> για την πρόβλεψη αποτελεσμάτων σε ποδοσφαιρικούς αγώνες τη αγγλικής ομάδας Τότεναμ, χρησιμοποιώντας δεδομένα για την περίοδο 1995-1997.</a:t>
            </a:r>
          </a:p>
          <a:p>
            <a:pPr marL="171450" indent="-171450">
              <a:lnSpc>
                <a:spcPct val="110000"/>
              </a:lnSpc>
              <a:buFont typeface="Wingdings" panose="05000000000000000000" pitchFamily="2" charset="2"/>
              <a:buChar char="Ø"/>
            </a:pPr>
            <a:r>
              <a:rPr lang="el-GR" sz="1400" dirty="0"/>
              <a:t>Οι τεχνικές που χρησιμοποιήθηκαν είναι οι εξής:</a:t>
            </a:r>
          </a:p>
          <a:p>
            <a:pPr marL="514350" lvl="1" indent="-285750">
              <a:lnSpc>
                <a:spcPct val="110000"/>
              </a:lnSpc>
            </a:pPr>
            <a:r>
              <a:rPr lang="el-GR" sz="1400" dirty="0" err="1"/>
              <a:t>Expert</a:t>
            </a:r>
            <a:r>
              <a:rPr lang="el-GR" sz="1400" dirty="0"/>
              <a:t> </a:t>
            </a:r>
            <a:r>
              <a:rPr lang="el-GR" sz="1400" dirty="0" err="1"/>
              <a:t>Bayes</a:t>
            </a:r>
            <a:r>
              <a:rPr lang="el-GR" sz="1400" dirty="0"/>
              <a:t> </a:t>
            </a:r>
            <a:r>
              <a:rPr lang="el-GR" sz="1400" dirty="0" err="1"/>
              <a:t>Network</a:t>
            </a:r>
            <a:r>
              <a:rPr lang="el-GR" sz="1400" dirty="0"/>
              <a:t> (BN) (κατασκευή ΒΝ από κοινού από το ΒΝ </a:t>
            </a:r>
            <a:r>
              <a:rPr lang="el-GR" sz="1400" dirty="0" err="1"/>
              <a:t>expert</a:t>
            </a:r>
            <a:r>
              <a:rPr lang="el-GR" sz="1400" dirty="0"/>
              <a:t> και από το </a:t>
            </a:r>
            <a:r>
              <a:rPr lang="el-GR" sz="1400" dirty="0" err="1"/>
              <a:t>expert</a:t>
            </a:r>
            <a:r>
              <a:rPr lang="el-GR" sz="1400" dirty="0"/>
              <a:t> </a:t>
            </a:r>
            <a:r>
              <a:rPr lang="el-GR" sz="1400" dirty="0" err="1"/>
              <a:t>domain</a:t>
            </a:r>
            <a:r>
              <a:rPr lang="el-GR" sz="1400" dirty="0"/>
              <a:t>)</a:t>
            </a:r>
          </a:p>
          <a:p>
            <a:pPr marL="514350" lvl="1" indent="-285750">
              <a:lnSpc>
                <a:spcPct val="110000"/>
              </a:lnSpc>
            </a:pPr>
            <a:r>
              <a:rPr lang="el-GR" sz="1400" dirty="0"/>
              <a:t>MC4 </a:t>
            </a:r>
            <a:r>
              <a:rPr lang="el-GR" sz="1400" dirty="0" err="1"/>
              <a:t>Decision</a:t>
            </a:r>
            <a:r>
              <a:rPr lang="el-GR" sz="1400" dirty="0"/>
              <a:t> </a:t>
            </a:r>
            <a:r>
              <a:rPr lang="el-GR" sz="1400" dirty="0" err="1"/>
              <a:t>Tree</a:t>
            </a:r>
            <a:r>
              <a:rPr lang="el-GR" sz="1400" dirty="0"/>
              <a:t> (οπτική απεικόνιση των αλληλεπιδράσεων που επηρεάζουν το μοντέλο)</a:t>
            </a:r>
          </a:p>
          <a:p>
            <a:pPr marL="514350" lvl="1" indent="-285750">
              <a:lnSpc>
                <a:spcPct val="110000"/>
              </a:lnSpc>
            </a:pPr>
            <a:r>
              <a:rPr lang="el-GR" sz="1400" dirty="0" err="1"/>
              <a:t>Naive</a:t>
            </a:r>
            <a:r>
              <a:rPr lang="el-GR" sz="1400" dirty="0"/>
              <a:t> </a:t>
            </a:r>
            <a:r>
              <a:rPr lang="el-GR" sz="1400" dirty="0" err="1"/>
              <a:t>Bayes</a:t>
            </a:r>
            <a:r>
              <a:rPr lang="el-GR" sz="1400" dirty="0"/>
              <a:t> (θεωρεί πως όλα τα </a:t>
            </a:r>
            <a:r>
              <a:rPr lang="el-GR" sz="1400" dirty="0" err="1"/>
              <a:t>attributes</a:t>
            </a:r>
            <a:r>
              <a:rPr lang="el-GR" sz="1400" dirty="0"/>
              <a:t> είναι ανεξάρτητα μεταξύ τους)</a:t>
            </a:r>
          </a:p>
          <a:p>
            <a:pPr marL="514350" lvl="1" indent="-285750">
              <a:lnSpc>
                <a:spcPct val="110000"/>
              </a:lnSpc>
            </a:pPr>
            <a:r>
              <a:rPr lang="el-GR" sz="1400" dirty="0" err="1"/>
              <a:t>Data</a:t>
            </a:r>
            <a:r>
              <a:rPr lang="el-GR" sz="1400" dirty="0"/>
              <a:t> </a:t>
            </a:r>
            <a:r>
              <a:rPr lang="el-GR" sz="1400" dirty="0" err="1"/>
              <a:t>Driven</a:t>
            </a:r>
            <a:r>
              <a:rPr lang="el-GR" sz="1400" dirty="0"/>
              <a:t> </a:t>
            </a:r>
            <a:r>
              <a:rPr lang="el-GR" sz="1400" dirty="0" err="1"/>
              <a:t>Bayes</a:t>
            </a:r>
            <a:r>
              <a:rPr lang="el-GR" sz="1400" dirty="0"/>
              <a:t>  (προβλέπει βάσει των αλληλοσυσχετίσεων μεταξύ των </a:t>
            </a:r>
            <a:r>
              <a:rPr lang="el-GR" sz="1400" dirty="0" err="1"/>
              <a:t>attributes</a:t>
            </a:r>
            <a:r>
              <a:rPr lang="el-GR" sz="1400" dirty="0"/>
              <a:t>)</a:t>
            </a:r>
          </a:p>
          <a:p>
            <a:pPr marL="514350" lvl="1" indent="-285750">
              <a:lnSpc>
                <a:spcPct val="110000"/>
              </a:lnSpc>
            </a:pPr>
            <a:r>
              <a:rPr lang="el-GR" sz="1400" dirty="0"/>
              <a:t>K-</a:t>
            </a:r>
            <a:r>
              <a:rPr lang="el-GR" sz="1400" dirty="0" err="1"/>
              <a:t>nearest</a:t>
            </a:r>
            <a:r>
              <a:rPr lang="el-GR" sz="1400" dirty="0"/>
              <a:t> </a:t>
            </a:r>
            <a:r>
              <a:rPr lang="el-GR" sz="1400" dirty="0" err="1"/>
              <a:t>Neighbors</a:t>
            </a:r>
            <a:r>
              <a:rPr lang="el-GR" sz="1400" dirty="0"/>
              <a:t> (χρησιμοποιεί προσέγγιση ομοιότητας για πρόβλεψη)</a:t>
            </a:r>
          </a:p>
          <a:p>
            <a:pPr marL="171450" indent="-171450">
              <a:lnSpc>
                <a:spcPct val="110000"/>
              </a:lnSpc>
              <a:buFont typeface="Wingdings" panose="05000000000000000000" pitchFamily="2" charset="2"/>
              <a:buChar char="Ø"/>
            </a:pPr>
            <a:r>
              <a:rPr lang="el-GR" sz="1400" dirty="0"/>
              <a:t>Τα αποτελέσματα που εξήχθησαν από τον κάθε αλγόριθμο τέθηκαν σε σύγκριση, ώστε να εντοπιστούν οι διαφοροποιήσεις όσον αφορά την απόδοση μεταξύ του </a:t>
            </a:r>
            <a:r>
              <a:rPr lang="el-GR" sz="1400" dirty="0" err="1"/>
              <a:t>expert</a:t>
            </a:r>
            <a:r>
              <a:rPr lang="el-GR" sz="1400" dirty="0"/>
              <a:t> ΒΝ και των υπολοίπων 4 αλγορίθμων </a:t>
            </a:r>
          </a:p>
        </p:txBody>
      </p:sp>
    </p:spTree>
    <p:extLst>
      <p:ext uri="{BB962C8B-B14F-4D97-AF65-F5344CB8AC3E}">
        <p14:creationId xmlns:p14="http://schemas.microsoft.com/office/powerpoint/2010/main" val="31485915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normAutofit fontScale="90000"/>
          </a:bodyPr>
          <a:lstStyle/>
          <a:p>
            <a:r>
              <a:rPr lang="el-GR" dirty="0"/>
              <a:t>Πρόβλεψη ποδοσφαιρικού αποτελέσματος με τη χρήση Μηχανικής Μάθησης –Γενικά χαρακτηριστικά της εφαρμογής</a:t>
            </a:r>
            <a:endParaRPr lang="el-GR" dirty="0">
              <a:latin typeface="Segoe UI Light" panose="020B0502040204020203" pitchFamily="34" charset="0"/>
              <a:cs typeface="Segoe UI Light" panose="020B0502040204020203" pitchFamily="34" charset="0"/>
            </a:endParaRPr>
          </a:p>
        </p:txBody>
      </p:sp>
      <p:sp>
        <p:nvSpPr>
          <p:cNvPr id="5" name="Θέση περιεχομένου 4"/>
          <p:cNvSpPr>
            <a:spLocks noGrp="1"/>
          </p:cNvSpPr>
          <p:nvPr>
            <p:ph sz="half" idx="4294967295"/>
          </p:nvPr>
        </p:nvSpPr>
        <p:spPr>
          <a:xfrm>
            <a:off x="541610" y="1431010"/>
            <a:ext cx="11102994" cy="4790886"/>
          </a:xfrm>
        </p:spPr>
        <p:txBody>
          <a:bodyPr vert="horz" lIns="91440" tIns="45720" rIns="91440" bIns="45720" rtlCol="0">
            <a:normAutofit/>
          </a:bodyPr>
          <a:lstStyle/>
          <a:p>
            <a:pPr marL="171450" indent="-171450">
              <a:lnSpc>
                <a:spcPct val="100000"/>
              </a:lnSpc>
              <a:buFont typeface="Wingdings" panose="05000000000000000000" pitchFamily="2" charset="2"/>
              <a:buChar char="Ø"/>
            </a:pPr>
            <a:r>
              <a:rPr lang="el-GR" dirty="0"/>
              <a:t>Χρησιμοποιήθηκαν 2 είδη μοντέλων: α) Το γενικό και β) το εξειδικευμένο μοντέλο</a:t>
            </a:r>
          </a:p>
          <a:p>
            <a:pPr marL="171450" indent="-171450">
              <a:lnSpc>
                <a:spcPct val="100000"/>
              </a:lnSpc>
              <a:buFont typeface="Wingdings" panose="05000000000000000000" pitchFamily="2" charset="2"/>
              <a:buChar char="Ø"/>
            </a:pPr>
            <a:r>
              <a:rPr lang="el-GR" dirty="0"/>
              <a:t>Τα </a:t>
            </a:r>
            <a:r>
              <a:rPr lang="en-US" dirty="0"/>
              <a:t>attributes </a:t>
            </a:r>
            <a:r>
              <a:rPr lang="el-GR" dirty="0"/>
              <a:t>που χρησιμοποιήθηκαν</a:t>
            </a:r>
            <a:r>
              <a:rPr lang="en-US" dirty="0"/>
              <a:t> </a:t>
            </a:r>
            <a:r>
              <a:rPr lang="el-GR" dirty="0"/>
              <a:t>για την υλοποίηση του εξειδικευμένου μοντέλου είναι τα εξής; α) η παρουσία ή μη 3 συγκεκριμένων ποδοσφαιριστών στο αρχικό σχήμα, β) η θέση που είχε ένας συγκεκριμένος ποδοσφαιριστής στον αγωνιστικό χώρο, γ) η ποιότητα της αντίπαλης ομάδας και δ) αν η Τότεναμ αγωνιζόταν εντός ή εκτός έδρας</a:t>
            </a:r>
          </a:p>
          <a:p>
            <a:pPr marL="171450" indent="-171450">
              <a:lnSpc>
                <a:spcPct val="100000"/>
              </a:lnSpc>
              <a:buFont typeface="Wingdings" panose="05000000000000000000" pitchFamily="2" charset="2"/>
              <a:buChar char="Ø"/>
            </a:pPr>
            <a:r>
              <a:rPr lang="el-GR" dirty="0"/>
              <a:t>Για το γενικό μοντέλο χρησιμοποιήθηκαν τα </a:t>
            </a:r>
            <a:r>
              <a:rPr lang="en-US" dirty="0"/>
              <a:t>features </a:t>
            </a:r>
            <a:r>
              <a:rPr lang="el-GR" dirty="0"/>
              <a:t>του εξειδικευμένου μοντέλου συν μια ποικιλία από τα διάφορα άλλα χαρακτηριστικά</a:t>
            </a:r>
          </a:p>
          <a:p>
            <a:pPr marL="171450" indent="-171450">
              <a:lnSpc>
                <a:spcPct val="100000"/>
              </a:lnSpc>
              <a:buFont typeface="Wingdings" panose="05000000000000000000" pitchFamily="2" charset="2"/>
              <a:buChar char="Ø"/>
            </a:pPr>
            <a:r>
              <a:rPr lang="el-GR" dirty="0"/>
              <a:t>Οι αλγόριθμοι που χρησιμοποιήθηκαν δεν παρέχουν το ίδιο είδος πρόβλεψης</a:t>
            </a:r>
            <a:endParaRPr lang="en-US" dirty="0"/>
          </a:p>
          <a:p>
            <a:pPr marL="171450" indent="-171450">
              <a:lnSpc>
                <a:spcPct val="100000"/>
              </a:lnSpc>
              <a:buFont typeface="Wingdings" panose="05000000000000000000" pitchFamily="2" charset="2"/>
              <a:buChar char="Ø"/>
            </a:pPr>
            <a:r>
              <a:rPr lang="el-GR" dirty="0"/>
              <a:t>Τα </a:t>
            </a:r>
            <a:r>
              <a:rPr lang="en-US" dirty="0"/>
              <a:t>data </a:t>
            </a:r>
            <a:r>
              <a:rPr lang="el-GR" dirty="0"/>
              <a:t>χωρίστηκαν σε υποσύνολα, ώστε κάποια από αυτά να χρησιμοποιηθούν για </a:t>
            </a:r>
            <a:r>
              <a:rPr lang="en-US" dirty="0"/>
              <a:t>training </a:t>
            </a:r>
            <a:r>
              <a:rPr lang="el-GR" dirty="0"/>
              <a:t>του μοντέλου και κάποια για να </a:t>
            </a:r>
            <a:r>
              <a:rPr lang="en-US" dirty="0"/>
              <a:t>test </a:t>
            </a:r>
            <a:r>
              <a:rPr lang="el-GR" dirty="0"/>
              <a:t>της απόδοσής του</a:t>
            </a:r>
          </a:p>
          <a:p>
            <a:pPr marL="171450" indent="-171450">
              <a:lnSpc>
                <a:spcPct val="100000"/>
              </a:lnSpc>
              <a:buFont typeface="Wingdings" panose="05000000000000000000" pitchFamily="2" charset="2"/>
              <a:buChar char="Ø"/>
            </a:pPr>
            <a:r>
              <a:rPr lang="el-GR" dirty="0"/>
              <a:t>Παρακάτω θα γίνει αναφορά για τα αποτελέσματα που προέκυψαν από τον κάθε αλγόριθμο και για τις διαφορές της απόδοσης των αλγορίθμων</a:t>
            </a:r>
            <a:endParaRPr lang="en-US" dirty="0"/>
          </a:p>
          <a:p>
            <a:pPr marL="171450" indent="-171450">
              <a:lnSpc>
                <a:spcPct val="100000"/>
              </a:lnSpc>
              <a:buFont typeface="Wingdings" panose="05000000000000000000" pitchFamily="2" charset="2"/>
              <a:buChar char="Ø"/>
            </a:pPr>
            <a:endParaRPr lang="el-GR" dirty="0"/>
          </a:p>
          <a:p>
            <a:pPr marL="171450" indent="-171450">
              <a:lnSpc>
                <a:spcPct val="100000"/>
              </a:lnSpc>
              <a:buFont typeface="Wingdings" panose="05000000000000000000" pitchFamily="2" charset="2"/>
              <a:buChar char="Ø"/>
            </a:pPr>
            <a:endParaRPr lang="el-GR" dirty="0"/>
          </a:p>
          <a:p>
            <a:pPr marL="171450" indent="-171450">
              <a:lnSpc>
                <a:spcPct val="100000"/>
              </a:lnSpc>
              <a:buFont typeface="Wingdings" panose="05000000000000000000" pitchFamily="2" charset="2"/>
              <a:buChar char="Ø"/>
            </a:pPr>
            <a:endParaRPr lang="en-US" dirty="0"/>
          </a:p>
          <a:p>
            <a:pPr marL="0" indent="0" rtl="0">
              <a:lnSpc>
                <a:spcPts val="1800"/>
              </a:lnSpc>
              <a:spcBef>
                <a:spcPts val="1000"/>
              </a:spcBef>
              <a:spcAft>
                <a:spcPts val="600"/>
              </a:spcAft>
              <a:buNone/>
            </a:pPr>
            <a:endParaRPr lang="el-GR" sz="1200"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580368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normAutofit fontScale="90000"/>
          </a:bodyPr>
          <a:lstStyle/>
          <a:p>
            <a:r>
              <a:rPr lang="el-GR" dirty="0"/>
              <a:t>Πρόβλεψη ποδοσφαιρικού αποτελέσματος με τη χρήση Μηχανικής Μάθησης</a:t>
            </a:r>
            <a:r>
              <a:rPr lang="en-US" dirty="0"/>
              <a:t> – </a:t>
            </a:r>
            <a:r>
              <a:rPr lang="el-GR" dirty="0"/>
              <a:t>Ανάλυση αποτελεσμάτων</a:t>
            </a:r>
            <a:endParaRPr lang="el-GR" dirty="0">
              <a:latin typeface="Segoe UI Light" panose="020B0502040204020203" pitchFamily="34" charset="0"/>
              <a:cs typeface="Segoe UI Light" panose="020B0502040204020203" pitchFamily="34" charset="0"/>
            </a:endParaRPr>
          </a:p>
        </p:txBody>
      </p:sp>
      <p:sp>
        <p:nvSpPr>
          <p:cNvPr id="16" name="Θέση περιεχομένου 17"/>
          <p:cNvSpPr txBox="1">
            <a:spLocks/>
          </p:cNvSpPr>
          <p:nvPr/>
        </p:nvSpPr>
        <p:spPr>
          <a:xfrm>
            <a:off x="1066037" y="1958189"/>
            <a:ext cx="3296574" cy="838453"/>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endParaRPr lang="el-GR" dirty="0">
              <a:solidFill>
                <a:prstClr val="black">
                  <a:lumMod val="75000"/>
                  <a:lumOff val="25000"/>
                </a:prstClr>
              </a:solidFill>
              <a:latin typeface="Segoe UI" panose="020B0502040204020203" pitchFamily="34" charset="0"/>
              <a:cs typeface="Segoe UI" panose="020B0502040204020203" pitchFamily="34" charset="0"/>
            </a:endParaRPr>
          </a:p>
        </p:txBody>
      </p:sp>
      <p:sp>
        <p:nvSpPr>
          <p:cNvPr id="25" name="Θέση περιεχομένου 17"/>
          <p:cNvSpPr txBox="1">
            <a:spLocks/>
          </p:cNvSpPr>
          <p:nvPr/>
        </p:nvSpPr>
        <p:spPr>
          <a:xfrm>
            <a:off x="1066038" y="2818942"/>
            <a:ext cx="2651153" cy="151708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endParaRPr lang="el-GR" dirty="0">
              <a:solidFill>
                <a:prstClr val="black">
                  <a:lumMod val="75000"/>
                  <a:lumOff val="25000"/>
                </a:prstClr>
              </a:solidFill>
              <a:latin typeface="Segoe UI" panose="020B0502040204020203" pitchFamily="34" charset="0"/>
              <a:cs typeface="Segoe UI" panose="020B0502040204020203" pitchFamily="34" charset="0"/>
            </a:endParaRPr>
          </a:p>
        </p:txBody>
      </p:sp>
      <p:sp>
        <p:nvSpPr>
          <p:cNvPr id="31" name="TextBox 30">
            <a:extLst>
              <a:ext uri="{FF2B5EF4-FFF2-40B4-BE49-F238E27FC236}">
                <a16:creationId xmlns:a16="http://schemas.microsoft.com/office/drawing/2014/main" id="{3547E4BD-A735-4017-B20C-1814A072D925}"/>
              </a:ext>
            </a:extLst>
          </p:cNvPr>
          <p:cNvSpPr txBox="1"/>
          <p:nvPr/>
        </p:nvSpPr>
        <p:spPr>
          <a:xfrm>
            <a:off x="552776" y="1440180"/>
            <a:ext cx="8689698" cy="369332"/>
          </a:xfrm>
          <a:prstGeom prst="rect">
            <a:avLst/>
          </a:prstGeom>
          <a:noFill/>
        </p:spPr>
        <p:txBody>
          <a:bodyPr wrap="square" rtlCol="0">
            <a:spAutoFit/>
          </a:bodyPr>
          <a:lstStyle/>
          <a:p>
            <a:r>
              <a:rPr lang="en-US" b="1" dirty="0"/>
              <a:t>Classification Error</a:t>
            </a:r>
          </a:p>
        </p:txBody>
      </p:sp>
      <p:graphicFrame>
        <p:nvGraphicFramePr>
          <p:cNvPr id="33" name="Table 32">
            <a:extLst>
              <a:ext uri="{FF2B5EF4-FFF2-40B4-BE49-F238E27FC236}">
                <a16:creationId xmlns:a16="http://schemas.microsoft.com/office/drawing/2014/main" id="{333501A9-5990-4916-ABC6-25AC6F8ED989}"/>
              </a:ext>
            </a:extLst>
          </p:cNvPr>
          <p:cNvGraphicFramePr>
            <a:graphicFrameLocks noGrp="1"/>
          </p:cNvGraphicFramePr>
          <p:nvPr>
            <p:extLst>
              <p:ext uri="{D42A27DB-BD31-4B8C-83A1-F6EECF244321}">
                <p14:modId xmlns:p14="http://schemas.microsoft.com/office/powerpoint/2010/main" val="532331443"/>
              </p:ext>
            </p:extLst>
          </p:nvPr>
        </p:nvGraphicFramePr>
        <p:xfrm>
          <a:off x="552776" y="1919627"/>
          <a:ext cx="8127999" cy="221996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3562101596"/>
                    </a:ext>
                  </a:extLst>
                </a:gridCol>
                <a:gridCol w="2709333">
                  <a:extLst>
                    <a:ext uri="{9D8B030D-6E8A-4147-A177-3AD203B41FA5}">
                      <a16:colId xmlns:a16="http://schemas.microsoft.com/office/drawing/2014/main" val="501636549"/>
                    </a:ext>
                  </a:extLst>
                </a:gridCol>
                <a:gridCol w="2709333">
                  <a:extLst>
                    <a:ext uri="{9D8B030D-6E8A-4147-A177-3AD203B41FA5}">
                      <a16:colId xmlns:a16="http://schemas.microsoft.com/office/drawing/2014/main" val="2130228269"/>
                    </a:ext>
                  </a:extLst>
                </a:gridCol>
              </a:tblGrid>
              <a:tr h="370840">
                <a:tc>
                  <a:txBody>
                    <a:bodyPr/>
                    <a:lstStyle/>
                    <a:p>
                      <a:endParaRPr lang="en-US" dirty="0"/>
                    </a:p>
                  </a:txBody>
                  <a:tcPr/>
                </a:tc>
                <a:tc>
                  <a:txBody>
                    <a:bodyPr/>
                    <a:lstStyle/>
                    <a:p>
                      <a:r>
                        <a:rPr lang="en-US" dirty="0"/>
                        <a:t>Expert model</a:t>
                      </a:r>
                    </a:p>
                  </a:txBody>
                  <a:tcPr/>
                </a:tc>
                <a:tc>
                  <a:txBody>
                    <a:bodyPr/>
                    <a:lstStyle/>
                    <a:p>
                      <a:r>
                        <a:rPr lang="en-US" dirty="0"/>
                        <a:t>General model</a:t>
                      </a:r>
                    </a:p>
                  </a:txBody>
                  <a:tcPr/>
                </a:tc>
                <a:extLst>
                  <a:ext uri="{0D108BD9-81ED-4DB2-BD59-A6C34878D82A}">
                    <a16:rowId xmlns:a16="http://schemas.microsoft.com/office/drawing/2014/main" val="425596196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MC4 Decision Tree</a:t>
                      </a:r>
                      <a:endParaRPr lang="el-GR" sz="1800" dirty="0"/>
                    </a:p>
                  </a:txBody>
                  <a:tcPr/>
                </a:tc>
                <a:tc>
                  <a:txBody>
                    <a:bodyPr/>
                    <a:lstStyle/>
                    <a:p>
                      <a:r>
                        <a:rPr lang="en-US" dirty="0"/>
                        <a:t>61.35%</a:t>
                      </a:r>
                    </a:p>
                  </a:txBody>
                  <a:tcPr/>
                </a:tc>
                <a:tc>
                  <a:txBody>
                    <a:bodyPr/>
                    <a:lstStyle/>
                    <a:p>
                      <a:r>
                        <a:rPr lang="en-US" dirty="0"/>
                        <a:t>69.81%</a:t>
                      </a:r>
                    </a:p>
                  </a:txBody>
                  <a:tcPr/>
                </a:tc>
                <a:extLst>
                  <a:ext uri="{0D108BD9-81ED-4DB2-BD59-A6C34878D82A}">
                    <a16:rowId xmlns:a16="http://schemas.microsoft.com/office/drawing/2014/main" val="1918236380"/>
                  </a:ext>
                </a:extLst>
              </a:tr>
              <a:tr h="370840">
                <a:tc>
                  <a:txBody>
                    <a:bodyPr/>
                    <a:lstStyle/>
                    <a:p>
                      <a:r>
                        <a:rPr lang="en-US" dirty="0"/>
                        <a:t>Naive BN</a:t>
                      </a:r>
                    </a:p>
                  </a:txBody>
                  <a:tcPr/>
                </a:tc>
                <a:tc>
                  <a:txBody>
                    <a:bodyPr/>
                    <a:lstStyle/>
                    <a:p>
                      <a:r>
                        <a:rPr lang="en-US" dirty="0"/>
                        <a:t>64.26%</a:t>
                      </a:r>
                    </a:p>
                  </a:txBody>
                  <a:tcPr/>
                </a:tc>
                <a:tc>
                  <a:txBody>
                    <a:bodyPr/>
                    <a:lstStyle/>
                    <a:p>
                      <a:r>
                        <a:rPr lang="en-US" dirty="0"/>
                        <a:t>61.19%</a:t>
                      </a:r>
                    </a:p>
                  </a:txBody>
                  <a:tcPr/>
                </a:tc>
                <a:extLst>
                  <a:ext uri="{0D108BD9-81ED-4DB2-BD59-A6C34878D82A}">
                    <a16:rowId xmlns:a16="http://schemas.microsoft.com/office/drawing/2014/main" val="3280796591"/>
                  </a:ext>
                </a:extLst>
              </a:tr>
              <a:tr h="370840">
                <a:tc>
                  <a:txBody>
                    <a:bodyPr/>
                    <a:lstStyle/>
                    <a:p>
                      <a:r>
                        <a:rPr lang="en-US" sz="1800" dirty="0"/>
                        <a:t>Data Driven Bayes</a:t>
                      </a:r>
                      <a:endParaRPr lang="en-US" dirty="0"/>
                    </a:p>
                  </a:txBody>
                  <a:tcPr/>
                </a:tc>
                <a:tc>
                  <a:txBody>
                    <a:bodyPr/>
                    <a:lstStyle/>
                    <a:p>
                      <a:r>
                        <a:rPr lang="en-US" sz="1800" b="0" i="0" u="none" strike="noStrike" kern="1200" baseline="0" dirty="0">
                          <a:solidFill>
                            <a:schemeClr val="dk1"/>
                          </a:solidFill>
                          <a:latin typeface="+mn-lt"/>
                          <a:ea typeface="+mn-ea"/>
                          <a:cs typeface="+mn-cs"/>
                        </a:rPr>
                        <a:t>67.38%</a:t>
                      </a:r>
                      <a:endParaRPr lang="en-US" dirty="0"/>
                    </a:p>
                  </a:txBody>
                  <a:tcPr/>
                </a:tc>
                <a:tc>
                  <a:txBody>
                    <a:bodyPr/>
                    <a:lstStyle/>
                    <a:p>
                      <a:r>
                        <a:rPr lang="en-US" sz="1800" b="0" i="0" u="none" strike="noStrike" kern="1200" baseline="0" dirty="0">
                          <a:solidFill>
                            <a:schemeClr val="dk1"/>
                          </a:solidFill>
                          <a:latin typeface="+mn-lt"/>
                          <a:ea typeface="+mn-ea"/>
                          <a:cs typeface="+mn-cs"/>
                        </a:rPr>
                        <a:t>67.69%</a:t>
                      </a:r>
                      <a:endParaRPr lang="en-US" dirty="0"/>
                    </a:p>
                  </a:txBody>
                  <a:tcPr/>
                </a:tc>
                <a:extLst>
                  <a:ext uri="{0D108BD9-81ED-4DB2-BD59-A6C34878D82A}">
                    <a16:rowId xmlns:a16="http://schemas.microsoft.com/office/drawing/2014/main" val="1532159026"/>
                  </a:ext>
                </a:extLst>
              </a:tr>
              <a:tr h="370840">
                <a:tc>
                  <a:txBody>
                    <a:bodyPr/>
                    <a:lstStyle/>
                    <a:p>
                      <a:r>
                        <a:rPr lang="en-US" dirty="0"/>
                        <a:t>KNN</a:t>
                      </a:r>
                    </a:p>
                  </a:txBody>
                  <a:tcPr/>
                </a:tc>
                <a:tc>
                  <a:txBody>
                    <a:bodyPr/>
                    <a:lstStyle/>
                    <a:p>
                      <a:r>
                        <a:rPr lang="en-US" sz="1800" b="0" i="0" u="none" strike="noStrike" kern="1200" baseline="0" dirty="0">
                          <a:solidFill>
                            <a:schemeClr val="dk1"/>
                          </a:solidFill>
                          <a:latin typeface="+mn-lt"/>
                          <a:ea typeface="+mn-ea"/>
                          <a:cs typeface="+mn-cs"/>
                        </a:rPr>
                        <a:t>62.94%</a:t>
                      </a:r>
                      <a:endParaRPr lang="en-US" dirty="0"/>
                    </a:p>
                  </a:txBody>
                  <a:tcPr/>
                </a:tc>
                <a:tc>
                  <a:txBody>
                    <a:bodyPr/>
                    <a:lstStyle/>
                    <a:p>
                      <a:r>
                        <a:rPr lang="en-US" sz="1800" b="0" i="0" u="none" strike="noStrike" kern="1200" baseline="0" dirty="0">
                          <a:solidFill>
                            <a:schemeClr val="dk1"/>
                          </a:solidFill>
                          <a:latin typeface="+mn-lt"/>
                          <a:ea typeface="+mn-ea"/>
                          <a:cs typeface="+mn-cs"/>
                        </a:rPr>
                        <a:t>65.02%</a:t>
                      </a:r>
                      <a:endParaRPr lang="en-US" dirty="0"/>
                    </a:p>
                  </a:txBody>
                  <a:tcPr/>
                </a:tc>
                <a:extLst>
                  <a:ext uri="{0D108BD9-81ED-4DB2-BD59-A6C34878D82A}">
                    <a16:rowId xmlns:a16="http://schemas.microsoft.com/office/drawing/2014/main" val="2507488781"/>
                  </a:ext>
                </a:extLst>
              </a:tr>
              <a:tr h="292882">
                <a:tc>
                  <a:txBody>
                    <a:bodyPr/>
                    <a:lstStyle/>
                    <a:p>
                      <a:r>
                        <a:rPr lang="en-US" dirty="0"/>
                        <a:t>Expert BN</a:t>
                      </a:r>
                    </a:p>
                  </a:txBody>
                  <a:tcPr/>
                </a:tc>
                <a:tc>
                  <a:txBody>
                    <a:bodyPr/>
                    <a:lstStyle/>
                    <a:p>
                      <a:r>
                        <a:rPr lang="en-US" sz="1800" b="0" i="0" u="none" strike="noStrike" kern="1200" baseline="0" dirty="0">
                          <a:solidFill>
                            <a:schemeClr val="dk1"/>
                          </a:solidFill>
                          <a:latin typeface="+mn-lt"/>
                          <a:ea typeface="+mn-ea"/>
                          <a:cs typeface="+mn-cs"/>
                        </a:rPr>
                        <a:t>40.79%</a:t>
                      </a:r>
                      <a:endParaRPr lang="en-US" dirty="0"/>
                    </a:p>
                  </a:txBody>
                  <a:tcPr/>
                </a:tc>
                <a:tc>
                  <a:txBody>
                    <a:bodyPr/>
                    <a:lstStyle/>
                    <a:p>
                      <a:r>
                        <a:rPr lang="en-US" dirty="0"/>
                        <a:t>-</a:t>
                      </a:r>
                    </a:p>
                  </a:txBody>
                  <a:tcPr/>
                </a:tc>
                <a:extLst>
                  <a:ext uri="{0D108BD9-81ED-4DB2-BD59-A6C34878D82A}">
                    <a16:rowId xmlns:a16="http://schemas.microsoft.com/office/drawing/2014/main" val="1997458879"/>
                  </a:ext>
                </a:extLst>
              </a:tr>
            </a:tbl>
          </a:graphicData>
        </a:graphic>
      </p:graphicFrame>
      <p:sp>
        <p:nvSpPr>
          <p:cNvPr id="34" name="TextBox 33">
            <a:extLst>
              <a:ext uri="{FF2B5EF4-FFF2-40B4-BE49-F238E27FC236}">
                <a16:creationId xmlns:a16="http://schemas.microsoft.com/office/drawing/2014/main" id="{20FDEACA-915D-4455-A3B1-7E5E89FC8C13}"/>
              </a:ext>
            </a:extLst>
          </p:cNvPr>
          <p:cNvSpPr txBox="1"/>
          <p:nvPr/>
        </p:nvSpPr>
        <p:spPr>
          <a:xfrm>
            <a:off x="552776" y="4155635"/>
            <a:ext cx="9256541" cy="2308324"/>
          </a:xfrm>
          <a:prstGeom prst="rect">
            <a:avLst/>
          </a:prstGeom>
          <a:noFill/>
        </p:spPr>
        <p:txBody>
          <a:bodyPr wrap="square" rtlCol="0">
            <a:spAutoFit/>
          </a:bodyPr>
          <a:lstStyle/>
          <a:p>
            <a:pPr marL="285750" indent="-285750">
              <a:buFont typeface="Wingdings" panose="05000000000000000000" pitchFamily="2" charset="2"/>
              <a:buChar char="Ø"/>
            </a:pPr>
            <a:endParaRPr lang="el-GR" dirty="0"/>
          </a:p>
          <a:p>
            <a:pPr marL="285750" indent="-285750">
              <a:buFont typeface="Wingdings" panose="05000000000000000000" pitchFamily="2" charset="2"/>
              <a:buChar char="Ø"/>
            </a:pPr>
            <a:r>
              <a:rPr lang="el-GR" dirty="0"/>
              <a:t>Για τα γενικά </a:t>
            </a:r>
            <a:r>
              <a:rPr lang="en-US" dirty="0"/>
              <a:t>training </a:t>
            </a:r>
            <a:r>
              <a:rPr lang="el-GR" dirty="0"/>
              <a:t>και </a:t>
            </a:r>
            <a:r>
              <a:rPr lang="en-US" dirty="0"/>
              <a:t>test data sets </a:t>
            </a:r>
            <a:r>
              <a:rPr lang="el-GR" dirty="0"/>
              <a:t>ο ΚΝΝ αλγόριθμος έχει την καλύτερη απόδοση σε σχέση με τους υπόλοιπους αλγορίθμους</a:t>
            </a:r>
          </a:p>
          <a:p>
            <a:pPr marL="285750" indent="-285750">
              <a:buFont typeface="Wingdings" panose="05000000000000000000" pitchFamily="2" charset="2"/>
              <a:buChar char="Ø"/>
            </a:pPr>
            <a:r>
              <a:rPr lang="el-GR" dirty="0"/>
              <a:t>Για το </a:t>
            </a:r>
            <a:r>
              <a:rPr lang="en-US" dirty="0"/>
              <a:t>expert data set o expert BN </a:t>
            </a:r>
            <a:r>
              <a:rPr lang="el-GR" dirty="0"/>
              <a:t>αποδίδει καλύτερα σε σχέση με όλους τους υπόλοιπους αλγορίθμους</a:t>
            </a:r>
            <a:endParaRPr lang="en-US" dirty="0"/>
          </a:p>
          <a:p>
            <a:endParaRPr lang="en-US" dirty="0"/>
          </a:p>
          <a:p>
            <a:pPr marL="285750" indent="-285750">
              <a:buFont typeface="Wingdings" panose="05000000000000000000" pitchFamily="2" charset="2"/>
              <a:buChar char="Ø"/>
            </a:pPr>
            <a:endParaRPr lang="el-GR" dirty="0"/>
          </a:p>
          <a:p>
            <a:pPr marL="285750" indent="-285750">
              <a:buFont typeface="Wingdings" panose="05000000000000000000" pitchFamily="2" charset="2"/>
              <a:buChar char="Ø"/>
            </a:pPr>
            <a:endParaRPr lang="en-US" dirty="0"/>
          </a:p>
        </p:txBody>
      </p:sp>
    </p:spTree>
    <p:extLst>
      <p:ext uri="{BB962C8B-B14F-4D97-AF65-F5344CB8AC3E}">
        <p14:creationId xmlns:p14="http://schemas.microsoft.com/office/powerpoint/2010/main" val="2596833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normAutofit/>
          </a:bodyPr>
          <a:lstStyle/>
          <a:p>
            <a:pPr lvl="0" rtl="0"/>
            <a:r>
              <a:rPr lang="el-GR" dirty="0">
                <a:latin typeface="Segoe UI Light" panose="020B0502040204020203" pitchFamily="34" charset="0"/>
                <a:cs typeface="Segoe UI Light" panose="020B0502040204020203" pitchFamily="34" charset="0"/>
              </a:rPr>
              <a:t>-Μηχανική Μάθηση στο </a:t>
            </a:r>
            <a:r>
              <a:rPr lang="en-US" dirty="0">
                <a:latin typeface="Segoe UI Light" panose="020B0502040204020203" pitchFamily="34" charset="0"/>
                <a:cs typeface="Segoe UI Light" panose="020B0502040204020203" pitchFamily="34" charset="0"/>
              </a:rPr>
              <a:t>NBA</a:t>
            </a:r>
            <a:endParaRPr lang="el-GR" dirty="0">
              <a:latin typeface="Segoe UI Light" panose="020B0502040204020203" pitchFamily="34" charset="0"/>
              <a:cs typeface="Segoe UI Light" panose="020B0502040204020203" pitchFamily="34" charset="0"/>
            </a:endParaRPr>
          </a:p>
        </p:txBody>
      </p:sp>
      <p:sp>
        <p:nvSpPr>
          <p:cNvPr id="5" name="Θέση περιεχομένου 4"/>
          <p:cNvSpPr>
            <a:spLocks noGrp="1"/>
          </p:cNvSpPr>
          <p:nvPr>
            <p:ph sz="half" idx="4294967295"/>
          </p:nvPr>
        </p:nvSpPr>
        <p:spPr>
          <a:xfrm>
            <a:off x="541610" y="1431010"/>
            <a:ext cx="5770699" cy="3978275"/>
          </a:xfrm>
        </p:spPr>
        <p:txBody>
          <a:bodyPr vert="horz" lIns="91440" tIns="45720" rIns="91440" bIns="45720" rtlCol="0">
            <a:normAutofit/>
          </a:bodyPr>
          <a:lstStyle/>
          <a:p>
            <a:pPr marL="0" indent="0" rtl="0">
              <a:lnSpc>
                <a:spcPts val="1800"/>
              </a:lnSpc>
              <a:spcBef>
                <a:spcPts val="1000"/>
              </a:spcBef>
              <a:spcAft>
                <a:spcPts val="2000"/>
              </a:spcAft>
              <a:buNone/>
            </a:pPr>
            <a:r>
              <a:rPr lang="en-US" sz="1400" dirty="0">
                <a:solidFill>
                  <a:prstClr val="black">
                    <a:lumMod val="75000"/>
                    <a:lumOff val="25000"/>
                  </a:prstClr>
                </a:solidFill>
                <a:latin typeface="Segoe UI" panose="020B0502040204020203" pitchFamily="34" charset="0"/>
                <a:cs typeface="Segoe UI" panose="020B0502040204020203" pitchFamily="34" charset="0"/>
              </a:rPr>
              <a:t>M</a:t>
            </a:r>
            <a:r>
              <a:rPr lang="el-GR" sz="1400" dirty="0">
                <a:solidFill>
                  <a:prstClr val="black">
                    <a:lumMod val="75000"/>
                    <a:lumOff val="25000"/>
                  </a:prstClr>
                </a:solidFill>
                <a:latin typeface="Segoe UI" panose="020B0502040204020203" pitchFamily="34" charset="0"/>
                <a:cs typeface="Segoe UI" panose="020B0502040204020203" pitchFamily="34" charset="0"/>
              </a:rPr>
              <a:t>έσω της μηχανικής μάθησης υπήρξε η δυνατότητα εντοπισμού των 8 τύπων παικτών του </a:t>
            </a:r>
            <a:r>
              <a:rPr lang="en-US" sz="1400" dirty="0">
                <a:solidFill>
                  <a:prstClr val="black">
                    <a:lumMod val="75000"/>
                    <a:lumOff val="25000"/>
                  </a:prstClr>
                </a:solidFill>
                <a:latin typeface="Segoe UI" panose="020B0502040204020203" pitchFamily="34" charset="0"/>
                <a:cs typeface="Segoe UI" panose="020B0502040204020203" pitchFamily="34" charset="0"/>
              </a:rPr>
              <a:t>NBA.</a:t>
            </a:r>
            <a:br>
              <a:rPr lang="el-GR" sz="1400" dirty="0">
                <a:solidFill>
                  <a:prstClr val="black">
                    <a:lumMod val="75000"/>
                    <a:lumOff val="25000"/>
                  </a:prstClr>
                </a:solidFill>
                <a:latin typeface="Segoe UI" panose="020B0502040204020203" pitchFamily="34" charset="0"/>
                <a:cs typeface="Segoe UI" panose="020B0502040204020203" pitchFamily="34" charset="0"/>
              </a:rPr>
            </a:br>
            <a:br>
              <a:rPr lang="el-GR" sz="1400" dirty="0">
                <a:solidFill>
                  <a:prstClr val="black">
                    <a:lumMod val="75000"/>
                    <a:lumOff val="25000"/>
                  </a:prstClr>
                </a:solidFill>
                <a:latin typeface="Segoe UI" panose="020B0502040204020203" pitchFamily="34" charset="0"/>
                <a:cs typeface="Segoe UI" panose="020B0502040204020203" pitchFamily="34" charset="0"/>
              </a:rPr>
            </a:br>
            <a:r>
              <a:rPr lang="el-GR" sz="1400" dirty="0">
                <a:solidFill>
                  <a:prstClr val="black">
                    <a:lumMod val="75000"/>
                    <a:lumOff val="25000"/>
                  </a:prstClr>
                </a:solidFill>
                <a:latin typeface="Segoe UI" panose="020B0502040204020203" pitchFamily="34" charset="0"/>
                <a:cs typeface="Segoe UI" panose="020B0502040204020203" pitchFamily="34" charset="0"/>
              </a:rPr>
              <a:t>Πώς λειτουργεί:</a:t>
            </a:r>
          </a:p>
        </p:txBody>
      </p:sp>
      <p:grpSp>
        <p:nvGrpSpPr>
          <p:cNvPr id="33" name="Ομάδα 32" descr="Μικρός κύκλος με τον αριθμό 1 που υποδεικνύει το βήμα 1"/>
          <p:cNvGrpSpPr/>
          <p:nvPr/>
        </p:nvGrpSpPr>
        <p:grpSpPr bwMode="blackWhite">
          <a:xfrm>
            <a:off x="490084" y="2570939"/>
            <a:ext cx="558179" cy="409838"/>
            <a:chOff x="6953426" y="711274"/>
            <a:chExt cx="558179" cy="409838"/>
          </a:xfrm>
        </p:grpSpPr>
        <p:sp>
          <p:nvSpPr>
            <p:cNvPr id="34" name="Έλλειψη 3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5" name="Πλαίσιο κειμένου 34" descr="Αριθμός 1"/>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42" name="Θέση περιεχομένου 17"/>
          <p:cNvSpPr txBox="1">
            <a:spLocks/>
          </p:cNvSpPr>
          <p:nvPr/>
        </p:nvSpPr>
        <p:spPr>
          <a:xfrm>
            <a:off x="1040204" y="2544923"/>
            <a:ext cx="2696774" cy="2059734"/>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sz="1400" dirty="0">
                <a:solidFill>
                  <a:prstClr val="black">
                    <a:lumMod val="75000"/>
                    <a:lumOff val="25000"/>
                  </a:prstClr>
                </a:solidFill>
                <a:latin typeface="Segoe UI" panose="020B0502040204020203" pitchFamily="34" charset="0"/>
                <a:cs typeface="Segoe UI" panose="020B0502040204020203" pitchFamily="34" charset="0"/>
              </a:rPr>
              <a:t>Η απόκτηση των δεδομένων έγινε μέσω του </a:t>
            </a:r>
            <a:r>
              <a:rPr lang="en-US" sz="1400" dirty="0">
                <a:solidFill>
                  <a:prstClr val="black">
                    <a:lumMod val="75000"/>
                    <a:lumOff val="25000"/>
                  </a:prstClr>
                </a:solidFill>
                <a:latin typeface="Segoe UI" panose="020B0502040204020203" pitchFamily="34" charset="0"/>
                <a:cs typeface="Segoe UI" panose="020B0502040204020203" pitchFamily="34" charset="0"/>
              </a:rPr>
              <a:t>Selenium with Python</a:t>
            </a:r>
            <a:r>
              <a:rPr lang="el-GR" sz="1400" dirty="0">
                <a:solidFill>
                  <a:prstClr val="black">
                    <a:lumMod val="75000"/>
                    <a:lumOff val="25000"/>
                  </a:prstClr>
                </a:solidFill>
                <a:latin typeface="Segoe UI" panose="020B0502040204020203" pitchFamily="34" charset="0"/>
                <a:cs typeface="Segoe UI" panose="020B0502040204020203" pitchFamily="34" charset="0"/>
              </a:rPr>
              <a:t> και το κατώφλι είναι 40 αγωνιστικά παιχνίδια. Στο σύνολο αυτό υπάρχουν 547 παίκτες και56 χαρακτηριστικά από το 2014  έως και το 2017. </a:t>
            </a:r>
          </a:p>
        </p:txBody>
      </p:sp>
      <p:grpSp>
        <p:nvGrpSpPr>
          <p:cNvPr id="36" name="Ομάδα 35" descr="Μικρός κύκλος με τον αριθμό 2 που υποδεικνύει το βήμα 2"/>
          <p:cNvGrpSpPr/>
          <p:nvPr/>
        </p:nvGrpSpPr>
        <p:grpSpPr bwMode="blackWhite">
          <a:xfrm>
            <a:off x="3995520" y="2561850"/>
            <a:ext cx="558179" cy="409838"/>
            <a:chOff x="6953426" y="711274"/>
            <a:chExt cx="558179" cy="409838"/>
          </a:xfrm>
        </p:grpSpPr>
        <p:sp>
          <p:nvSpPr>
            <p:cNvPr id="37" name="Έλλειψη 3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8" name="Πλαίσιο κειμένου 37" descr="Αριθμός 2"/>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43" name="Θέση περιεχομένου 17"/>
          <p:cNvSpPr txBox="1">
            <a:spLocks/>
          </p:cNvSpPr>
          <p:nvPr/>
        </p:nvSpPr>
        <p:spPr>
          <a:xfrm>
            <a:off x="4553699" y="2544923"/>
            <a:ext cx="3520508" cy="3120020"/>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sz="1400" dirty="0"/>
              <a:t>Στα δεδομένα μεγάλης διαστάσεως, ο όγκος του χώρου αυξάνει με αποτέλεσμα τα διαθέσιμα δεδομένα να καταστούν αραιά. Αυτό είναι γνωστό ως " </a:t>
            </a:r>
            <a:r>
              <a:rPr lang="el-GR" sz="1400" dirty="0">
                <a:hlinkClick r:id="rId3"/>
              </a:rPr>
              <a:t>Κατάρα της </a:t>
            </a:r>
            <a:r>
              <a:rPr lang="el-GR" sz="1400" dirty="0" err="1">
                <a:hlinkClick r:id="rId3"/>
              </a:rPr>
              <a:t>Διατομείας</a:t>
            </a:r>
            <a:r>
              <a:rPr lang="el-GR" sz="1400" dirty="0"/>
              <a:t> "  Σε αυτή τη μελέτη, κάθε διάσταση αντιπροσωπεύεται από τις στατιστικές χαρακτηριστικών ενός παίκτη και για να επιτευχθεί ένα στατιστικώς σωστό αποτέλεσμα, η ποσότητα των δεδομένων πρέπει να μειωθεί με την απόκτηση ενός συνόλου βασικών στοιχείων, </a:t>
            </a:r>
            <a:r>
              <a:rPr lang="el-GR" sz="1400" dirty="0">
                <a:hlinkClick r:id="rId4"/>
              </a:rPr>
              <a:t>την ανάλυση γραμμικής διακρίσεως (LDA)</a:t>
            </a:r>
            <a:r>
              <a:rPr lang="el-GR" sz="1400" dirty="0"/>
              <a:t> .</a:t>
            </a: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p:txBody>
      </p:sp>
      <p:grpSp>
        <p:nvGrpSpPr>
          <p:cNvPr id="39" name="Ομάδα 38" descr="Μικρός κύκλος με τον αριθμό 3 που υποδεικνύει το βήμα 3"/>
          <p:cNvGrpSpPr/>
          <p:nvPr/>
        </p:nvGrpSpPr>
        <p:grpSpPr bwMode="blackWhite">
          <a:xfrm>
            <a:off x="8002564" y="2587229"/>
            <a:ext cx="558179" cy="409838"/>
            <a:chOff x="6953426" y="711274"/>
            <a:chExt cx="558179" cy="409838"/>
          </a:xfrm>
        </p:grpSpPr>
        <p:sp>
          <p:nvSpPr>
            <p:cNvPr id="40" name="Έλλειψη 3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41" name="Πλαίσιο κειμένου 40" descr="Αριθμός 3"/>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44" name="Θέση περιεχομένου 17"/>
          <p:cNvSpPr txBox="1">
            <a:spLocks/>
          </p:cNvSpPr>
          <p:nvPr/>
        </p:nvSpPr>
        <p:spPr>
          <a:xfrm>
            <a:off x="8560743" y="2544923"/>
            <a:ext cx="3069530" cy="4697646"/>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sz="1400" dirty="0">
                <a:solidFill>
                  <a:prstClr val="black">
                    <a:lumMod val="75000"/>
                    <a:lumOff val="25000"/>
                  </a:prstClr>
                </a:solidFill>
                <a:latin typeface="Segoe UI" panose="020B0502040204020203" pitchFamily="34" charset="0"/>
                <a:cs typeface="Segoe UI" panose="020B0502040204020203" pitchFamily="34" charset="0"/>
              </a:rPr>
              <a:t>Ο αλγόριθμος για το </a:t>
            </a:r>
            <a:r>
              <a:rPr lang="en-US" sz="1400" dirty="0">
                <a:solidFill>
                  <a:prstClr val="black">
                    <a:lumMod val="75000"/>
                    <a:lumOff val="25000"/>
                  </a:prstClr>
                </a:solidFill>
                <a:latin typeface="Segoe UI" panose="020B0502040204020203" pitchFamily="34" charset="0"/>
                <a:cs typeface="Segoe UI" panose="020B0502040204020203" pitchFamily="34" charset="0"/>
              </a:rPr>
              <a:t>clustering </a:t>
            </a:r>
            <a:r>
              <a:rPr lang="el-GR" sz="1400" dirty="0">
                <a:solidFill>
                  <a:prstClr val="black">
                    <a:lumMod val="75000"/>
                    <a:lumOff val="25000"/>
                  </a:prstClr>
                </a:solidFill>
                <a:latin typeface="Segoe UI" panose="020B0502040204020203" pitchFamily="34" charset="0"/>
                <a:cs typeface="Segoe UI" panose="020B0502040204020203" pitchFamily="34" charset="0"/>
              </a:rPr>
              <a:t>που χρησιμοποιήθηκε είναι ο </a:t>
            </a:r>
            <a:r>
              <a:rPr lang="en-US" sz="1400" u="sng" dirty="0">
                <a:solidFill>
                  <a:prstClr val="black">
                    <a:lumMod val="75000"/>
                    <a:lumOff val="25000"/>
                  </a:prstClr>
                </a:solidFill>
                <a:latin typeface="Segoe UI" panose="020B0502040204020203" pitchFamily="34" charset="0"/>
                <a:cs typeface="Segoe UI" panose="020B0502040204020203" pitchFamily="34" charset="0"/>
              </a:rPr>
              <a:t>K-means</a:t>
            </a:r>
            <a:r>
              <a:rPr lang="en-US" sz="1400" dirty="0">
                <a:solidFill>
                  <a:prstClr val="black">
                    <a:lumMod val="75000"/>
                    <a:lumOff val="25000"/>
                  </a:prstClr>
                </a:solidFill>
                <a:latin typeface="Segoe UI" panose="020B0502040204020203" pitchFamily="34" charset="0"/>
                <a:cs typeface="Segoe UI" panose="020B0502040204020203" pitchFamily="34" charset="0"/>
              </a:rPr>
              <a:t>. </a:t>
            </a:r>
            <a:r>
              <a:rPr lang="el-GR" sz="1400" dirty="0">
                <a:solidFill>
                  <a:prstClr val="black">
                    <a:lumMod val="75000"/>
                    <a:lumOff val="25000"/>
                  </a:prstClr>
                </a:solidFill>
                <a:latin typeface="Segoe UI" panose="020B0502040204020203" pitchFamily="34" charset="0"/>
                <a:cs typeface="Segoe UI" panose="020B0502040204020203" pitchFamily="34" charset="0"/>
              </a:rPr>
              <a:t>Αυτή η εργασία βασίστηκε, </a:t>
            </a:r>
            <a:r>
              <a:rPr lang="el-GR" sz="1400" dirty="0"/>
              <a:t>στην καλύτερη </a:t>
            </a:r>
            <a:r>
              <a:rPr lang="el-GR" sz="1400" dirty="0">
                <a:hlinkClick r:id="rId5"/>
              </a:rPr>
              <a:t>βαθμολογία σιλουέτας</a:t>
            </a:r>
            <a:r>
              <a:rPr lang="el-GR" sz="1400" dirty="0"/>
              <a:t>  για να βγουν οι 8 τύποι παικτών, η οποία είναι ένα μέτρο του πόσο παρόμοιο είναι ένα αντικείμενο με το δικό του σύμπλεγμα σε σύγκριση με άλλα σμήνη. Η βαθμολογία σιλουέτας κυμαίνεται από -1 έως 1. Εάν τα clusters έχουν υψηλή τιμή, τότε η διάταξη συμπλέγματος είναι κατάλληλη.</a:t>
            </a: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p:txBody>
      </p:sp>
      <p:pic>
        <p:nvPicPr>
          <p:cNvPr id="4" name="Εικόνα 3">
            <a:extLst>
              <a:ext uri="{FF2B5EF4-FFF2-40B4-BE49-F238E27FC236}">
                <a16:creationId xmlns:a16="http://schemas.microsoft.com/office/drawing/2014/main" id="{9F3A1C38-FAD7-4D39-AC4F-5824688139F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4276077"/>
            <a:ext cx="3205518" cy="2581923"/>
          </a:xfrm>
          <a:prstGeom prst="rect">
            <a:avLst/>
          </a:prstGeom>
        </p:spPr>
      </p:pic>
    </p:spTree>
    <p:extLst>
      <p:ext uri="{BB962C8B-B14F-4D97-AF65-F5344CB8AC3E}">
        <p14:creationId xmlns:p14="http://schemas.microsoft.com/office/powerpoint/2010/main" val="13286760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Τίτλος 5"/>
          <p:cNvSpPr>
            <a:spLocks noGrp="1"/>
          </p:cNvSpPr>
          <p:nvPr>
            <p:ph type="title"/>
          </p:nvPr>
        </p:nvSpPr>
        <p:spPr>
          <a:xfrm>
            <a:off x="521207" y="448056"/>
            <a:ext cx="10667903" cy="640080"/>
          </a:xfrm>
        </p:spPr>
        <p:txBody>
          <a:bodyPr rtlCol="0">
            <a:normAutofit/>
          </a:bodyPr>
          <a:lstStyle/>
          <a:p>
            <a:pPr rtl="0"/>
            <a:r>
              <a:rPr lang="el-GR" dirty="0">
                <a:latin typeface="Segoe UI Light" panose="020B0502040204020203" pitchFamily="34" charset="0"/>
                <a:cs typeface="Segoe UI Light" panose="020B0502040204020203" pitchFamily="34" charset="0"/>
              </a:rPr>
              <a:t>Αποκτήστε την εμπειρία των ειδικών με το πλαίσιο "Πείτε μου"</a:t>
            </a:r>
          </a:p>
        </p:txBody>
      </p:sp>
      <p:sp>
        <p:nvSpPr>
          <p:cNvPr id="38" name="Θέση περιεχομένου 17"/>
          <p:cNvSpPr txBox="1">
            <a:spLocks/>
          </p:cNvSpPr>
          <p:nvPr/>
        </p:nvSpPr>
        <p:spPr>
          <a:xfrm>
            <a:off x="541609" y="1296100"/>
            <a:ext cx="5110161" cy="1236475"/>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endParaRPr lang="el-GR" dirty="0">
              <a:latin typeface="Segoe UI" panose="020B0502040204020203" pitchFamily="34" charset="0"/>
              <a:cs typeface="Segoe UI" panose="020B0502040204020203" pitchFamily="34" charset="0"/>
            </a:endParaRPr>
          </a:p>
        </p:txBody>
      </p:sp>
      <p:grpSp>
        <p:nvGrpSpPr>
          <p:cNvPr id="4" name="Ομάδα 3" descr="Μικρός κύκλος με τον αριθμό 1 που υποδεικνύει το βήμα 1"/>
          <p:cNvGrpSpPr/>
          <p:nvPr/>
        </p:nvGrpSpPr>
        <p:grpSpPr bwMode="blackWhite">
          <a:xfrm>
            <a:off x="359519" y="2557455"/>
            <a:ext cx="558179" cy="409838"/>
            <a:chOff x="6953426" y="711274"/>
            <a:chExt cx="558179" cy="409838"/>
          </a:xfrm>
        </p:grpSpPr>
        <p:sp>
          <p:nvSpPr>
            <p:cNvPr id="2" name="Έλλειψη 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 name="Πλαίσιο κειμένου 2" descr="Αριθμός 1"/>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4</a:t>
              </a:r>
            </a:p>
          </p:txBody>
        </p:sp>
      </p:grpSp>
      <p:sp>
        <p:nvSpPr>
          <p:cNvPr id="29" name="Θέση περιεχομένου 17"/>
          <p:cNvSpPr txBox="1">
            <a:spLocks/>
          </p:cNvSpPr>
          <p:nvPr/>
        </p:nvSpPr>
        <p:spPr>
          <a:xfrm>
            <a:off x="881909" y="2581671"/>
            <a:ext cx="4217878" cy="3212440"/>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defTabSz="512763">
              <a:lnSpc>
                <a:spcPct val="100000"/>
              </a:lnSpc>
              <a:spcBef>
                <a:spcPts val="0"/>
              </a:spcBef>
              <a:spcAft>
                <a:spcPts val="2000"/>
              </a:spcAft>
              <a:buNone/>
            </a:pPr>
            <a:r>
              <a:rPr lang="el-GR" sz="1400" dirty="0">
                <a:solidFill>
                  <a:prstClr val="black">
                    <a:lumMod val="75000"/>
                    <a:lumOff val="25000"/>
                  </a:prstClr>
                </a:solidFill>
                <a:latin typeface="Segoe UI" panose="020B0502040204020203" pitchFamily="34" charset="0"/>
                <a:cs typeface="Segoe UI" panose="020B0502040204020203" pitchFamily="34" charset="0"/>
              </a:rPr>
              <a:t>Για να μειώσουμε τα χαρακτηριστικά χρησιμοποιήθηκε η</a:t>
            </a:r>
            <a:r>
              <a:rPr lang="el-GR" sz="1400" dirty="0">
                <a:hlinkClick r:id="rId3"/>
              </a:rPr>
              <a:t> βασική ανάλυση στοιχείων (PCA)</a:t>
            </a:r>
            <a:r>
              <a:rPr lang="el-GR" sz="1400" dirty="0"/>
              <a:t>. Ο αλγόριθμος βρίσκει τα ιδιοδιανύσματα ενός πλέγματος με τις υψηλότερες ιδιοτιμές και στη συνέχεια χρησιμοποιεί αυτές τις τιμές για να προβάλει τα δεδομένα σε μια νέα υποπεριοχή ίσων ή μικρότερων διαστάσεων.</a:t>
            </a: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p:txBody>
      </p:sp>
      <p:grpSp>
        <p:nvGrpSpPr>
          <p:cNvPr id="19" name="Ομάδα 18" descr="Μικρός κύκλος με τον αριθμό 2 που υποδεικνύει το βήμα 2"/>
          <p:cNvGrpSpPr/>
          <p:nvPr/>
        </p:nvGrpSpPr>
        <p:grpSpPr bwMode="blackWhite">
          <a:xfrm>
            <a:off x="4806046" y="2535620"/>
            <a:ext cx="558179" cy="409838"/>
            <a:chOff x="6953426" y="711274"/>
            <a:chExt cx="558179" cy="409838"/>
          </a:xfrm>
        </p:grpSpPr>
        <p:sp>
          <p:nvSpPr>
            <p:cNvPr id="20" name="Έλλειψη 1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1" name="Πλαίσιο κειμένου 20" descr="Αριθμός 2"/>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5</a:t>
              </a:r>
            </a:p>
          </p:txBody>
        </p:sp>
      </p:grpSp>
      <p:sp>
        <p:nvSpPr>
          <p:cNvPr id="22" name="Θέση περιεχομένου 17"/>
          <p:cNvSpPr txBox="1">
            <a:spLocks/>
          </p:cNvSpPr>
          <p:nvPr/>
        </p:nvSpPr>
        <p:spPr>
          <a:xfrm>
            <a:off x="5325157" y="2551910"/>
            <a:ext cx="3504072" cy="2240834"/>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buNone/>
            </a:pPr>
            <a:r>
              <a:rPr lang="el-GR" sz="1400" dirty="0">
                <a:solidFill>
                  <a:prstClr val="black">
                    <a:lumMod val="75000"/>
                    <a:lumOff val="25000"/>
                  </a:prstClr>
                </a:solidFill>
                <a:latin typeface="Segoe UI" panose="020B0502040204020203" pitchFamily="34" charset="0"/>
                <a:cs typeface="Segoe UI" panose="020B0502040204020203" pitchFamily="34" charset="0"/>
              </a:rPr>
              <a:t>Για την οπτικοποίηση των δεδομένων, χρησιμοποιήθηκε μια ισχυρή εφαρμογή (</a:t>
            </a:r>
            <a:r>
              <a:rPr lang="en-US" sz="1400" dirty="0">
                <a:solidFill>
                  <a:prstClr val="black">
                    <a:lumMod val="75000"/>
                    <a:lumOff val="25000"/>
                  </a:prstClr>
                </a:solidFill>
                <a:latin typeface="Segoe UI" panose="020B0502040204020203" pitchFamily="34" charset="0"/>
                <a:cs typeface="Segoe UI" panose="020B0502040204020203" pitchFamily="34" charset="0"/>
              </a:rPr>
              <a:t>Tableau</a:t>
            </a:r>
            <a:r>
              <a:rPr lang="el-GR" sz="1400" dirty="0">
                <a:solidFill>
                  <a:prstClr val="black">
                    <a:lumMod val="75000"/>
                    <a:lumOff val="25000"/>
                  </a:prstClr>
                </a:solidFill>
                <a:latin typeface="Segoe UI" panose="020B0502040204020203" pitchFamily="34" charset="0"/>
                <a:cs typeface="Segoe UI" panose="020B0502040204020203" pitchFamily="34" charset="0"/>
              </a:rPr>
              <a:t>)</a:t>
            </a:r>
            <a:r>
              <a:rPr lang="en-US" sz="1400" dirty="0">
                <a:solidFill>
                  <a:prstClr val="black">
                    <a:lumMod val="75000"/>
                    <a:lumOff val="25000"/>
                  </a:prstClr>
                </a:solidFill>
                <a:latin typeface="Segoe UI" panose="020B0502040204020203" pitchFamily="34" charset="0"/>
                <a:cs typeface="Segoe UI" panose="020B0502040204020203" pitchFamily="34" charset="0"/>
              </a:rPr>
              <a:t>, </a:t>
            </a:r>
            <a:r>
              <a:rPr lang="el-GR" sz="1400" dirty="0">
                <a:solidFill>
                  <a:prstClr val="black">
                    <a:lumMod val="75000"/>
                    <a:lumOff val="25000"/>
                  </a:prstClr>
                </a:solidFill>
                <a:latin typeface="Segoe UI" panose="020B0502040204020203" pitchFamily="34" charset="0"/>
                <a:cs typeface="Segoe UI" panose="020B0502040204020203" pitchFamily="34" charset="0"/>
              </a:rPr>
              <a:t>η οποία καθιστά τα αποτελέσματα της</a:t>
            </a:r>
            <a:r>
              <a:rPr lang="en-US" sz="1400" dirty="0">
                <a:solidFill>
                  <a:prstClr val="black">
                    <a:lumMod val="75000"/>
                    <a:lumOff val="25000"/>
                  </a:prstClr>
                </a:solidFill>
                <a:latin typeface="Segoe UI" panose="020B0502040204020203" pitchFamily="34" charset="0"/>
                <a:cs typeface="Segoe UI" panose="020B0502040204020203" pitchFamily="34" charset="0"/>
              </a:rPr>
              <a:t>,</a:t>
            </a:r>
            <a:r>
              <a:rPr lang="el-GR" sz="1400" dirty="0">
                <a:solidFill>
                  <a:prstClr val="black">
                    <a:lumMod val="75000"/>
                    <a:lumOff val="25000"/>
                  </a:prstClr>
                </a:solidFill>
                <a:latin typeface="Segoe UI" panose="020B0502040204020203" pitchFamily="34" charset="0"/>
                <a:cs typeface="Segoe UI" panose="020B0502040204020203" pitchFamily="34" charset="0"/>
              </a:rPr>
              <a:t> καθαρά και συνοπτικά.</a:t>
            </a:r>
          </a:p>
        </p:txBody>
      </p:sp>
      <p:grpSp>
        <p:nvGrpSpPr>
          <p:cNvPr id="31" name="Ομάδα 30" descr="Μικρός κύκλος με τον αριθμό 3 που υποδεικνύει το βήμα 3"/>
          <p:cNvGrpSpPr/>
          <p:nvPr/>
        </p:nvGrpSpPr>
        <p:grpSpPr bwMode="blackWhite">
          <a:xfrm>
            <a:off x="8725128" y="2531657"/>
            <a:ext cx="558179" cy="409838"/>
            <a:chOff x="6953426" y="711274"/>
            <a:chExt cx="558179" cy="409838"/>
          </a:xfrm>
        </p:grpSpPr>
        <p:sp>
          <p:nvSpPr>
            <p:cNvPr id="32" name="Έλλειψη 3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3" name="Πλαίσιο κειμένου 32" descr="Αριθμός 3"/>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n-US" dirty="0">
                  <a:solidFill>
                    <a:schemeClr val="bg1"/>
                  </a:solidFill>
                  <a:latin typeface="Segoe UI Semibold" panose="020B0702040204020203" pitchFamily="34" charset="0"/>
                  <a:cs typeface="Segoe UI Semibold" panose="020B0702040204020203" pitchFamily="34" charset="0"/>
                </a:rPr>
                <a:t>6</a:t>
              </a:r>
              <a:endParaRPr lang="el-GR" dirty="0">
                <a:solidFill>
                  <a:schemeClr val="bg1"/>
                </a:solidFill>
                <a:latin typeface="Segoe UI Semibold" panose="020B0702040204020203" pitchFamily="34" charset="0"/>
                <a:cs typeface="Segoe UI Semibold" panose="020B0702040204020203" pitchFamily="34" charset="0"/>
              </a:endParaRPr>
            </a:p>
          </p:txBody>
        </p:sp>
      </p:grpSp>
      <p:sp>
        <p:nvSpPr>
          <p:cNvPr id="34" name="Θέση περιεχομένου 17"/>
          <p:cNvSpPr txBox="1">
            <a:spLocks/>
          </p:cNvSpPr>
          <p:nvPr/>
        </p:nvSpPr>
        <p:spPr>
          <a:xfrm>
            <a:off x="9324216" y="2597270"/>
            <a:ext cx="2484648" cy="2124211"/>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defTabSz="512763" rtl="0">
              <a:spcAft>
                <a:spcPts val="2000"/>
              </a:spcAft>
              <a:buNone/>
            </a:pPr>
            <a:r>
              <a:rPr lang="el-GR" sz="1400" dirty="0">
                <a:solidFill>
                  <a:prstClr val="black">
                    <a:lumMod val="75000"/>
                    <a:lumOff val="25000"/>
                  </a:prstClr>
                </a:solidFill>
                <a:latin typeface="Segoe UI" panose="020B0502040204020203" pitchFamily="34" charset="0"/>
                <a:cs typeface="Segoe UI" panose="020B0502040204020203" pitchFamily="34" charset="0"/>
              </a:rPr>
              <a:t>Οι 8 τύποι παικτών σαν αποτέλεσμα αυτής της εργασίας ορίσθηκαν</a:t>
            </a:r>
            <a:r>
              <a:rPr lang="en-US" sz="1400" dirty="0">
                <a:solidFill>
                  <a:prstClr val="black">
                    <a:lumMod val="75000"/>
                    <a:lumOff val="25000"/>
                  </a:prstClr>
                </a:solidFill>
                <a:latin typeface="Segoe UI" panose="020B0502040204020203" pitchFamily="34" charset="0"/>
                <a:cs typeface="Segoe UI" panose="020B0502040204020203" pitchFamily="34" charset="0"/>
              </a:rPr>
              <a:t>: Defensive Centers, 3-and-D Wings, Scoring Wings, Versatile Forwards, Floor Generals, Shooting Wings, Combo Guards, Offensive Centers.</a:t>
            </a: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7276681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8150845" cy="640080"/>
          </a:xfrm>
        </p:spPr>
        <p:txBody>
          <a:bodyPr rtlCol="0">
            <a:normAutofit/>
          </a:bodyPr>
          <a:lstStyle/>
          <a:p>
            <a:pPr rtl="0"/>
            <a:r>
              <a:rPr lang="el-GR" dirty="0">
                <a:latin typeface="Segoe UI Light" panose="020B0502040204020203" pitchFamily="34" charset="0"/>
                <a:cs typeface="Segoe UI Light" panose="020B0502040204020203" pitchFamily="34" charset="0"/>
              </a:rPr>
              <a:t>Εξερεύνηση χωρίς κλείσιμο των διαφανειών</a:t>
            </a:r>
          </a:p>
        </p:txBody>
      </p:sp>
      <p:sp>
        <p:nvSpPr>
          <p:cNvPr id="16" name="Θέση περιεχομένου 17"/>
          <p:cNvSpPr txBox="1">
            <a:spLocks/>
          </p:cNvSpPr>
          <p:nvPr/>
        </p:nvSpPr>
        <p:spPr>
          <a:xfrm>
            <a:off x="623380" y="1976107"/>
            <a:ext cx="6093106" cy="2905786"/>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t>Χρησιμοποιώντας την μηχανική μάθηση, ταξινομήθηκαν οι παίκτες του NBA με τα στατιστικά χαρακτηριστικά τους σε φυσικά clusters που ταιριάζουν καλύτερα με τα σύνολα δεξιοτήτων τους. Από τα clusters που έχουν κατασκευασθεί, οι αλγόριθμοι εντοπίζουν ποια χαρακτηριστικά είναι πιο σημαντικά για έναν παίκτη και τα ομαδοποιούν με τέτοιο τρόπο ώστε να είναι εύκολα ερμηνεύσιμα και εγγενώς κατανοητά από τους παίκτες, τους προπονητές και τους οπαδούς.</a:t>
            </a:r>
            <a:endParaRPr lang="el-GR" dirty="0">
              <a:latin typeface="Segoe UI" panose="020B0502040204020203" pitchFamily="34" charset="0"/>
              <a:cs typeface="Segoe UI" panose="020B0502040204020203" pitchFamily="34" charset="0"/>
            </a:endParaRPr>
          </a:p>
        </p:txBody>
      </p:sp>
      <p:sp>
        <p:nvSpPr>
          <p:cNvPr id="42" name="Θέση περιεχομένου 17"/>
          <p:cNvSpPr txBox="1">
            <a:spLocks/>
          </p:cNvSpPr>
          <p:nvPr/>
        </p:nvSpPr>
        <p:spPr>
          <a:xfrm>
            <a:off x="1066038" y="5273573"/>
            <a:ext cx="2919669" cy="129839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endParaRPr lang="el-GR" sz="1800" dirty="0">
              <a:solidFill>
                <a:prstClr val="black">
                  <a:lumMod val="75000"/>
                  <a:lumOff val="25000"/>
                </a:prstClr>
              </a:solidFill>
              <a:latin typeface="Segoe UI" panose="020B0502040204020203" pitchFamily="34" charset="0"/>
              <a:cs typeface="Segoe UI" panose="020B0502040204020203" pitchFamily="34" charset="0"/>
            </a:endParaRPr>
          </a:p>
        </p:txBody>
      </p:sp>
      <p:sp>
        <p:nvSpPr>
          <p:cNvPr id="43" name="Θέση περιεχομένου 17"/>
          <p:cNvSpPr txBox="1">
            <a:spLocks/>
          </p:cNvSpPr>
          <p:nvPr/>
        </p:nvSpPr>
        <p:spPr>
          <a:xfrm>
            <a:off x="4654504" y="5260745"/>
            <a:ext cx="3106367" cy="1324053"/>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endParaRPr lang="el-GR" dirty="0">
              <a:solidFill>
                <a:srgbClr val="D24726"/>
              </a:solidFill>
              <a:latin typeface="Segoe UI" panose="020B0502040204020203" pitchFamily="34" charset="0"/>
              <a:cs typeface="Segoe UI" panose="020B0502040204020203" pitchFamily="34" charset="0"/>
            </a:endParaRPr>
          </a:p>
        </p:txBody>
      </p:sp>
      <p:sp>
        <p:nvSpPr>
          <p:cNvPr id="44" name="Θέση περιεχομένου 17"/>
          <p:cNvSpPr txBox="1">
            <a:spLocks/>
          </p:cNvSpPr>
          <p:nvPr/>
        </p:nvSpPr>
        <p:spPr>
          <a:xfrm>
            <a:off x="8429668" y="5273573"/>
            <a:ext cx="3107336" cy="1341886"/>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endParaRPr lang="el-GR" dirty="0">
              <a:solidFill>
                <a:prstClr val="black">
                  <a:lumMod val="75000"/>
                  <a:lumOff val="25000"/>
                </a:prstClr>
              </a:solidFill>
            </a:endParaRPr>
          </a:p>
        </p:txBody>
      </p:sp>
      <p:pic>
        <p:nvPicPr>
          <p:cNvPr id="3" name="Εικόνα 2">
            <a:extLst>
              <a:ext uri="{FF2B5EF4-FFF2-40B4-BE49-F238E27FC236}">
                <a16:creationId xmlns:a16="http://schemas.microsoft.com/office/drawing/2014/main" id="{9A736163-6258-431A-9341-4E0FFE174C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16486" y="1383148"/>
            <a:ext cx="5236029" cy="5190069"/>
          </a:xfrm>
          <a:prstGeom prst="rect">
            <a:avLst/>
          </a:prstGeom>
        </p:spPr>
      </p:pic>
    </p:spTree>
    <p:extLst>
      <p:ext uri="{BB962C8B-B14F-4D97-AF65-F5344CB8AC3E}">
        <p14:creationId xmlns:p14="http://schemas.microsoft.com/office/powerpoint/2010/main" val="17693260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Τίτλος 9"/>
          <p:cNvSpPr>
            <a:spLocks noGrp="1"/>
          </p:cNvSpPr>
          <p:nvPr>
            <p:ph type="title"/>
          </p:nvPr>
        </p:nvSpPr>
        <p:spPr>
          <a:xfrm>
            <a:off x="521208" y="968473"/>
            <a:ext cx="7624288" cy="1207799"/>
          </a:xfrm>
        </p:spPr>
        <p:txBody>
          <a:bodyPr rtlCol="0">
            <a:normAutofit/>
          </a:bodyPr>
          <a:lstStyle/>
          <a:p>
            <a:pPr rtl="0"/>
            <a:r>
              <a:rPr lang="el-GR" dirty="0">
                <a:latin typeface="Segoe UI Light" panose="020B0502040204020203" pitchFamily="34" charset="0"/>
                <a:cs typeface="Segoe UI Light" panose="020B0502040204020203" pitchFamily="34" charset="0"/>
              </a:rPr>
              <a:t>Ευχαριστούμε για την προσοχή σας.</a:t>
            </a:r>
          </a:p>
        </p:txBody>
      </p:sp>
      <p:sp>
        <p:nvSpPr>
          <p:cNvPr id="5" name="Θέση περιεχομένου 4"/>
          <p:cNvSpPr>
            <a:spLocks noGrp="1"/>
          </p:cNvSpPr>
          <p:nvPr>
            <p:ph sz="half" idx="4294967295"/>
          </p:nvPr>
        </p:nvSpPr>
        <p:spPr>
          <a:xfrm>
            <a:off x="541611" y="2614427"/>
            <a:ext cx="11168608" cy="3978275"/>
          </a:xfrm>
        </p:spPr>
        <p:txBody>
          <a:bodyPr rtlCol="0">
            <a:normAutofit/>
          </a:bodyPr>
          <a:lstStyle/>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p:txBody>
      </p:sp>
      <p:sp>
        <p:nvSpPr>
          <p:cNvPr id="9" name="Πλαίσιο κειμένου 8"/>
          <p:cNvSpPr txBox="1"/>
          <p:nvPr/>
        </p:nvSpPr>
        <p:spPr>
          <a:xfrm>
            <a:off x="541611" y="4187585"/>
            <a:ext cx="6855885" cy="400110"/>
          </a:xfrm>
          <a:prstGeom prst="rect">
            <a:avLst/>
          </a:prstGeom>
          <a:noFill/>
        </p:spPr>
        <p:txBody>
          <a:bodyPr wrap="square" rtlCol="0">
            <a:spAutoFit/>
          </a:bodyPr>
          <a:lstStyle/>
          <a:p>
            <a:pPr algn="l" rtl="0"/>
            <a:r>
              <a:rPr lang="el-GR" sz="2000" dirty="0">
                <a:latin typeface="Segoe UI Light" panose="020B0502040204020203" pitchFamily="34" charset="0"/>
                <a:cs typeface="Segoe UI Light" panose="020B0502040204020203" pitchFamily="34" charset="0"/>
              </a:rPr>
              <a:t>Είμαστε διαθέσιμοι για οποιαδήποτε απορία σας. </a:t>
            </a:r>
          </a:p>
        </p:txBody>
      </p:sp>
    </p:spTree>
    <p:extLst>
      <p:ext uri="{BB962C8B-B14F-4D97-AF65-F5344CB8AC3E}">
        <p14:creationId xmlns:p14="http://schemas.microsoft.com/office/powerpoint/2010/main" val="89302588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15684342_TF10001108" id="{DBFF3AF7-5888-433F-AD38-299F70BCE26A}" vid="{65FC6890-4B6D-44B3-978B-79AC4729D2FE}"/>
    </a:ext>
  </a:extLst>
</a:theme>
</file>

<file path=ppt/theme/theme2.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Καλώς ορίσατε στο PowerPoint</Template>
  <TotalTime>285</TotalTime>
  <Words>895</Words>
  <Application>Microsoft Office PowerPoint</Application>
  <PresentationFormat>Widescreen</PresentationFormat>
  <Paragraphs>100</Paragraphs>
  <Slides>11</Slides>
  <Notes>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Arial</vt:lpstr>
      <vt:lpstr>Calibri</vt:lpstr>
      <vt:lpstr>Segoe UI</vt:lpstr>
      <vt:lpstr>Segoe UI Light</vt:lpstr>
      <vt:lpstr>Segoe UI Semibold</vt:lpstr>
      <vt:lpstr>Wingdings</vt:lpstr>
      <vt:lpstr>WelcomeDoc</vt:lpstr>
      <vt:lpstr>Μηχανική Μάθηση και Αθλητισμός</vt:lpstr>
      <vt:lpstr>Η ορολογία «Machine Learning»</vt:lpstr>
      <vt:lpstr>-Εφαρμογή Αισθητήρα “MetawearC” στο Ποδόσφαιρο.</vt:lpstr>
      <vt:lpstr>Αποτελέσματα</vt:lpstr>
      <vt:lpstr>PowerPoint Presentation</vt:lpstr>
      <vt:lpstr>Πρόβλεψη ποδοσφαιρικού αποτελέσματος με τη χρήση Μηχανικής Μάθησης –Γενικά χαρακτηριστικά της εφαρμογής</vt:lpstr>
      <vt:lpstr>Πρόβλεψη ποδοσφαιρικού αποτελέσματος με τη χρήση Μηχανικής Μάθησης – Ανάλυση αποτελεσμάτων</vt:lpstr>
      <vt:lpstr>-Μηχανική Μάθηση στο NBA</vt:lpstr>
      <vt:lpstr>Αποκτήστε την εμπειρία των ειδικών με το πλαίσιο "Πείτε μου"</vt:lpstr>
      <vt:lpstr>Εξερεύνηση χωρίς κλείσιμο των διαφανειών</vt:lpstr>
      <vt:lpstr>Ευχαριστούμε για την προσοχή σας.</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Μηχανική Μάθηση και Αθλητισμός</dc:title>
  <dc:creator>dell</dc:creator>
  <cp:keywords/>
  <cp:lastModifiedBy>Nikos Bampis</cp:lastModifiedBy>
  <cp:revision>30</cp:revision>
  <dcterms:created xsi:type="dcterms:W3CDTF">2018-12-01T09:08:18Z</dcterms:created>
  <dcterms:modified xsi:type="dcterms:W3CDTF">2018-12-05T22:58:20Z</dcterms:modified>
  <cp:version/>
</cp:coreProperties>
</file>