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handoutMasterIdLst>
    <p:handoutMasterId r:id="rId12"/>
  </p:handoutMasterIdLst>
  <p:sldIdLst>
    <p:sldId id="256" r:id="rId2"/>
    <p:sldId id="271" r:id="rId3"/>
    <p:sldId id="279" r:id="rId4"/>
    <p:sldId id="281" r:id="rId5"/>
    <p:sldId id="280" r:id="rId6"/>
    <p:sldId id="257" r:id="rId7"/>
    <p:sldId id="275" r:id="rId8"/>
    <p:sldId id="276" r:id="rId9"/>
    <p:sldId id="282" r:id="rId10"/>
  </p:sldIdLst>
  <p:sldSz cx="12192000" cy="6858000"/>
  <p:notesSz cx="6858000" cy="9144000"/>
  <p:defaultTextStyle>
    <a:defPPr rtl="0"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Καλώς ορίσατε" id="{E75E278A-FF0E-49A4-B170-79828D63BBAD}">
          <p14:sldIdLst>
            <p14:sldId id="256"/>
          </p14:sldIdLst>
        </p14:section>
        <p14:section name="Σχεδίαση, Μεταμόρφωση, Σχολιασμός, Συνεργασία, Πείτε μου" id="{B9B51309-D148-4332-87C2-07BE32FBCA3B}">
          <p14:sldIdLst>
            <p14:sldId id="271"/>
            <p14:sldId id="279"/>
            <p14:sldId id="281"/>
            <p14:sldId id="280"/>
            <p14:sldId id="257"/>
            <p14:sldId id="275"/>
            <p14:sldId id="276"/>
          </p14:sldIdLst>
        </p14:section>
        <p14:section name="Μάθετε περισσότερα" id="{2CC34DB2-6590-42C0-AD4B-A04C6060184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  <p:cmAuthor id="3" name="dell" initials="d" lastIdx="1" clrIdx="2">
    <p:extLst>
      <p:ext uri="{19B8F6BF-5375-455C-9EA6-DF929625EA0E}">
        <p15:presenceInfo xmlns:p15="http://schemas.microsoft.com/office/powerpoint/2012/main" userId="dell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404040"/>
    <a:srgbClr val="FF9B45"/>
    <a:srgbClr val="DD462F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214" autoAdjust="0"/>
  </p:normalViewPr>
  <p:slideViewPr>
    <p:cSldViewPr snapToGrid="0">
      <p:cViewPr varScale="1">
        <p:scale>
          <a:sx n="84" d="100"/>
          <a:sy n="84" d="100"/>
        </p:scale>
        <p:origin x="114" y="22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2826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0A3599D-F7E3-4649-B859-D4940257D38C}" type="datetime1">
              <a:rPr lang="el-GR" smtClean="0"/>
              <a:t>1/12/2018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B3D094AE-4861-4AAD-8067-7B835847F302}" type="datetime1">
              <a:rPr lang="el-GR" noProof="0" smtClean="0"/>
              <a:t>1/12/2018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Στυλ υποδείγματος κειμένου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49775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l-GR" smtClean="0"/>
              <a:t>3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873392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l-GR" smtClean="0"/>
              <a:t>4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5215945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l-GR" smtClean="0"/>
              <a:t>5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973883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l-GR" smtClean="0"/>
              <a:t>6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4213146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l-GR" smtClean="0"/>
              <a:t>7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829598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l-GR" smtClean="0"/>
              <a:t>8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5079949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el-GR" dirty="0"/>
              <a:t>Σε λειτουργία προβολής παρουσίασης, επιλέξτε τα βέλη για να επισκεφθείτε συνδέσεις.</a:t>
            </a:r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l-GR" smtClean="0"/>
              <a:t>9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421780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Ορθογώνιο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sz="1800" noProof="0" dirty="0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el-GR" sz="1800" noProof="0" dirty="0"/>
          </a:p>
        </p:txBody>
      </p:sp>
      <p:cxnSp>
        <p:nvCxnSpPr>
          <p:cNvPr id="12" name="Ευθεία γραμμή σύνδεσης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Τίτλος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068135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quarter" idx="10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l-GR" noProof="0"/>
              <a:t>Επεξεργασία στυλ υποδείγματος κειμένου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l-GR" noProof="0"/>
              <a:t>Δεύτερου επιπέδου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l-GR" noProof="0"/>
              <a:t>Τρίτου επιπέδου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l-GR" noProof="0"/>
              <a:t>Τέταρτου επιπέδου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6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368E473F-9E20-4236-857A-0F18234A7730}" type="datetime1">
              <a:rPr lang="el-GR" noProof="0" smtClean="0"/>
              <a:t>1/12/2018</a:t>
            </a:fld>
            <a:endParaRPr lang="el-GR" noProof="0" dirty="0"/>
          </a:p>
        </p:txBody>
      </p:sp>
      <p:sp>
        <p:nvSpPr>
          <p:cNvPr id="7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el-GR" noProof="0" dirty="0"/>
          </a:p>
        </p:txBody>
      </p:sp>
      <p:sp>
        <p:nvSpPr>
          <p:cNvPr id="8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el-GR" noProof="0" smtClean="0"/>
              <a:pPr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sz="1800" noProof="0" dirty="0"/>
          </a:p>
        </p:txBody>
      </p:sp>
      <p:sp>
        <p:nvSpPr>
          <p:cNvPr id="10" name="Ορθογώνιο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sz="1800" noProof="0" dirty="0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521208" y="884902"/>
            <a:ext cx="6876288" cy="1291369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7" name="Θέση περιεχομένου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l-GR" noProof="0"/>
              <a:t>Επεξεργασία στυλ υποδείγματος κειμένου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l-GR" noProof="0"/>
              <a:t>Δεύτερου επιπέδου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l-GR" noProof="0"/>
              <a:t>Τρίτου επιπέδου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l-GR" noProof="0"/>
              <a:t>Τέταρτου επιπέδου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l-GR" noProof="0"/>
              <a:t>Πέμπτου επιπέδου</a:t>
            </a:r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Ορθογώνιο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el-GR" sz="1800" dirty="0"/>
          </a:p>
        </p:txBody>
      </p:sp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10058302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el-GR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l-GR" dirty="0"/>
              <a:t>Επεξεργασία στυλ υποδείγματος κειμένου</a:t>
            </a:r>
          </a:p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el-GR" dirty="0"/>
              <a:t>Δεύτερου επιπέδου</a:t>
            </a:r>
          </a:p>
          <a:p>
            <a:pPr marL="685800" lvl="1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el-GR" dirty="0"/>
              <a:t>Τρίτου επιπέδου</a:t>
            </a:r>
          </a:p>
          <a:p>
            <a:pPr marL="1143000" lvl="2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el-GR" dirty="0"/>
              <a:t>Τέταρτου επιπέδου</a:t>
            </a:r>
          </a:p>
          <a:p>
            <a:pPr marL="1600200" lvl="3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el-GR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577B7329-A8D8-42EA-B94C-D5FD42F8F744}" type="datetime1">
              <a:rPr lang="el-GR" smtClean="0"/>
              <a:t>1/12/2018</a:t>
            </a:fld>
            <a:endParaRPr lang="el-GR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el-GR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el-GR" smtClean="0"/>
              <a:pPr/>
              <a:t>‹#›</a:t>
            </a:fld>
            <a:endParaRPr lang="el-GR" dirty="0"/>
          </a:p>
        </p:txBody>
      </p:sp>
      <p:cxnSp>
        <p:nvCxnSpPr>
          <p:cNvPr id="8" name="Ευθεία γραμμή σύνδεσης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mbientlab.com/product/metawearc" TargetMode="Externa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go.microsoft.com/fwlink/?LinkId=617172" TargetMode="External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hyperlink" Target="https://support.office.com/el-gr/article/%ce%95%ce%ba%cf%80%ce%b1%ce%af%ce%b4%ce%b5%cf%85%cf%83%ce%b7-%cf%83%cf%84%ce%bf-PowerPoint-40e8c930-cb0b-40d8-82c4-bd53d3398787?omkt=el-GR&amp;ui=el-GR&amp;rs=el-GR&amp;ad=G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l-GR" sz="4800" dirty="0">
                <a:solidFill>
                  <a:schemeClr val="bg1"/>
                </a:solidFill>
              </a:rPr>
              <a:t>Μηχανική Μάθηση και Αθλητισμός</a:t>
            </a:r>
          </a:p>
        </p:txBody>
      </p:sp>
      <p:sp>
        <p:nvSpPr>
          <p:cNvPr id="3" name="Υπότιτλος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 fontScale="85000" lnSpcReduction="20000"/>
          </a:bodyPr>
          <a:lstStyle/>
          <a:p>
            <a:pPr marL="0" indent="0" rtl="0">
              <a:buNone/>
            </a:pPr>
            <a:r>
              <a:rPr lang="el-GR" sz="2400" dirty="0">
                <a:solidFill>
                  <a:schemeClr val="bg1"/>
                </a:solidFill>
                <a:latin typeface="+mj-lt"/>
              </a:rPr>
              <a:t>Μαυροπούλου Κυριακή, ΑΕΜ 12</a:t>
            </a:r>
          </a:p>
          <a:p>
            <a:pPr marL="0" indent="0" rtl="0">
              <a:buNone/>
            </a:pPr>
            <a:r>
              <a:rPr lang="el-GR" sz="2400" dirty="0">
                <a:solidFill>
                  <a:schemeClr val="bg1"/>
                </a:solidFill>
                <a:latin typeface="+mj-lt"/>
              </a:rPr>
              <a:t>Μπάμπης Νικόλαος, ΑΕΜ 13</a:t>
            </a:r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5323E79F-2D72-413A-8A58-9C858F1944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9813" y="5485787"/>
            <a:ext cx="2545173" cy="114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578915" cy="640080"/>
          </a:xfrm>
        </p:spPr>
        <p:txBody>
          <a:bodyPr rtlCol="0">
            <a:noAutofit/>
          </a:bodyPr>
          <a:lstStyle/>
          <a:p>
            <a:pPr rtl="0"/>
            <a:r>
              <a:rPr lang="el-GR" dirty="0">
                <a:latin typeface="Segoe UI Light" panose="020B0502040204020203" pitchFamily="34" charset="0"/>
                <a:cs typeface="Segoe UI Light" panose="020B0502040204020203" pitchFamily="34" charset="0"/>
              </a:rPr>
              <a:t>Η ορολογία 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Machine Learning</a:t>
            </a:r>
            <a:endParaRPr lang="el-GR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5" name="Εικόνα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333" y="1385113"/>
            <a:ext cx="8525932" cy="4577621"/>
          </a:xfrm>
          <a:prstGeom prst="rect">
            <a:avLst/>
          </a:prstGeom>
        </p:spPr>
      </p:pic>
      <p:sp>
        <p:nvSpPr>
          <p:cNvPr id="38" name="Θέση περιεχομένου 17"/>
          <p:cNvSpPr txBox="1">
            <a:spLocks/>
          </p:cNvSpPr>
          <p:nvPr/>
        </p:nvSpPr>
        <p:spPr>
          <a:xfrm>
            <a:off x="541610" y="1524708"/>
            <a:ext cx="4321704" cy="38715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rtl="0">
              <a:spcAft>
                <a:spcPts val="600"/>
              </a:spcAft>
              <a:buNone/>
              <a:defRPr/>
            </a:pP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Το Εργαλείο σχεδίασης PowerPoint προτείνει επαγγελματικά σχέδια για την παρουσίασή σας, με βάση το περιεχόμενο των διαφανειών σας. </a:t>
            </a:r>
          </a:p>
          <a:p>
            <a:pPr marL="0" lvl="0" indent="0" rtl="0">
              <a:spcAft>
                <a:spcPts val="600"/>
              </a:spcAft>
              <a:buNone/>
              <a:defRPr/>
            </a:pP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Το Εργαλείο σχεδίασης</a:t>
            </a:r>
            <a:r>
              <a:rPr lang="el-GR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είναι μια δυνατότητα που παρέχεται μόνο με συνδρομή. 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Εάν έχετε μια συνδρομή στο Office 365, η επόμενη διαφάνεια σάς δείχνει πώς λειτουργεί σε μια νέα παρουσίαση.</a:t>
            </a:r>
            <a:endParaRPr lang="el-G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11090690" cy="640080"/>
          </a:xfrm>
        </p:spPr>
        <p:txBody>
          <a:bodyPr rtlCol="0">
            <a:normAutofit/>
          </a:bodyPr>
          <a:lstStyle/>
          <a:p>
            <a:r>
              <a:rPr lang="el-GR" dirty="0">
                <a:latin typeface="Segoe UI Light" panose="020B0502040204020203" pitchFamily="34" charset="0"/>
                <a:cs typeface="Segoe UI Light" panose="020B0502040204020203" pitchFamily="34" charset="0"/>
              </a:rPr>
              <a:t>Εφαρμογή Αισθητήρα 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“MetawearC” </a:t>
            </a:r>
            <a:r>
              <a:rPr lang="el-GR" dirty="0">
                <a:latin typeface="Segoe UI Light" panose="020B0502040204020203" pitchFamily="34" charset="0"/>
                <a:cs typeface="Segoe UI Light" panose="020B0502040204020203" pitchFamily="34" charset="0"/>
              </a:rPr>
              <a:t>στο Ποδόσφαιρο.</a:t>
            </a:r>
          </a:p>
        </p:txBody>
      </p:sp>
      <p:sp>
        <p:nvSpPr>
          <p:cNvPr id="25" name="Θέση περιεχομένου 17"/>
          <p:cNvSpPr txBox="1">
            <a:spLocks/>
          </p:cNvSpPr>
          <p:nvPr/>
        </p:nvSpPr>
        <p:spPr>
          <a:xfrm>
            <a:off x="541609" y="1455491"/>
            <a:ext cx="5110161" cy="4711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spcAft>
                <a:spcPts val="2000"/>
              </a:spcAft>
              <a:buNone/>
            </a:pPr>
            <a:r>
              <a:rPr lang="el-GR" sz="1600" dirty="0">
                <a:latin typeface="Segoe UI" panose="020B0502040204020203" pitchFamily="34" charset="0"/>
                <a:cs typeface="Segoe UI" panose="020B0502040204020203" pitchFamily="34" charset="0"/>
              </a:rPr>
              <a:t>Πώς λειτουργεί:</a:t>
            </a:r>
          </a:p>
        </p:txBody>
      </p:sp>
      <p:sp>
        <p:nvSpPr>
          <p:cNvPr id="21" name="Θέση περιεχομένου 17"/>
          <p:cNvSpPr txBox="1">
            <a:spLocks/>
          </p:cNvSpPr>
          <p:nvPr/>
        </p:nvSpPr>
        <p:spPr>
          <a:xfrm>
            <a:off x="844563" y="2058984"/>
            <a:ext cx="5251437" cy="59655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Επιλογή κατάλληλου αισθητήρα, με χαρακτηριστικά</a:t>
            </a:r>
            <a:r>
              <a:rPr lang="en-US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br>
              <a:rPr lang="en-US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επιταχυνσιόμετρο - γυροσκόπιο.</a:t>
            </a:r>
            <a:endParaRPr lang="el-GR" sz="1400" dirty="0">
              <a:solidFill>
                <a:prstClr val="black">
                  <a:lumMod val="75000"/>
                  <a:lumOff val="25000"/>
                </a:prstClr>
              </a:solidFill>
              <a:cs typeface="Segoe UI"/>
            </a:endParaRPr>
          </a:p>
        </p:txBody>
      </p:sp>
      <p:sp>
        <p:nvSpPr>
          <p:cNvPr id="36" name="Θέση περιεχομένου 17"/>
          <p:cNvSpPr txBox="1">
            <a:spLocks/>
          </p:cNvSpPr>
          <p:nvPr/>
        </p:nvSpPr>
        <p:spPr>
          <a:xfrm>
            <a:off x="852788" y="2707233"/>
            <a:ext cx="5158129" cy="8433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2000"/>
              </a:spcAft>
              <a:buFont typeface="Wingdings" panose="05000000000000000000" pitchFamily="2" charset="2"/>
              <a:buChar char="Ø"/>
              <a:defRPr/>
            </a:pP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Τοποθέτηση αισθητήρα σε ειδικό ποδοσφαιρικό παπούτσι αθλητή</a:t>
            </a:r>
            <a:r>
              <a:rPr lang="en-US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και καταγραφή κίνησης.</a:t>
            </a:r>
            <a:br>
              <a:rPr lang="en-US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b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</a:br>
            <a:endParaRPr lang="el-GR" sz="1400" dirty="0">
              <a:solidFill>
                <a:prstClr val="black">
                  <a:lumMod val="75000"/>
                  <a:lumOff val="25000"/>
                </a:prst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Θέση περιεχομένου 17"/>
          <p:cNvSpPr txBox="1">
            <a:spLocks/>
          </p:cNvSpPr>
          <p:nvPr/>
        </p:nvSpPr>
        <p:spPr>
          <a:xfrm>
            <a:off x="835424" y="3395303"/>
            <a:ext cx="5158129" cy="761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Αποστολή δεδομένων μέσω </a:t>
            </a:r>
            <a:r>
              <a:rPr lang="en-US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cloud</a:t>
            </a: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ή επιλογή </a:t>
            </a:r>
            <a:r>
              <a:rPr lang="en-US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download</a:t>
            </a: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σε μορφή </a:t>
            </a:r>
            <a:r>
              <a:rPr lang="en-US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.csv </a:t>
            </a: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αρχείου</a:t>
            </a:r>
            <a:r>
              <a:rPr lang="en-US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l-GR" sz="1400" dirty="0">
              <a:solidFill>
                <a:prstClr val="black">
                  <a:lumMod val="75000"/>
                  <a:lumOff val="25000"/>
                </a:prstClr>
              </a:solidFill>
              <a:cs typeface="Segoe UI"/>
            </a:endParaRPr>
          </a:p>
        </p:txBody>
      </p:sp>
      <p:sp>
        <p:nvSpPr>
          <p:cNvPr id="40" name="Θέση περιεχομένου 17"/>
          <p:cNvSpPr txBox="1">
            <a:spLocks/>
          </p:cNvSpPr>
          <p:nvPr/>
        </p:nvSpPr>
        <p:spPr>
          <a:xfrm>
            <a:off x="858836" y="4439225"/>
            <a:ext cx="5158129" cy="5635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2000"/>
              </a:spcAft>
              <a:buFont typeface="Wingdings" panose="05000000000000000000" pitchFamily="2" charset="2"/>
              <a:buChar char="Ø"/>
              <a:defRPr/>
            </a:pP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Επιλογή αλγορίθμου (</a:t>
            </a:r>
            <a:r>
              <a:rPr lang="en-US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k-Nearest-Neighbor Classifier</a:t>
            </a: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 για την ανάλυση των δεδομένων και εξαγωγή προβλέψεων.</a:t>
            </a:r>
          </a:p>
        </p:txBody>
      </p:sp>
      <p:sp>
        <p:nvSpPr>
          <p:cNvPr id="46" name="Θέση περιεχομένου 17">
            <a:extLst>
              <a:ext uri="{FF2B5EF4-FFF2-40B4-BE49-F238E27FC236}">
                <a16:creationId xmlns:a16="http://schemas.microsoft.com/office/drawing/2014/main" id="{0CABEA57-7AA8-485B-9F05-DBF59718FF4B}"/>
              </a:ext>
            </a:extLst>
          </p:cNvPr>
          <p:cNvSpPr txBox="1">
            <a:spLocks/>
          </p:cNvSpPr>
          <p:nvPr/>
        </p:nvSpPr>
        <p:spPr>
          <a:xfrm>
            <a:off x="847130" y="3994925"/>
            <a:ext cx="5158129" cy="563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2000"/>
              </a:spcAft>
              <a:buFont typeface="Wingdings" panose="05000000000000000000" pitchFamily="2" charset="2"/>
              <a:buChar char="Ø"/>
              <a:defRPr/>
            </a:pP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Οπτικοποίηση δεδομένων και καθαρισμός αυτών.</a:t>
            </a:r>
          </a:p>
        </p:txBody>
      </p:sp>
      <p:sp>
        <p:nvSpPr>
          <p:cNvPr id="53" name="Θέση περιεχομένου 17">
            <a:extLst>
              <a:ext uri="{FF2B5EF4-FFF2-40B4-BE49-F238E27FC236}">
                <a16:creationId xmlns:a16="http://schemas.microsoft.com/office/drawing/2014/main" id="{0E6F1AA5-272C-4B14-AFA1-8ED97936F403}"/>
              </a:ext>
            </a:extLst>
          </p:cNvPr>
          <p:cNvSpPr txBox="1">
            <a:spLocks/>
          </p:cNvSpPr>
          <p:nvPr/>
        </p:nvSpPr>
        <p:spPr>
          <a:xfrm>
            <a:off x="858836" y="5173052"/>
            <a:ext cx="5158129" cy="563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2000"/>
              </a:spcAft>
              <a:buFont typeface="Wingdings" panose="05000000000000000000" pitchFamily="2" charset="2"/>
              <a:buChar char="Ø"/>
              <a:defRPr/>
            </a:pP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Διαχωρισμός δεδομένων σε </a:t>
            </a:r>
            <a:r>
              <a:rPr lang="en-US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set </a:t>
            </a: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και </a:t>
            </a:r>
            <a:r>
              <a:rPr lang="en-US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test set.</a:t>
            </a: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sp>
        <p:nvSpPr>
          <p:cNvPr id="54" name="Θέση περιεχομένου 17">
            <a:extLst>
              <a:ext uri="{FF2B5EF4-FFF2-40B4-BE49-F238E27FC236}">
                <a16:creationId xmlns:a16="http://schemas.microsoft.com/office/drawing/2014/main" id="{03D776C9-C777-4EDB-8F88-BA8E68F11901}"/>
              </a:ext>
            </a:extLst>
          </p:cNvPr>
          <p:cNvSpPr txBox="1">
            <a:spLocks/>
          </p:cNvSpPr>
          <p:nvPr/>
        </p:nvSpPr>
        <p:spPr>
          <a:xfrm>
            <a:off x="844563" y="5625110"/>
            <a:ext cx="5158129" cy="563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2000"/>
              </a:spcAft>
              <a:buFont typeface="Wingdings" panose="05000000000000000000" pitchFamily="2" charset="2"/>
              <a:buChar char="Ø"/>
              <a:defRPr/>
            </a:pPr>
            <a:r>
              <a:rPr lang="el-GR" sz="14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Πρόβλεψη για το αν υπάρχει επαφή με την μπάλα ή όχι. </a:t>
            </a: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06DBD0A2-8165-43C1-9594-F0CF98B807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1258" y="1411693"/>
            <a:ext cx="3711906" cy="248768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F054A5A8-D269-4013-8822-B6DC123FC6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698" y="4635450"/>
            <a:ext cx="4467849" cy="173379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1" name="Θέση περιεχομένου 17">
            <a:extLst>
              <a:ext uri="{FF2B5EF4-FFF2-40B4-BE49-F238E27FC236}">
                <a16:creationId xmlns:a16="http://schemas.microsoft.com/office/drawing/2014/main" id="{F4410B6A-F3CC-481C-B565-48E91FD67D90}"/>
              </a:ext>
            </a:extLst>
          </p:cNvPr>
          <p:cNvSpPr txBox="1">
            <a:spLocks/>
          </p:cNvSpPr>
          <p:nvPr/>
        </p:nvSpPr>
        <p:spPr>
          <a:xfrm>
            <a:off x="7758971" y="3946778"/>
            <a:ext cx="3688494" cy="6590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Αισθητήρας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MetawearC</a:t>
            </a: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 της εταιρείας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MbientLab</a:t>
            </a: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b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  <a:hlinkClick r:id="rId5"/>
              </a:rPr>
              <a:t>https://mbientlab.com/product/metawearc </a:t>
            </a:r>
            <a:endParaRPr lang="el-GR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Θέση περιεχομένου 17">
            <a:extLst>
              <a:ext uri="{FF2B5EF4-FFF2-40B4-BE49-F238E27FC236}">
                <a16:creationId xmlns:a16="http://schemas.microsoft.com/office/drawing/2014/main" id="{8CFA6769-5F8F-47F8-9E9D-4CBCC41B93F0}"/>
              </a:ext>
            </a:extLst>
          </p:cNvPr>
          <p:cNvSpPr txBox="1">
            <a:spLocks/>
          </p:cNvSpPr>
          <p:nvPr/>
        </p:nvSpPr>
        <p:spPr>
          <a:xfrm>
            <a:off x="7333279" y="6386851"/>
            <a:ext cx="5110161" cy="4711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spcAft>
                <a:spcPts val="2000"/>
              </a:spcAft>
              <a:buNone/>
            </a:pP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Δεδομένα που εξάγονται από τον αισθητήρα σε μορφή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.csv</a:t>
            </a: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 . </a:t>
            </a:r>
          </a:p>
        </p:txBody>
      </p:sp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Τίτλος 2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dirty="0">
                <a:latin typeface="Segoe UI Light" panose="020B0502040204020203" pitchFamily="34" charset="0"/>
                <a:cs typeface="Segoe UI Light" panose="020B0502040204020203" pitchFamily="34" charset="0"/>
              </a:rPr>
              <a:t>Μεταμόρφωση</a:t>
            </a:r>
          </a:p>
        </p:txBody>
      </p:sp>
      <p:pic>
        <p:nvPicPr>
          <p:cNvPr id="2" name="media1">
            <a:hlinkClick r:id="" action="ppaction://media"/>
            <a:extLst>
              <a:ext uri="{FF2B5EF4-FFF2-40B4-BE49-F238E27FC236}">
                <a16:creationId xmlns:a16="http://schemas.microsoft.com/office/drawing/2014/main" id="{F930D87C-C7E5-4D63-8E81-062EA958AD1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18759" y="1543747"/>
            <a:ext cx="6110288" cy="3438380"/>
          </a:xfrm>
          <a:prstGeom prst="rect">
            <a:avLst/>
          </a:prstGeom>
        </p:spPr>
      </p:pic>
      <p:sp>
        <p:nvSpPr>
          <p:cNvPr id="5" name="Θέση περιεχομένου 4"/>
          <p:cNvSpPr>
            <a:spLocks noGrp="1"/>
          </p:cNvSpPr>
          <p:nvPr>
            <p:ph sz="half" idx="4294967295"/>
          </p:nvPr>
        </p:nvSpPr>
        <p:spPr>
          <a:xfrm>
            <a:off x="541610" y="1431010"/>
            <a:ext cx="4557164" cy="479088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rtl="0">
              <a:lnSpc>
                <a:spcPts val="1800"/>
              </a:lnSpc>
              <a:spcBef>
                <a:spcPts val="1000"/>
              </a:spcBef>
              <a:spcAft>
                <a:spcPts val="600"/>
              </a:spcAft>
              <a:buNone/>
            </a:pPr>
            <a:r>
              <a:rPr lang="el-GR" sz="12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Η δυνατότητα "Μεταμόρφωση" δημιουργεί ομαλά εφέ κίνησης και μετακινήσεις αντικειμένων στην παρουσίασή σας. Χρησιμοποιείτε δύο παρόμοιες διαφάνειες, για να δημιουργήσετε το εφέ κίνησης, αλλά το ακροατήριό σας νομίζει ότι η ενέργεια συμβαίνει σε μια διαφάνεια. </a:t>
            </a:r>
          </a:p>
          <a:p>
            <a:pPr>
              <a:lnSpc>
                <a:spcPts val="1800"/>
              </a:lnSpc>
              <a:spcAft>
                <a:spcPts val="600"/>
              </a:spcAft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Πατήστε για</a:t>
            </a:r>
            <a:r>
              <a:rPr lang="en-US" b="1" dirty="0">
                <a:solidFill>
                  <a:srgbClr val="D2472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l-GR" b="1" dirty="0">
                <a:solidFill>
                  <a:srgbClr val="D2472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αναπαραγωγή</a:t>
            </a:r>
            <a:r>
              <a:rPr lang="el-GR" sz="12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του βίντεο στη δεξιά πλευρά, για να δείτε ένα γρήγορο παράδειγμα.</a:t>
            </a:r>
          </a:p>
          <a:p>
            <a:pPr marL="0" indent="0" rtl="0">
              <a:lnSpc>
                <a:spcPts val="1800"/>
              </a:lnSpc>
              <a:spcBef>
                <a:spcPts val="1000"/>
              </a:spcBef>
              <a:spcAft>
                <a:spcPts val="600"/>
              </a:spcAft>
              <a:buNone/>
            </a:pPr>
            <a:r>
              <a:rPr lang="el-GR" sz="12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Η Μεταμόρφωση είναι μια δυνατότητα που παρέχεται μόνο με συνδρομή. Εάν έχετε μια συνδρομή στο Office 365, μπορείτε να τη δοκιμάσετε και εσείς με τα βήματα που παρέχονται στην επόμενη διαφάνεια:</a:t>
            </a:r>
          </a:p>
          <a:p>
            <a:pPr marL="0" indent="0" rtl="0">
              <a:lnSpc>
                <a:spcPts val="1800"/>
              </a:lnSpc>
              <a:spcBef>
                <a:spcPts val="1000"/>
              </a:spcBef>
              <a:spcAft>
                <a:spcPts val="600"/>
              </a:spcAft>
              <a:buNone/>
            </a:pPr>
            <a:endParaRPr lang="el-GR" sz="1200" dirty="0">
              <a:solidFill>
                <a:prstClr val="black">
                  <a:lumMod val="75000"/>
                  <a:lumOff val="25000"/>
                </a:prst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8036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Τίτλος 2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dirty="0"/>
              <a:t>Ρύθμιση της </a:t>
            </a:r>
            <a:r>
              <a:rPr lang="el-GR" dirty="0">
                <a:latin typeface="Segoe UI Light" panose="020B0502040204020203" pitchFamily="34" charset="0"/>
                <a:cs typeface="Segoe UI Light" panose="020B0502040204020203" pitchFamily="34" charset="0"/>
              </a:rPr>
              <a:t>Μεταμόρφωσης</a:t>
            </a:r>
          </a:p>
        </p:txBody>
      </p:sp>
      <p:sp>
        <p:nvSpPr>
          <p:cNvPr id="30" name="Θέση περιεχομένου 17"/>
          <p:cNvSpPr txBox="1">
            <a:spLocks/>
          </p:cNvSpPr>
          <p:nvPr/>
        </p:nvSpPr>
        <p:spPr>
          <a:xfrm>
            <a:off x="541609" y="1455491"/>
            <a:ext cx="5110161" cy="4711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spcAft>
                <a:spcPts val="2000"/>
              </a:spcAft>
              <a:buNone/>
            </a:pPr>
            <a:r>
              <a:rPr lang="el-GR" dirty="0"/>
              <a:t>Δοκιμάστε τη μόνοι σας με αυτούς τους δύο απλούς πλανήτες:</a:t>
            </a:r>
          </a:p>
        </p:txBody>
      </p:sp>
      <p:grpSp>
        <p:nvGrpSpPr>
          <p:cNvPr id="13" name="Ομάδα 12" descr="Μικρός κύκλος με τον αριθμό 1 που υποδεικνύει το βήμα 1"/>
          <p:cNvGrpSpPr/>
          <p:nvPr/>
        </p:nvGrpSpPr>
        <p:grpSpPr bwMode="blackWhite">
          <a:xfrm>
            <a:off x="558723" y="1917997"/>
            <a:ext cx="558179" cy="409838"/>
            <a:chOff x="6953426" y="711274"/>
            <a:chExt cx="558179" cy="409838"/>
          </a:xfrm>
        </p:grpSpPr>
        <p:sp>
          <p:nvSpPr>
            <p:cNvPr id="14" name="Έλλειψη 13" descr="Μικρός κύκλος"/>
            <p:cNvSpPr/>
            <p:nvPr/>
          </p:nvSpPr>
          <p:spPr bwMode="blackWhite"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l-GR" dirty="0"/>
            </a:p>
          </p:txBody>
        </p:sp>
        <p:sp>
          <p:nvSpPr>
            <p:cNvPr id="15" name="Πλαίσιο κειμένου 14" descr="Αριθμός 1"/>
            <p:cNvSpPr txBox="1">
              <a:spLocks noChangeAspect="1"/>
            </p:cNvSpPr>
            <p:nvPr/>
          </p:nvSpPr>
          <p:spPr bwMode="blackWhite"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l-GR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1</a:t>
              </a:r>
            </a:p>
          </p:txBody>
        </p:sp>
      </p:grpSp>
      <p:sp>
        <p:nvSpPr>
          <p:cNvPr id="16" name="Θέση περιεχομένου 17"/>
          <p:cNvSpPr txBox="1">
            <a:spLocks/>
          </p:cNvSpPr>
          <p:nvPr/>
        </p:nvSpPr>
        <p:spPr>
          <a:xfrm>
            <a:off x="1066037" y="1958189"/>
            <a:ext cx="3296574" cy="8384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spcAft>
                <a:spcPts val="2000"/>
              </a:spcAft>
              <a:buNone/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Κάντε αναπαραγωγή αυτής της διαφάνειας: Κάντε δεξί κλικ στη μικρογραφία της διαφάνειας και επιλέξτε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 </a:t>
            </a:r>
            <a:r>
              <a:rPr lang="el-GR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Αναπαραγωγή διαφάνειας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2" name="Εικόνα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434" y="1715748"/>
            <a:ext cx="1460399" cy="1778890"/>
          </a:xfrm>
          <a:prstGeom prst="rect">
            <a:avLst/>
          </a:prstGeom>
        </p:spPr>
      </p:pic>
      <p:grpSp>
        <p:nvGrpSpPr>
          <p:cNvPr id="18" name="Ομάδα 17" descr="Μικρός κύκλος με τον αριθμό 2 που υποδεικνύει το βήμα 2"/>
          <p:cNvGrpSpPr/>
          <p:nvPr/>
        </p:nvGrpSpPr>
        <p:grpSpPr bwMode="blackWhite">
          <a:xfrm>
            <a:off x="558723" y="2778751"/>
            <a:ext cx="558179" cy="409838"/>
            <a:chOff x="6953426" y="711274"/>
            <a:chExt cx="558179" cy="409838"/>
          </a:xfrm>
        </p:grpSpPr>
        <p:sp>
          <p:nvSpPr>
            <p:cNvPr id="23" name="Έλλειψη 22" descr="Μικρός κύκλος"/>
            <p:cNvSpPr/>
            <p:nvPr/>
          </p:nvSpPr>
          <p:spPr bwMode="blackWhite"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l-GR" dirty="0"/>
            </a:p>
          </p:txBody>
        </p:sp>
        <p:sp>
          <p:nvSpPr>
            <p:cNvPr id="24" name="Πλαίσιο κειμένου 23" descr="Αριθμός 2"/>
            <p:cNvSpPr txBox="1">
              <a:spLocks noChangeAspect="1"/>
            </p:cNvSpPr>
            <p:nvPr/>
          </p:nvSpPr>
          <p:spPr bwMode="blackWhite"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l-GR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2</a:t>
              </a:r>
            </a:p>
          </p:txBody>
        </p:sp>
      </p:grpSp>
      <p:sp>
        <p:nvSpPr>
          <p:cNvPr id="25" name="Θέση περιεχομένου 17"/>
          <p:cNvSpPr txBox="1">
            <a:spLocks/>
          </p:cNvSpPr>
          <p:nvPr/>
        </p:nvSpPr>
        <p:spPr>
          <a:xfrm>
            <a:off x="1066038" y="2818942"/>
            <a:ext cx="2651153" cy="15170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spcAft>
                <a:spcPts val="2000"/>
              </a:spcAft>
              <a:buNone/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Στη δεύτερη από αυτές τις δύο πανομοιότυπες διαφάνειες, αλλάξτε τα σχήματα στα δεξιά με κάποιον τρόπο (μετακίνηση, αλλαγή μεγέθους, αλλαγή χρώματος) και, στη συνέχεια, επιλέξτε </a:t>
            </a:r>
            <a:r>
              <a:rPr lang="el-GR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Μεταβάσεις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 &gt; </a:t>
            </a:r>
            <a:r>
              <a:rPr lang="el-GR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Μεταμόρφωση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6" name="Εικόνα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896" y="3217634"/>
            <a:ext cx="2468760" cy="1069872"/>
          </a:xfrm>
          <a:prstGeom prst="rect">
            <a:avLst/>
          </a:prstGeom>
        </p:spPr>
      </p:pic>
      <p:grpSp>
        <p:nvGrpSpPr>
          <p:cNvPr id="26" name="Ομάδα 25" descr="Μικρός κύκλος με τον αριθμό 3 που υποδεικνύει το βήμα 3"/>
          <p:cNvGrpSpPr/>
          <p:nvPr/>
        </p:nvGrpSpPr>
        <p:grpSpPr bwMode="blackWhite">
          <a:xfrm>
            <a:off x="557319" y="4344232"/>
            <a:ext cx="558179" cy="409838"/>
            <a:chOff x="6953426" y="711274"/>
            <a:chExt cx="558179" cy="409838"/>
          </a:xfrm>
        </p:grpSpPr>
        <p:sp>
          <p:nvSpPr>
            <p:cNvPr id="27" name="Έλλειψη 26" descr="Μικρός κύκλος"/>
            <p:cNvSpPr/>
            <p:nvPr/>
          </p:nvSpPr>
          <p:spPr bwMode="blackWhite"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l-GR" dirty="0"/>
            </a:p>
          </p:txBody>
        </p:sp>
        <p:sp>
          <p:nvSpPr>
            <p:cNvPr id="28" name="Πλαίσιο κειμένου 27" descr="Αριθμός 3"/>
            <p:cNvSpPr txBox="1">
              <a:spLocks noChangeAspect="1"/>
            </p:cNvSpPr>
            <p:nvPr/>
          </p:nvSpPr>
          <p:spPr bwMode="blackWhite"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l-GR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3</a:t>
              </a:r>
            </a:p>
          </p:txBody>
        </p:sp>
      </p:grpSp>
      <p:sp>
        <p:nvSpPr>
          <p:cNvPr id="29" name="Θέση περιεχομένου 17"/>
          <p:cNvSpPr txBox="1">
            <a:spLocks/>
          </p:cNvSpPr>
          <p:nvPr/>
        </p:nvSpPr>
        <p:spPr>
          <a:xfrm>
            <a:off x="1076798" y="4360522"/>
            <a:ext cx="2838937" cy="142328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spcAft>
                <a:spcPts val="2000"/>
              </a:spcAft>
              <a:buNone/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Επιστρέψτε στην πρώτη από τις δύο διαφάνειες, πατήστε το κουμπί </a:t>
            </a:r>
            <a:r>
              <a:rPr lang="el-GR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Προβολή παρουσίασης 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και, στη συνέχεια, επιλέξτε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</a:rPr>
              <a:t> </a:t>
            </a:r>
            <a:r>
              <a:rPr lang="el-GR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Αναπαραγωγή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</a:rPr>
              <a:t> 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για να δείτε τον κύκλο σας να μεταμορφώνεται!</a:t>
            </a:r>
          </a:p>
        </p:txBody>
      </p:sp>
      <p:pic>
        <p:nvPicPr>
          <p:cNvPr id="5" name="Εικόνα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5735" y="4344232"/>
            <a:ext cx="2134319" cy="887083"/>
          </a:xfrm>
          <a:prstGeom prst="rect">
            <a:avLst/>
          </a:prstGeom>
        </p:spPr>
      </p:pic>
      <p:sp>
        <p:nvSpPr>
          <p:cNvPr id="17" name="Θέση περιεχομένου 17"/>
          <p:cNvSpPr txBox="1">
            <a:spLocks/>
          </p:cNvSpPr>
          <p:nvPr/>
        </p:nvSpPr>
        <p:spPr>
          <a:xfrm>
            <a:off x="628962" y="5832234"/>
            <a:ext cx="4238006" cy="6929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spcAft>
                <a:spcPts val="2000"/>
              </a:spcAft>
              <a:buNone/>
            </a:pPr>
            <a:r>
              <a:rPr lang="el-GR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Συμβουλή: 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</a:rPr>
              <a:t>Οι </a:t>
            </a:r>
            <a:r>
              <a:rPr lang="el-GR" dirty="0">
                <a:solidFill>
                  <a:srgbClr val="40404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Επιλογές εφέ 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σάς παρέχουν ακόμη περισσότερες επιλογές για τη 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Μεταμόρφωση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</a:rPr>
              <a:t>.</a:t>
            </a:r>
          </a:p>
        </p:txBody>
      </p:sp>
      <p:cxnSp>
        <p:nvCxnSpPr>
          <p:cNvPr id="20" name="Ευθεία γραμμή σύνδεσης 19" descr="Ανοιχτή γκρι γραμμή που διαχωρίζει κείμενο και εικόνες για μεταμόρφωση"/>
          <p:cNvCxnSpPr/>
          <p:nvPr/>
        </p:nvCxnSpPr>
        <p:spPr>
          <a:xfrm>
            <a:off x="6296866" y="1472431"/>
            <a:ext cx="0" cy="4892634"/>
          </a:xfrm>
          <a:prstGeom prst="line">
            <a:avLst/>
          </a:prstGeom>
          <a:ln w="952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Έλλειψη 9" descr="Μεγάλος, μπλε κύκλος με ένα μικρό ανοιχτό μπλε κύκλο μέσα του"/>
          <p:cNvSpPr/>
          <p:nvPr/>
        </p:nvSpPr>
        <p:spPr>
          <a:xfrm>
            <a:off x="7236525" y="1944862"/>
            <a:ext cx="3827244" cy="3743233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l-GR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" name="Έλλειψη 10" descr="Μικρός ανοιχτός μπλε κύκλος μέσα σε μεγάλο σκούρο μπλε κύκλο"/>
          <p:cNvSpPr/>
          <p:nvPr/>
        </p:nvSpPr>
        <p:spPr bwMode="ltGray">
          <a:xfrm>
            <a:off x="8086223" y="2796642"/>
            <a:ext cx="2148929" cy="210175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l-GR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596833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lvl="0" rtl="0"/>
            <a:r>
              <a:rPr lang="el-GR" dirty="0">
                <a:latin typeface="Segoe UI Light" panose="020B0502040204020203" pitchFamily="34" charset="0"/>
                <a:cs typeface="Segoe UI Light" panose="020B0502040204020203" pitchFamily="34" charset="0"/>
              </a:rPr>
              <a:t>Συνεργασία σε πραγματικό χρόνο</a:t>
            </a:r>
          </a:p>
        </p:txBody>
      </p:sp>
      <p:sp>
        <p:nvSpPr>
          <p:cNvPr id="5" name="Θέση περιεχομένου 4"/>
          <p:cNvSpPr>
            <a:spLocks noGrp="1"/>
          </p:cNvSpPr>
          <p:nvPr>
            <p:ph sz="half" idx="4294967295"/>
          </p:nvPr>
        </p:nvSpPr>
        <p:spPr>
          <a:xfrm>
            <a:off x="541610" y="1431010"/>
            <a:ext cx="5770699" cy="3978275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rtl="0">
              <a:lnSpc>
                <a:spcPts val="1800"/>
              </a:lnSpc>
              <a:spcBef>
                <a:spcPts val="1000"/>
              </a:spcBef>
              <a:spcAft>
                <a:spcPts val="2000"/>
              </a:spcAft>
              <a:buNone/>
            </a:pPr>
            <a:r>
              <a:rPr lang="el-GR" sz="12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Όταν κάνετε κοινή χρήση της παρουσίασής σας με άλλους χρήστες, θα τους βλέπετε να εργάζονται μαζί σας την ίδια στιγμή. </a:t>
            </a:r>
            <a:br>
              <a:rPr lang="el-GR" sz="12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br>
              <a:rPr lang="el-GR" sz="12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l-GR" sz="12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Πώς λειτουργεί:</a:t>
            </a:r>
          </a:p>
        </p:txBody>
      </p:sp>
      <p:pic>
        <p:nvPicPr>
          <p:cNvPr id="11" name="Εικόνα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984" y="2425111"/>
            <a:ext cx="3262550" cy="1475659"/>
          </a:xfrm>
          <a:prstGeom prst="rect">
            <a:avLst/>
          </a:prstGeom>
        </p:spPr>
      </p:pic>
      <p:grpSp>
        <p:nvGrpSpPr>
          <p:cNvPr id="33" name="Ομάδα 32" descr="Μικρός κύκλος με τον αριθμό 1 που υποδεικνύει το βήμα 1"/>
          <p:cNvGrpSpPr/>
          <p:nvPr/>
        </p:nvGrpSpPr>
        <p:grpSpPr bwMode="blackWhite">
          <a:xfrm>
            <a:off x="558723" y="4531632"/>
            <a:ext cx="558179" cy="409838"/>
            <a:chOff x="6953426" y="711274"/>
            <a:chExt cx="558179" cy="409838"/>
          </a:xfrm>
        </p:grpSpPr>
        <p:sp>
          <p:nvSpPr>
            <p:cNvPr id="34" name="Έλλειψη 33" descr="Μικρός κύκλος"/>
            <p:cNvSpPr/>
            <p:nvPr/>
          </p:nvSpPr>
          <p:spPr bwMode="blackWhite"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l-GR" dirty="0"/>
            </a:p>
          </p:txBody>
        </p:sp>
        <p:sp>
          <p:nvSpPr>
            <p:cNvPr id="35" name="Πλαίσιο κειμένου 34" descr="Αριθμός 1"/>
            <p:cNvSpPr txBox="1"/>
            <p:nvPr/>
          </p:nvSpPr>
          <p:spPr bwMode="blackWhite"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l-GR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1</a:t>
              </a:r>
            </a:p>
          </p:txBody>
        </p:sp>
      </p:grpSp>
      <p:sp>
        <p:nvSpPr>
          <p:cNvPr id="42" name="Θέση περιεχομένου 17"/>
          <p:cNvSpPr txBox="1">
            <a:spLocks/>
          </p:cNvSpPr>
          <p:nvPr/>
        </p:nvSpPr>
        <p:spPr>
          <a:xfrm>
            <a:off x="1066039" y="4571824"/>
            <a:ext cx="2696774" cy="1831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Επιλέξτε </a:t>
            </a:r>
            <a:r>
              <a:rPr lang="el-GR" dirty="0">
                <a:solidFill>
                  <a:srgbClr val="D2472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Κοινή χρήση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από την κορδέλα ή χρησιμοποιώντας τον συνδυασμό πλήκτρων </a:t>
            </a:r>
            <a:r>
              <a:rPr lang="el-GR" dirty="0" err="1">
                <a:solidFill>
                  <a:srgbClr val="D2472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Alt</a:t>
            </a:r>
            <a:r>
              <a:rPr lang="el-GR" dirty="0">
                <a:solidFill>
                  <a:srgbClr val="D2472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-Υ</a:t>
            </a:r>
            <a:r>
              <a:rPr lang="en-US" dirty="0">
                <a:solidFill>
                  <a:srgbClr val="D2472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για να προσκαλέσετε άτομα για να εργαστούν μαζί σας. (Μπορείτε να αποθηκεύσετε στο </a:t>
            </a:r>
            <a:r>
              <a:rPr lang="el-GR" dirty="0" err="1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cloud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σε αυτό το σημείο.)</a:t>
            </a:r>
          </a:p>
        </p:txBody>
      </p:sp>
      <p:pic>
        <p:nvPicPr>
          <p:cNvPr id="9" name="Εικόνα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5261" y="2434307"/>
            <a:ext cx="3833874" cy="2512927"/>
          </a:xfrm>
          <a:prstGeom prst="rect">
            <a:avLst/>
          </a:prstGeom>
        </p:spPr>
      </p:pic>
      <p:grpSp>
        <p:nvGrpSpPr>
          <p:cNvPr id="36" name="Ομάδα 35" descr="Μικρός κύκλος με τον αριθμό 2 που υποδεικνύει το βήμα 2"/>
          <p:cNvGrpSpPr/>
          <p:nvPr/>
        </p:nvGrpSpPr>
        <p:grpSpPr bwMode="blackWhite">
          <a:xfrm>
            <a:off x="4249102" y="4531632"/>
            <a:ext cx="558179" cy="409838"/>
            <a:chOff x="6953426" y="711274"/>
            <a:chExt cx="558179" cy="409838"/>
          </a:xfrm>
        </p:grpSpPr>
        <p:sp>
          <p:nvSpPr>
            <p:cNvPr id="37" name="Έλλειψη 36" descr="Μικρός κύκλος"/>
            <p:cNvSpPr/>
            <p:nvPr/>
          </p:nvSpPr>
          <p:spPr bwMode="blackWhite"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l-GR" dirty="0"/>
            </a:p>
          </p:txBody>
        </p:sp>
        <p:sp>
          <p:nvSpPr>
            <p:cNvPr id="38" name="Πλαίσιο κειμένου 37" descr="Αριθμός 2"/>
            <p:cNvSpPr txBox="1"/>
            <p:nvPr/>
          </p:nvSpPr>
          <p:spPr bwMode="blackWhite"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l-GR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2</a:t>
              </a:r>
            </a:p>
          </p:txBody>
        </p:sp>
      </p:grpSp>
      <p:sp>
        <p:nvSpPr>
          <p:cNvPr id="43" name="Θέση περιεχομένου 17"/>
          <p:cNvSpPr txBox="1">
            <a:spLocks/>
          </p:cNvSpPr>
          <p:nvPr/>
        </p:nvSpPr>
        <p:spPr>
          <a:xfrm>
            <a:off x="4747855" y="4571824"/>
            <a:ext cx="3106367" cy="1324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spcAft>
                <a:spcPts val="2000"/>
              </a:spcAft>
              <a:buNone/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Όταν άλλα άτομα βρίσκονται στην παρουσίαση, ένας δείκτης δείχνει ποιος βρίσκεται σε ποια διαφάνεια...</a:t>
            </a:r>
          </a:p>
        </p:txBody>
      </p:sp>
      <p:pic>
        <p:nvPicPr>
          <p:cNvPr id="12" name="Εικόνα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9419" y="2350394"/>
            <a:ext cx="3563782" cy="2305343"/>
          </a:xfrm>
          <a:prstGeom prst="rect">
            <a:avLst/>
          </a:prstGeom>
        </p:spPr>
      </p:pic>
      <p:grpSp>
        <p:nvGrpSpPr>
          <p:cNvPr id="39" name="Ομάδα 38" descr="Μικρός κύκλος με τον αριθμό 3 που υποδεικνύει το βήμα 3"/>
          <p:cNvGrpSpPr/>
          <p:nvPr/>
        </p:nvGrpSpPr>
        <p:grpSpPr bwMode="blackWhite">
          <a:xfrm>
            <a:off x="7930921" y="4531632"/>
            <a:ext cx="558179" cy="409838"/>
            <a:chOff x="6953426" y="711274"/>
            <a:chExt cx="558179" cy="409838"/>
          </a:xfrm>
        </p:grpSpPr>
        <p:sp>
          <p:nvSpPr>
            <p:cNvPr id="40" name="Έλλειψη 39" descr="Μικρός κύκλος"/>
            <p:cNvSpPr/>
            <p:nvPr/>
          </p:nvSpPr>
          <p:spPr bwMode="blackWhite"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l-GR" dirty="0"/>
            </a:p>
          </p:txBody>
        </p:sp>
        <p:sp>
          <p:nvSpPr>
            <p:cNvPr id="41" name="Πλαίσιο κειμένου 40" descr="Αριθμός 3"/>
            <p:cNvSpPr txBox="1"/>
            <p:nvPr/>
          </p:nvSpPr>
          <p:spPr bwMode="blackWhite"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l-GR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3</a:t>
              </a:r>
            </a:p>
          </p:txBody>
        </p:sp>
      </p:grpSp>
      <p:sp>
        <p:nvSpPr>
          <p:cNvPr id="44" name="Θέση περιεχομένου 17"/>
          <p:cNvSpPr txBox="1">
            <a:spLocks/>
          </p:cNvSpPr>
          <p:nvPr/>
        </p:nvSpPr>
        <p:spPr>
          <a:xfrm>
            <a:off x="8429668" y="4571824"/>
            <a:ext cx="2658635" cy="697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spcAft>
                <a:spcPts val="2000"/>
              </a:spcAft>
              <a:buNone/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…και το τμήμα της διαφάνειας που επεξεργάζεται.</a:t>
            </a:r>
          </a:p>
        </p:txBody>
      </p:sp>
    </p:spTree>
    <p:extLst>
      <p:ext uri="{BB962C8B-B14F-4D97-AF65-F5344CB8AC3E}">
        <p14:creationId xmlns:p14="http://schemas.microsoft.com/office/powerpoint/2010/main" val="1328676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Τίτλος 5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67903" cy="640080"/>
          </a:xfrm>
        </p:spPr>
        <p:txBody>
          <a:bodyPr rtlCol="0">
            <a:normAutofit/>
          </a:bodyPr>
          <a:lstStyle/>
          <a:p>
            <a:pPr rtl="0"/>
            <a:r>
              <a:rPr lang="el-GR" dirty="0">
                <a:latin typeface="Segoe UI Light" panose="020B0502040204020203" pitchFamily="34" charset="0"/>
                <a:cs typeface="Segoe UI Light" panose="020B0502040204020203" pitchFamily="34" charset="0"/>
              </a:rPr>
              <a:t>Αποκτήστε την εμπειρία των ειδικών με το πλαίσιο "Πείτε μου"</a:t>
            </a:r>
          </a:p>
        </p:txBody>
      </p:sp>
      <p:sp>
        <p:nvSpPr>
          <p:cNvPr id="38" name="Θέση περιεχομένου 17"/>
          <p:cNvSpPr txBox="1">
            <a:spLocks/>
          </p:cNvSpPr>
          <p:nvPr/>
        </p:nvSpPr>
        <p:spPr>
          <a:xfrm>
            <a:off x="541609" y="1296100"/>
            <a:ext cx="5110161" cy="1236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spcAft>
                <a:spcPts val="2000"/>
              </a:spcAft>
              <a:buNone/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Το πλαίσιο "Πείτε μου" βρίσκει τη σωστή εντολή όταν τη χρειάζεστε, </a:t>
            </a:r>
            <a:b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για να εξοικονομείτε χρόνο και να επικεντρώνεστε στην εργασία σας.</a:t>
            </a:r>
            <a:b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b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Δοκιμάστε το:</a:t>
            </a:r>
          </a:p>
        </p:txBody>
      </p:sp>
      <p:grpSp>
        <p:nvGrpSpPr>
          <p:cNvPr id="4" name="Ομάδα 3" descr="Μικρός κύκλος με τον αριθμό 1 που υποδεικνύει το βήμα 1"/>
          <p:cNvGrpSpPr/>
          <p:nvPr/>
        </p:nvGrpSpPr>
        <p:grpSpPr bwMode="blackWhite">
          <a:xfrm>
            <a:off x="558723" y="2638502"/>
            <a:ext cx="558179" cy="409838"/>
            <a:chOff x="6953426" y="711274"/>
            <a:chExt cx="558179" cy="409838"/>
          </a:xfrm>
        </p:grpSpPr>
        <p:sp>
          <p:nvSpPr>
            <p:cNvPr id="2" name="Έλλειψη 1" descr="Μικρός κύκλος"/>
            <p:cNvSpPr/>
            <p:nvPr/>
          </p:nvSpPr>
          <p:spPr bwMode="blackWhite"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l-GR" dirty="0"/>
            </a:p>
          </p:txBody>
        </p:sp>
        <p:sp>
          <p:nvSpPr>
            <p:cNvPr id="3" name="Πλαίσιο κειμένου 2" descr="Αριθμός 1"/>
            <p:cNvSpPr txBox="1">
              <a:spLocks noChangeAspect="1"/>
            </p:cNvSpPr>
            <p:nvPr/>
          </p:nvSpPr>
          <p:spPr bwMode="blackWhite"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l-GR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1</a:t>
              </a:r>
            </a:p>
          </p:txBody>
        </p:sp>
      </p:grpSp>
      <p:sp>
        <p:nvSpPr>
          <p:cNvPr id="29" name="Θέση περιεχομένου 17"/>
          <p:cNvSpPr txBox="1">
            <a:spLocks/>
          </p:cNvSpPr>
          <p:nvPr/>
        </p:nvSpPr>
        <p:spPr>
          <a:xfrm>
            <a:off x="1066039" y="2678694"/>
            <a:ext cx="3121671" cy="4676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defTabSz="512763" rtl="0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Επιλέξτε την </a:t>
            </a:r>
            <a:r>
              <a:rPr lang="el-GR" dirty="0">
                <a:solidFill>
                  <a:srgbClr val="40404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εικόνα του ρομπότ 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στα δεξιά.</a:t>
            </a:r>
          </a:p>
        </p:txBody>
      </p:sp>
      <p:sp>
        <p:nvSpPr>
          <p:cNvPr id="25" name="Πλαίσιο κειμένου 16" descr="Επιλέξτε &quot;εγώ&quot;"/>
          <p:cNvSpPr txBox="1"/>
          <p:nvPr/>
        </p:nvSpPr>
        <p:spPr>
          <a:xfrm rot="21077122">
            <a:off x="6043297" y="1772253"/>
            <a:ext cx="1334770" cy="435610"/>
          </a:xfrm>
          <a:prstGeom prst="rect">
            <a:avLst/>
          </a:prstGeom>
          <a:noFill/>
          <a:ln>
            <a:noFill/>
          </a:ln>
          <a:effectLst/>
          <a:extLst>
            <a:ext uri="{C572A759-6A51-4108-AA02-DFA0A04FC94B}">
              <ma14:wrappingTextBoxFlag xmlns="" xmlns:ma14="http://schemas.microsoft.com/office/mac/drawingml/2011/main"/>
            </a:ext>
          </a:extLst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200"/>
              </a:spcAft>
              <a:tabLst>
                <a:tab pos="4931410" algn="l"/>
              </a:tabLst>
            </a:pPr>
            <a:r>
              <a:rPr lang="el-GR" sz="1200" b="1" kern="1000" spc="100" dirty="0">
                <a:solidFill>
                  <a:srgbClr val="D24726"/>
                </a:solidFill>
                <a:latin typeface="Segoe UI Semibold" panose="020B0702040204020203" pitchFamily="34" charset="0"/>
                <a:ea typeface="SimHei" panose="02010609060101010101" pitchFamily="49" charset="-122"/>
                <a:cs typeface="Times New Roman" panose="02020603050405020304" pitchFamily="18" charset="0"/>
              </a:rPr>
              <a:t>ΕΠΙΛΕΞΤΕ ΜΕ</a:t>
            </a:r>
            <a:endParaRPr lang="el-GR" sz="1200" b="1" kern="1400" dirty="0">
              <a:solidFill>
                <a:srgbClr val="D24726"/>
              </a:solidFill>
              <a:effectLst/>
              <a:latin typeface="Segoe UI Light" panose="020B0502040204020203" pitchFamily="34" charset="0"/>
              <a:ea typeface="SimHei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24" name="Εικόνα 23" descr="Καμπύλο βέλος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61835" flipH="1">
            <a:off x="6740574" y="1787378"/>
            <a:ext cx="851862" cy="939987"/>
          </a:xfrm>
          <a:prstGeom prst="rect">
            <a:avLst/>
          </a:prstGeom>
        </p:spPr>
      </p:pic>
      <p:pic>
        <p:nvPicPr>
          <p:cNvPr id="23" name="Εικόνα 22" descr="Ρομπότ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2741" y="1646170"/>
            <a:ext cx="2775459" cy="4531804"/>
          </a:xfrm>
          <a:prstGeom prst="rect">
            <a:avLst/>
          </a:prstGeom>
        </p:spPr>
      </p:pic>
      <p:grpSp>
        <p:nvGrpSpPr>
          <p:cNvPr id="19" name="Ομάδα 18" descr="Μικρός κύκλος με τον αριθμό 2 που υποδεικνύει το βήμα 2"/>
          <p:cNvGrpSpPr/>
          <p:nvPr/>
        </p:nvGrpSpPr>
        <p:grpSpPr bwMode="blackWhite">
          <a:xfrm>
            <a:off x="558723" y="3224505"/>
            <a:ext cx="558179" cy="409838"/>
            <a:chOff x="6953426" y="711274"/>
            <a:chExt cx="558179" cy="409838"/>
          </a:xfrm>
        </p:grpSpPr>
        <p:sp>
          <p:nvSpPr>
            <p:cNvPr id="20" name="Έλλειψη 19" descr="Μικρός κύκλος"/>
            <p:cNvSpPr/>
            <p:nvPr/>
          </p:nvSpPr>
          <p:spPr bwMode="blackWhite"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l-GR" dirty="0"/>
            </a:p>
          </p:txBody>
        </p:sp>
        <p:sp>
          <p:nvSpPr>
            <p:cNvPr id="21" name="Πλαίσιο κειμένου 20" descr="Αριθμός 2"/>
            <p:cNvSpPr txBox="1">
              <a:spLocks noChangeAspect="1"/>
            </p:cNvSpPr>
            <p:nvPr/>
          </p:nvSpPr>
          <p:spPr bwMode="blackWhite"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l-GR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2</a:t>
              </a:r>
            </a:p>
          </p:txBody>
        </p:sp>
      </p:grpSp>
      <p:sp>
        <p:nvSpPr>
          <p:cNvPr id="22" name="Θέση περιεχομένου 17"/>
          <p:cNvSpPr txBox="1">
            <a:spLocks/>
          </p:cNvSpPr>
          <p:nvPr/>
        </p:nvSpPr>
        <p:spPr>
          <a:xfrm>
            <a:off x="1066039" y="3264697"/>
            <a:ext cx="3504072" cy="913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buNone/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Πληκτρολογήστε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</a:rPr>
              <a:t> </a:t>
            </a:r>
            <a:r>
              <a:rPr lang="el-GR" i="1" dirty="0">
                <a:solidFill>
                  <a:srgbClr val="D2472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κίνηση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</a:rPr>
              <a:t> 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στο πλαίσιο </a:t>
            </a:r>
            <a:r>
              <a:rPr lang="el-GR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Πείτε μου 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και, στη συνέχεια, επιλέξτε </a:t>
            </a:r>
            <a:r>
              <a:rPr lang="el-GR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Προσθήκη κίνησης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5" name="Εικόνα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5526" y="3361785"/>
            <a:ext cx="2106152" cy="220832"/>
          </a:xfrm>
          <a:prstGeom prst="rect">
            <a:avLst/>
          </a:prstGeom>
        </p:spPr>
      </p:pic>
      <p:grpSp>
        <p:nvGrpSpPr>
          <p:cNvPr id="31" name="Ομάδα 30" descr="Μικρός κύκλος με τον αριθμό 3 που υποδεικνύει το βήμα 3"/>
          <p:cNvGrpSpPr/>
          <p:nvPr/>
        </p:nvGrpSpPr>
        <p:grpSpPr bwMode="blackWhite">
          <a:xfrm>
            <a:off x="557319" y="4263506"/>
            <a:ext cx="558179" cy="409838"/>
            <a:chOff x="6953426" y="711274"/>
            <a:chExt cx="558179" cy="409838"/>
          </a:xfrm>
        </p:grpSpPr>
        <p:sp>
          <p:nvSpPr>
            <p:cNvPr id="32" name="Έλλειψη 31" descr="Μικρός κύκλος"/>
            <p:cNvSpPr/>
            <p:nvPr/>
          </p:nvSpPr>
          <p:spPr bwMode="blackWhite"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l-GR" dirty="0"/>
            </a:p>
          </p:txBody>
        </p:sp>
        <p:sp>
          <p:nvSpPr>
            <p:cNvPr id="33" name="Πλαίσιο κειμένου 32" descr="Αριθμός 3"/>
            <p:cNvSpPr txBox="1">
              <a:spLocks noChangeAspect="1"/>
            </p:cNvSpPr>
            <p:nvPr/>
          </p:nvSpPr>
          <p:spPr bwMode="blackWhite"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l-GR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3</a:t>
              </a:r>
            </a:p>
          </p:txBody>
        </p:sp>
      </p:grpSp>
      <p:sp>
        <p:nvSpPr>
          <p:cNvPr id="34" name="Θέση περιεχομένου 17"/>
          <p:cNvSpPr txBox="1">
            <a:spLocks/>
          </p:cNvSpPr>
          <p:nvPr/>
        </p:nvSpPr>
        <p:spPr>
          <a:xfrm>
            <a:off x="1064636" y="4303697"/>
            <a:ext cx="2075302" cy="14460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512763" rtl="0">
              <a:spcAft>
                <a:spcPts val="2000"/>
              </a:spcAft>
              <a:buNone/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Επιλέξτε ένα εφέ κίνησης, όπως </a:t>
            </a:r>
            <a:r>
              <a:rPr lang="el-GR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Ζουμ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και παρακολουθήστε </a:t>
            </a:r>
            <a:b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τι θα συμβεί.</a:t>
            </a:r>
          </a:p>
        </p:txBody>
      </p:sp>
      <p:pic>
        <p:nvPicPr>
          <p:cNvPr id="7" name="Εικόνα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5483" y="4069080"/>
            <a:ext cx="3803903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668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8150845" cy="640080"/>
          </a:xfrm>
        </p:spPr>
        <p:txBody>
          <a:bodyPr rtlCol="0">
            <a:normAutofit/>
          </a:bodyPr>
          <a:lstStyle/>
          <a:p>
            <a:pPr rtl="0"/>
            <a:r>
              <a:rPr lang="el-GR" dirty="0">
                <a:latin typeface="Segoe UI Light" panose="020B0502040204020203" pitchFamily="34" charset="0"/>
                <a:cs typeface="Segoe UI Light" panose="020B0502040204020203" pitchFamily="34" charset="0"/>
              </a:rPr>
              <a:t>Εξερεύνηση χωρίς κλείσιμο των διαφανειών</a:t>
            </a:r>
          </a:p>
        </p:txBody>
      </p:sp>
      <p:sp>
        <p:nvSpPr>
          <p:cNvPr id="16" name="Θέση περιεχομένου 17"/>
          <p:cNvSpPr txBox="1">
            <a:spLocks/>
          </p:cNvSpPr>
          <p:nvPr/>
        </p:nvSpPr>
        <p:spPr>
          <a:xfrm>
            <a:off x="541609" y="1296100"/>
            <a:ext cx="6093106" cy="1236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Η Έξυπνη αναζήτηση φέρνει την έρευνα απευθείας στο PowerPoint.</a:t>
            </a:r>
            <a:b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b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Δοκιμάστε το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l-GR" dirty="0"/>
              <a:t>(παράδειγμα στα Αγγλικά)</a:t>
            </a: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pic>
        <p:nvPicPr>
          <p:cNvPr id="18" name="Εικόνα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408" y="2146704"/>
            <a:ext cx="11129521" cy="3193794"/>
          </a:xfrm>
          <a:prstGeom prst="rect">
            <a:avLst/>
          </a:prstGeom>
        </p:spPr>
      </p:pic>
      <p:grpSp>
        <p:nvGrpSpPr>
          <p:cNvPr id="33" name="Ομάδα 32" descr="Μικρός κύκλος με τον αριθμό 1 που υποδεικνύει το βήμα 1"/>
          <p:cNvGrpSpPr/>
          <p:nvPr/>
        </p:nvGrpSpPr>
        <p:grpSpPr bwMode="blackWhite">
          <a:xfrm>
            <a:off x="558723" y="5233381"/>
            <a:ext cx="558179" cy="409838"/>
            <a:chOff x="6953426" y="711274"/>
            <a:chExt cx="558179" cy="409838"/>
          </a:xfrm>
        </p:grpSpPr>
        <p:sp>
          <p:nvSpPr>
            <p:cNvPr id="34" name="Έλλειψη 33" descr="Μικρός κύκλος"/>
            <p:cNvSpPr/>
            <p:nvPr/>
          </p:nvSpPr>
          <p:spPr bwMode="blackWhite"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l-GR" dirty="0"/>
            </a:p>
          </p:txBody>
        </p:sp>
        <p:sp>
          <p:nvSpPr>
            <p:cNvPr id="35" name="Πλαίσιο κειμένου 34" descr="Αριθμός 1"/>
            <p:cNvSpPr txBox="1"/>
            <p:nvPr/>
          </p:nvSpPr>
          <p:spPr bwMode="blackWhite"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l-GR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1</a:t>
              </a:r>
            </a:p>
          </p:txBody>
        </p:sp>
      </p:grpSp>
      <p:sp>
        <p:nvSpPr>
          <p:cNvPr id="42" name="Θέση περιεχομένου 17"/>
          <p:cNvSpPr txBox="1">
            <a:spLocks/>
          </p:cNvSpPr>
          <p:nvPr/>
        </p:nvSpPr>
        <p:spPr>
          <a:xfrm>
            <a:off x="1066038" y="5273573"/>
            <a:ext cx="2919669" cy="1298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Κάντε δεξί κλικ στη λέξη </a:t>
            </a:r>
            <a:r>
              <a:rPr lang="en-US" i="1" dirty="0">
                <a:solidFill>
                  <a:srgbClr val="D2472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office</a:t>
            </a:r>
            <a:r>
              <a:rPr lang="el-GR" i="1" dirty="0">
                <a:solidFill>
                  <a:srgbClr val="D2472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στην ακόλουθη φράση: </a:t>
            </a:r>
            <a:r>
              <a:rPr lang="en-US" sz="18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office furniture</a:t>
            </a:r>
            <a:endParaRPr lang="el-GR" sz="1800" dirty="0">
              <a:solidFill>
                <a:prstClr val="black">
                  <a:lumMod val="75000"/>
                  <a:lumOff val="25000"/>
                </a:prst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6" name="Ομάδα 35" descr="Μικρός κύκλος με τον αριθμό 2 που υποδεικνύει το βήμα 2"/>
          <p:cNvGrpSpPr/>
          <p:nvPr/>
        </p:nvGrpSpPr>
        <p:grpSpPr bwMode="blackWhite">
          <a:xfrm>
            <a:off x="4249102" y="5233381"/>
            <a:ext cx="558179" cy="409838"/>
            <a:chOff x="6953426" y="711274"/>
            <a:chExt cx="558179" cy="409838"/>
          </a:xfrm>
        </p:grpSpPr>
        <p:sp>
          <p:nvSpPr>
            <p:cNvPr id="37" name="Έλλειψη 36" descr="Μικρός κύκλος"/>
            <p:cNvSpPr/>
            <p:nvPr/>
          </p:nvSpPr>
          <p:spPr bwMode="blackWhite"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l-GR" dirty="0"/>
            </a:p>
          </p:txBody>
        </p:sp>
        <p:sp>
          <p:nvSpPr>
            <p:cNvPr id="38" name="Πλαίσιο κειμένου 37" descr="Αριθμός 2"/>
            <p:cNvSpPr txBox="1"/>
            <p:nvPr/>
          </p:nvSpPr>
          <p:spPr bwMode="blackWhite"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l-GR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2</a:t>
              </a:r>
            </a:p>
          </p:txBody>
        </p:sp>
      </p:grpSp>
      <p:sp>
        <p:nvSpPr>
          <p:cNvPr id="43" name="Θέση περιεχομένου 17"/>
          <p:cNvSpPr txBox="1">
            <a:spLocks/>
          </p:cNvSpPr>
          <p:nvPr/>
        </p:nvSpPr>
        <p:spPr>
          <a:xfrm>
            <a:off x="4747855" y="5273573"/>
            <a:ext cx="3106367" cy="1324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spcAft>
                <a:spcPts val="2000"/>
              </a:spcAft>
              <a:buNone/>
            </a:pP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Επιλέξτε </a:t>
            </a:r>
            <a:r>
              <a:rPr lang="el-GR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Έξυπνη</a:t>
            </a:r>
            <a:r>
              <a:rPr lang="el-GR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 </a:t>
            </a:r>
            <a:r>
              <a:rPr lang="el-GR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αναζήτηση</a:t>
            </a: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 και παρατηρήστε ότι τα αποτελέσματα είναι συναφή με αυτή τη φράση, όχι με τις </a:t>
            </a:r>
            <a:r>
              <a:rPr lang="el-GR" sz="1800" dirty="0">
                <a:latin typeface="Segoe UI" panose="020B0502040204020203" pitchFamily="34" charset="0"/>
                <a:cs typeface="Segoe UI" panose="020B0502040204020203" pitchFamily="34" charset="0"/>
              </a:rPr>
              <a:t>Εφαρμογές του Microsoft Office</a:t>
            </a: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l-GR" dirty="0">
              <a:solidFill>
                <a:srgbClr val="D24726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9" name="Ομάδα 38" descr="Μικρός κύκλος με τον αριθμό 3 που υποδεικνύει το βήμα 3"/>
          <p:cNvGrpSpPr/>
          <p:nvPr/>
        </p:nvGrpSpPr>
        <p:grpSpPr bwMode="blackWhite">
          <a:xfrm>
            <a:off x="7930921" y="5233381"/>
            <a:ext cx="558179" cy="409838"/>
            <a:chOff x="6953426" y="711274"/>
            <a:chExt cx="558179" cy="409838"/>
          </a:xfrm>
        </p:grpSpPr>
        <p:sp>
          <p:nvSpPr>
            <p:cNvPr id="40" name="Έλλειψη 39" descr="Μικρός κύκλος"/>
            <p:cNvSpPr/>
            <p:nvPr/>
          </p:nvSpPr>
          <p:spPr bwMode="blackWhite"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l-GR" dirty="0"/>
            </a:p>
          </p:txBody>
        </p:sp>
        <p:sp>
          <p:nvSpPr>
            <p:cNvPr id="41" name="Πλαίσιο κειμένου 40" descr="Αριθμός 3"/>
            <p:cNvSpPr txBox="1"/>
            <p:nvPr/>
          </p:nvSpPr>
          <p:spPr bwMode="blackWhite"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l-GR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3</a:t>
              </a:r>
            </a:p>
          </p:txBody>
        </p:sp>
      </p:grpSp>
      <p:sp>
        <p:nvSpPr>
          <p:cNvPr id="44" name="Θέση περιεχομένου 17"/>
          <p:cNvSpPr txBox="1">
            <a:spLocks/>
          </p:cNvSpPr>
          <p:nvPr/>
        </p:nvSpPr>
        <p:spPr>
          <a:xfrm>
            <a:off x="8429668" y="5273573"/>
            <a:ext cx="3107336" cy="13418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rtl="0">
              <a:spcAft>
                <a:spcPts val="2000"/>
              </a:spcAft>
              <a:buNone/>
            </a:pP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Απλώς για διασκέδαση, δοκιμάστε ξανά την Έξυπνη αναζήτηση κάνοντας δεξί κλικ στη λέξη </a:t>
            </a:r>
            <a:r>
              <a:rPr lang="el-GR" i="1" dirty="0">
                <a:solidFill>
                  <a:srgbClr val="D2472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Office</a:t>
            </a:r>
            <a:r>
              <a:rPr lang="el-GR" dirty="0"/>
              <a:t> </a:t>
            </a:r>
            <a:r>
              <a:rPr lang="el-GR" dirty="0">
                <a:latin typeface="Segoe UI" panose="020B0502040204020203" pitchFamily="34" charset="0"/>
                <a:cs typeface="Segoe UI" panose="020B0502040204020203" pitchFamily="34" charset="0"/>
              </a:rPr>
              <a:t>στο βήμα 2.</a:t>
            </a:r>
          </a:p>
          <a:p>
            <a:pPr marL="0" indent="0" rtl="0">
              <a:spcAft>
                <a:spcPts val="2000"/>
              </a:spcAft>
              <a:buNone/>
            </a:pPr>
            <a:endParaRPr lang="el-GR" dirty="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932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>
          <a:xfrm>
            <a:off x="521208" y="968473"/>
            <a:ext cx="6876288" cy="1207799"/>
          </a:xfrm>
        </p:spPr>
        <p:txBody>
          <a:bodyPr rtlCol="0">
            <a:normAutofit/>
          </a:bodyPr>
          <a:lstStyle/>
          <a:p>
            <a:pPr rtl="0"/>
            <a:r>
              <a:rPr lang="el-GR" dirty="0">
                <a:latin typeface="Segoe UI Light" panose="020B0502040204020203" pitchFamily="34" charset="0"/>
                <a:cs typeface="Segoe UI Light" panose="020B0502040204020203" pitchFamily="34" charset="0"/>
              </a:rPr>
              <a:t>Έχετε περισσότερες ερωτήσεις σχετικά με το PowerPoint;</a:t>
            </a:r>
          </a:p>
        </p:txBody>
      </p:sp>
      <p:sp>
        <p:nvSpPr>
          <p:cNvPr id="5" name="Θέση περιεχομένου 4"/>
          <p:cNvSpPr>
            <a:spLocks noGrp="1"/>
          </p:cNvSpPr>
          <p:nvPr>
            <p:ph sz="half" idx="4294967295"/>
          </p:nvPr>
        </p:nvSpPr>
        <p:spPr>
          <a:xfrm>
            <a:off x="541611" y="2614427"/>
            <a:ext cx="11168608" cy="3978275"/>
          </a:xfrm>
        </p:spPr>
        <p:txBody>
          <a:bodyPr rtlCol="0">
            <a:normAutofit/>
          </a:bodyPr>
          <a:lstStyle/>
          <a:p>
            <a:pPr marL="0" indent="0" rtl="0">
              <a:lnSpc>
                <a:spcPts val="3600"/>
              </a:lnSpc>
              <a:spcAft>
                <a:spcPts val="0"/>
              </a:spcAft>
              <a:buNone/>
            </a:pPr>
            <a:r>
              <a:rPr lang="el-GR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Επιλέξτε το κουμπί </a:t>
            </a:r>
            <a:r>
              <a:rPr lang="el-GR" sz="2000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Πείτε μου                   </a:t>
            </a:r>
            <a:r>
              <a:rPr lang="el-GR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και πληκτρολογήστε αυτό που θέλετε να μάθετε.</a:t>
            </a:r>
            <a:br>
              <a:rPr lang="el-GR" sz="2000" dirty="0"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endParaRPr lang="el-GR" sz="20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>
              <a:lnSpc>
                <a:spcPts val="3600"/>
              </a:lnSpc>
              <a:spcAft>
                <a:spcPts val="0"/>
              </a:spcAft>
            </a:pPr>
            <a:r>
              <a:rPr lang="el-GR" sz="1800" dirty="0">
                <a:latin typeface="Segoe UI Light" panose="020B0502040204020203" pitchFamily="34" charset="0"/>
                <a:cs typeface="Segoe UI Light" panose="020B0502040204020203" pitchFamily="34" charset="0"/>
                <a:hlinkClick r:id="rId3" tooltip="Επισκεφθείτε το ιστολόγιο της ομάδας του PowerPoint (μόνο στα Αγγλικά)"/>
              </a:rPr>
              <a:t>Επισκεφθείτε το </a:t>
            </a:r>
            <a:r>
              <a:rPr lang="el-GR" sz="1800" dirty="0" err="1">
                <a:latin typeface="Segoe UI Light" panose="020B0502040204020203" pitchFamily="34" charset="0"/>
                <a:cs typeface="Segoe UI Light" panose="020B0502040204020203" pitchFamily="34" charset="0"/>
                <a:hlinkClick r:id="rId3" tooltip="Επισκεφθείτε το ιστολόγιο της ομάδας του PowerPoint (μόνο στα Αγγλικά)"/>
              </a:rPr>
              <a:t>ιστολόγιο</a:t>
            </a:r>
            <a:r>
              <a:rPr lang="el-GR" sz="1800" dirty="0">
                <a:latin typeface="Segoe UI Light" panose="020B0502040204020203" pitchFamily="34" charset="0"/>
                <a:cs typeface="Segoe UI Light" panose="020B0502040204020203" pitchFamily="34" charset="0"/>
                <a:hlinkClick r:id="rId3" tooltip="Επισκεφθείτε το ιστολόγιο της ομάδας του PowerPoint (μόνο στα Αγγλικά)"/>
              </a:rPr>
              <a:t> της ομάδας του PowerPoint (μόνο στα Αγγλικά)</a:t>
            </a:r>
            <a:endParaRPr lang="el-GR" sz="1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 rtl="0">
              <a:lnSpc>
                <a:spcPts val="3600"/>
              </a:lnSpc>
              <a:spcAft>
                <a:spcPts val="0"/>
              </a:spcAft>
              <a:buNone/>
            </a:pPr>
            <a:r>
              <a:rPr lang="el-GR" sz="1800" dirty="0">
                <a:latin typeface="Segoe UI Light" panose="020B0502040204020203" pitchFamily="34" charset="0"/>
                <a:cs typeface="Segoe UI Light" panose="020B0502040204020203" pitchFamily="34" charset="0"/>
                <a:hlinkClick r:id="rId4" tooltip="Μεταβείτε στη δωρεάν εκπαίδευση για το PowerPoint"/>
              </a:rPr>
              <a:t>Μεταβείτε στη δωρεάν εκπαίδευση για το PowerPoint</a:t>
            </a:r>
            <a:endParaRPr lang="el-GR" sz="1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 rtl="0">
              <a:lnSpc>
                <a:spcPts val="3600"/>
              </a:lnSpc>
              <a:spcAft>
                <a:spcPts val="0"/>
              </a:spcAft>
              <a:buNone/>
            </a:pPr>
            <a:endParaRPr lang="el-GR" sz="20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 rtl="0">
              <a:lnSpc>
                <a:spcPts val="3600"/>
              </a:lnSpc>
              <a:spcAft>
                <a:spcPts val="0"/>
              </a:spcAft>
              <a:buNone/>
            </a:pPr>
            <a:endParaRPr lang="el-GR" sz="20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2" name="Εικόνα 1" descr="Κουμπί &quot;Πείτε μου&quot;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162" y="2350333"/>
            <a:ext cx="1269672" cy="1189747"/>
          </a:xfrm>
          <a:prstGeom prst="rect">
            <a:avLst/>
          </a:prstGeom>
        </p:spPr>
      </p:pic>
      <p:pic>
        <p:nvPicPr>
          <p:cNvPr id="11" name="Εικόνα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4146" y="3070697"/>
            <a:ext cx="2476156" cy="1707303"/>
          </a:xfrm>
          <a:prstGeom prst="rect">
            <a:avLst/>
          </a:prstGeom>
        </p:spPr>
      </p:pic>
      <p:sp>
        <p:nvSpPr>
          <p:cNvPr id="9" name="Πλαίσιο κειμένου 8"/>
          <p:cNvSpPr txBox="1"/>
          <p:nvPr/>
        </p:nvSpPr>
        <p:spPr>
          <a:xfrm>
            <a:off x="541611" y="5210842"/>
            <a:ext cx="68558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l-GR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ΕΠΙΛΕΞΤΕ ΤΟ ΒΕΛΟΣ ΟΤΑΝ ΒΡΙΣΚΕΣΤΕ ΣΕ ΛΕΙΤΟΥΡΓΙΑ ΠΡΟΒΟΛΗΣ ΠΑΡΟΥΣΙΑΣΗΣ</a:t>
            </a:r>
          </a:p>
        </p:txBody>
      </p:sp>
      <p:pic>
        <p:nvPicPr>
          <p:cNvPr id="7" name="Εικόνα 6" descr="Βέλος που δείχνει προς τα δεξιά και περιέχει μια υπερ-σύνδεση η οποία οδηγεί στη δωρεάν εκπαίδευση για το PowerPoint. Επιλέξτε την εικόνα, για να αποκτήσετε πρόσβαση στη δωρεάν εκπαίδευση για το PowerPoint">
            <a:hlinkClick r:id="rId4" tooltip="Επιλέξτε την εικόνα, για να αποκτήσετε πρόσβαση στη δωρεάν εκπαίδευση για το PowerPoint"/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8648" y="4272594"/>
            <a:ext cx="661940" cy="661940"/>
          </a:xfrm>
          <a:prstGeom prst="rect">
            <a:avLst/>
          </a:prstGeom>
        </p:spPr>
      </p:pic>
      <p:pic>
        <p:nvPicPr>
          <p:cNvPr id="12" name="Εικόνα 11" descr="Βέλος που δείχνει προς τα δεξιά με μια υπερ-σύνδεση για την παροχή σχολίων σχετικά με αυτήν την περιήγηση. Επιλέξτε την εικόνα, για να στείλετε σχόλια σχετικά με αυτήν την περιήγηση">
            <a:hlinkClick r:id="rId3" tooltip="Επιλέξτε εδώ, για να επισκεφθείτε το ιστολόγιο ομάδας του PowerPoint."/>
            <a:extLst>
              <a:ext uri="{FF2B5EF4-FFF2-40B4-BE49-F238E27FC236}">
                <a16:creationId xmlns:a16="http://schemas.microsoft.com/office/drawing/2014/main" id="{BA92070A-4E3D-4794-84A9-83B8DDF3A12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5496" y="3642100"/>
            <a:ext cx="661940" cy="661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02588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5684342_TF10001108" id="{DBFF3AF7-5888-433F-AD38-299F70BCE26A}" vid="{65FC6890-4B6D-44B3-978B-79AC4729D2FE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Καλώς ορίσατε στο PowerPoint</Template>
  <TotalTime>113</TotalTime>
  <Words>653</Words>
  <Application>Microsoft Office PowerPoint</Application>
  <PresentationFormat>Ευρεία οθόνη</PresentationFormat>
  <Paragraphs>70</Paragraphs>
  <Slides>9</Slides>
  <Notes>9</Notes>
  <HiddenSlides>0</HiddenSlides>
  <MMClips>1</MMClips>
  <ScaleCrop>false</ScaleCrop>
  <HeadingPairs>
    <vt:vector size="6" baseType="variant">
      <vt:variant>
        <vt:lpstr>Γραμματοσειρές που χρησιμοποιούνται</vt:lpstr>
      </vt:variant>
      <vt:variant>
        <vt:i4>8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9</vt:i4>
      </vt:variant>
    </vt:vector>
  </HeadingPairs>
  <TitlesOfParts>
    <vt:vector size="18" baseType="lpstr">
      <vt:lpstr>SimHei</vt:lpstr>
      <vt:lpstr>Arial</vt:lpstr>
      <vt:lpstr>Calibri</vt:lpstr>
      <vt:lpstr>Segoe UI</vt:lpstr>
      <vt:lpstr>Segoe UI Light</vt:lpstr>
      <vt:lpstr>Segoe UI Semibold</vt:lpstr>
      <vt:lpstr>Times New Roman</vt:lpstr>
      <vt:lpstr>Wingdings</vt:lpstr>
      <vt:lpstr>WelcomeDoc</vt:lpstr>
      <vt:lpstr>Μηχανική Μάθηση και Αθλητισμός</vt:lpstr>
      <vt:lpstr>Η ορολογία Machine Learning</vt:lpstr>
      <vt:lpstr>Εφαρμογή Αισθητήρα “MetawearC” στο Ποδόσφαιρο.</vt:lpstr>
      <vt:lpstr>Μεταμόρφωση</vt:lpstr>
      <vt:lpstr>Ρύθμιση της Μεταμόρφωσης</vt:lpstr>
      <vt:lpstr>Συνεργασία σε πραγματικό χρόνο</vt:lpstr>
      <vt:lpstr>Αποκτήστε την εμπειρία των ειδικών με το πλαίσιο "Πείτε μου"</vt:lpstr>
      <vt:lpstr>Εξερεύνηση χωρίς κλείσιμο των διαφανειών</vt:lpstr>
      <vt:lpstr>Έχετε περισσότερες ερωτήσεις σχετικά με το PowerPoint;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Μηχανική Μάθηση και Αθλητισμός</dc:title>
  <dc:creator>dell</dc:creator>
  <cp:keywords/>
  <cp:lastModifiedBy>dell</cp:lastModifiedBy>
  <cp:revision>10</cp:revision>
  <dcterms:created xsi:type="dcterms:W3CDTF">2018-12-01T09:08:18Z</dcterms:created>
  <dcterms:modified xsi:type="dcterms:W3CDTF">2018-12-01T11:01:20Z</dcterms:modified>
  <cp:version/>
</cp:coreProperties>
</file>