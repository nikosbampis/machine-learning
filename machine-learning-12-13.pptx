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4"/>
  </p:notesMasterIdLst>
  <p:handoutMasterIdLst>
    <p:handoutMasterId r:id="rId15"/>
  </p:handoutMasterIdLst>
  <p:sldIdLst>
    <p:sldId id="256" r:id="rId2"/>
    <p:sldId id="271" r:id="rId3"/>
    <p:sldId id="279" r:id="rId4"/>
    <p:sldId id="284" r:id="rId5"/>
    <p:sldId id="283" r:id="rId6"/>
    <p:sldId id="285" r:id="rId7"/>
    <p:sldId id="281" r:id="rId8"/>
    <p:sldId id="280" r:id="rId9"/>
    <p:sldId id="257" r:id="rId10"/>
    <p:sldId id="275" r:id="rId11"/>
    <p:sldId id="276" r:id="rId12"/>
    <p:sldId id="282" r:id="rId13"/>
  </p:sldIdLst>
  <p:sldSz cx="12192000" cy="6858000"/>
  <p:notesSz cx="6858000" cy="9144000"/>
  <p:defaultTextStyle>
    <a:defPPr rtl="0">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Καλώς ορίσατε" id="{E75E278A-FF0E-49A4-B170-79828D63BBAD}">
          <p14:sldIdLst>
            <p14:sldId id="256"/>
          </p14:sldIdLst>
        </p14:section>
        <p14:section name="Σχεδίαση, Μεταμόρφωση, Σχολιασμός, Συνεργασία, Πείτε μου" id="{B9B51309-D148-4332-87C2-07BE32FBCA3B}">
          <p14:sldIdLst>
            <p14:sldId id="271"/>
            <p14:sldId id="279"/>
            <p14:sldId id="284"/>
            <p14:sldId id="283"/>
            <p14:sldId id="285"/>
            <p14:sldId id="281"/>
            <p14:sldId id="280"/>
            <p14:sldId id="257"/>
            <p14:sldId id="275"/>
            <p14:sldId id="276"/>
          </p14:sldIdLst>
        </p14:section>
        <p14:section name="Μάθετε περισσότερα" id="{2CC34DB2-6590-42C0-AD4B-A04C6060184E}">
          <p14:sldIdLst>
            <p14:sldId id="28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 id="3" name="dell" initials="d" lastIdx="1" clrIdx="2">
    <p:extLst>
      <p:ext uri="{19B8F6BF-5375-455C-9EA6-DF929625EA0E}">
        <p15:presenceInfo xmlns:p15="http://schemas.microsoft.com/office/powerpoint/2012/main" userId="del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4726"/>
    <a:srgbClr val="404040"/>
    <a:srgbClr val="FF9B45"/>
    <a:srgbClr val="DD462F"/>
    <a:srgbClr val="F8CFB6"/>
    <a:srgbClr val="F8CAB6"/>
    <a:srgbClr val="923922"/>
    <a:srgbClr val="F5F5F5"/>
    <a:srgbClr val="F2F2F2"/>
    <a:srgbClr val="D2B4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7668" autoAdjust="0"/>
    <p:restoredTop sz="94214" autoAdjust="0"/>
  </p:normalViewPr>
  <p:slideViewPr>
    <p:cSldViewPr snapToGrid="0">
      <p:cViewPr varScale="1">
        <p:scale>
          <a:sx n="68" d="100"/>
          <a:sy n="68" d="100"/>
        </p:scale>
        <p:origin x="90" y="108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6" d="100"/>
          <a:sy n="86" d="100"/>
        </p:scale>
        <p:origin x="2826" y="1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dirty="0"/>
          </a:p>
        </p:txBody>
      </p:sp>
      <p:sp>
        <p:nvSpPr>
          <p:cNvPr id="3" name="Θέση ημερομηνίας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60A3599D-F7E3-4649-B859-D4940257D38C}" type="datetime1">
              <a:rPr lang="el-GR" smtClean="0"/>
              <a:t>5/12/2018</a:t>
            </a:fld>
            <a:endParaRPr lang="el-GR" dirty="0"/>
          </a:p>
        </p:txBody>
      </p:sp>
      <p:sp>
        <p:nvSpPr>
          <p:cNvPr id="4" name="Θέση υποσέλιδου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dirty="0"/>
          </a:p>
        </p:txBody>
      </p:sp>
      <p:sp>
        <p:nvSpPr>
          <p:cNvPr id="5" name="Θέση αριθμού διαφάνειας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l-GR" smtClean="0"/>
              <a:t>‹#›</a:t>
            </a:fld>
            <a:endParaRPr lang="el-GR" dirty="0"/>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noProof="0" dirty="0"/>
          </a:p>
        </p:txBody>
      </p:sp>
      <p:sp>
        <p:nvSpPr>
          <p:cNvPr id="3" name="Θέση ημερομηνίας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B3D094AE-4861-4AAD-8067-7B835847F302}" type="datetime1">
              <a:rPr lang="el-GR" noProof="0" smtClean="0"/>
              <a:t>5/12/2018</a:t>
            </a:fld>
            <a:endParaRPr lang="el-GR" noProof="0" dirty="0"/>
          </a:p>
        </p:txBody>
      </p:sp>
      <p:sp>
        <p:nvSpPr>
          <p:cNvPr id="4" name="Θέση εικόνας διαφάνειας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l-GR" noProof="0" dirty="0"/>
          </a:p>
        </p:txBody>
      </p:sp>
      <p:sp>
        <p:nvSpPr>
          <p:cNvPr id="5" name="Θέση σημειώσεων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l-GR" noProof="0" dirty="0"/>
              <a:t>Στυλ υποδείγματος κειμένου</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6" name="Θέση υποσέλιδου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noProof="0" dirty="0"/>
          </a:p>
        </p:txBody>
      </p:sp>
      <p:sp>
        <p:nvSpPr>
          <p:cNvPr id="7" name="Θέση αριθμού διαφάνειας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DF61EA0F-A667-4B49-8422-0062BC55E249}" type="slidenum">
              <a:rPr lang="el-GR" noProof="0" smtClean="0"/>
              <a:t>‹#›</a:t>
            </a:fld>
            <a:endParaRPr lang="el-GR" noProof="0" dirty="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a:xfrm>
            <a:off x="685800" y="1143000"/>
            <a:ext cx="5486400" cy="3086100"/>
          </a:xfrm>
        </p:spPr>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DF61EA0F-A667-4B49-8422-0062BC55E249}" type="slidenum">
              <a:rPr lang="el-GR" smtClean="0"/>
              <a:t>1</a:t>
            </a:fld>
            <a:endParaRPr lang="el-GR" dirty="0"/>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2</a:t>
            </a:fld>
            <a:endParaRPr lang="el-GR" dirty="0"/>
          </a:p>
        </p:txBody>
      </p:sp>
    </p:spTree>
    <p:extLst>
      <p:ext uri="{BB962C8B-B14F-4D97-AF65-F5344CB8AC3E}">
        <p14:creationId xmlns:p14="http://schemas.microsoft.com/office/powerpoint/2010/main" val="4977550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3</a:t>
            </a:fld>
            <a:endParaRPr lang="el-GR" dirty="0"/>
          </a:p>
        </p:txBody>
      </p:sp>
    </p:spTree>
    <p:extLst>
      <p:ext uri="{BB962C8B-B14F-4D97-AF65-F5344CB8AC3E}">
        <p14:creationId xmlns:p14="http://schemas.microsoft.com/office/powerpoint/2010/main" val="1873392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7</a:t>
            </a:fld>
            <a:endParaRPr lang="el-GR" dirty="0"/>
          </a:p>
        </p:txBody>
      </p:sp>
    </p:spTree>
    <p:extLst>
      <p:ext uri="{BB962C8B-B14F-4D97-AF65-F5344CB8AC3E}">
        <p14:creationId xmlns:p14="http://schemas.microsoft.com/office/powerpoint/2010/main" val="5215945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8</a:t>
            </a:fld>
            <a:endParaRPr lang="el-GR" dirty="0"/>
          </a:p>
        </p:txBody>
      </p:sp>
    </p:spTree>
    <p:extLst>
      <p:ext uri="{BB962C8B-B14F-4D97-AF65-F5344CB8AC3E}">
        <p14:creationId xmlns:p14="http://schemas.microsoft.com/office/powerpoint/2010/main" val="29738837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9</a:t>
            </a:fld>
            <a:endParaRPr lang="el-GR" dirty="0"/>
          </a:p>
        </p:txBody>
      </p:sp>
    </p:spTree>
    <p:extLst>
      <p:ext uri="{BB962C8B-B14F-4D97-AF65-F5344CB8AC3E}">
        <p14:creationId xmlns:p14="http://schemas.microsoft.com/office/powerpoint/2010/main" val="24213146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10</a:t>
            </a:fld>
            <a:endParaRPr lang="el-GR" dirty="0"/>
          </a:p>
        </p:txBody>
      </p:sp>
    </p:spTree>
    <p:extLst>
      <p:ext uri="{BB962C8B-B14F-4D97-AF65-F5344CB8AC3E}">
        <p14:creationId xmlns:p14="http://schemas.microsoft.com/office/powerpoint/2010/main" val="8829598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11</a:t>
            </a:fld>
            <a:endParaRPr lang="el-GR" dirty="0"/>
          </a:p>
        </p:txBody>
      </p:sp>
    </p:spTree>
    <p:extLst>
      <p:ext uri="{BB962C8B-B14F-4D97-AF65-F5344CB8AC3E}">
        <p14:creationId xmlns:p14="http://schemas.microsoft.com/office/powerpoint/2010/main" val="5079949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a:xfrm>
            <a:off x="685800" y="1143000"/>
            <a:ext cx="5486400" cy="3086100"/>
          </a:xfrm>
        </p:spPr>
      </p:sp>
      <p:sp>
        <p:nvSpPr>
          <p:cNvPr id="3" name="Θέση σημειώσεων 2"/>
          <p:cNvSpPr>
            <a:spLocks noGrp="1"/>
          </p:cNvSpPr>
          <p:nvPr>
            <p:ph type="body" idx="1"/>
          </p:nvPr>
        </p:nvSpPr>
        <p:spPr/>
        <p:txBody>
          <a:bodyPr rtlCol="0"/>
          <a:lstStyle/>
          <a:p>
            <a:pPr rtl="0"/>
            <a:r>
              <a:rPr lang="el-GR" dirty="0"/>
              <a:t>Σε λειτουργία προβολής παρουσίασης, επιλέξτε τα βέλη για να επισκεφθείτε συνδέσεις.</a:t>
            </a:r>
          </a:p>
        </p:txBody>
      </p:sp>
      <p:sp>
        <p:nvSpPr>
          <p:cNvPr id="4" name="Θέση αριθμού διαφάνειας 3"/>
          <p:cNvSpPr>
            <a:spLocks noGrp="1"/>
          </p:cNvSpPr>
          <p:nvPr>
            <p:ph type="sldNum" sz="quarter" idx="10"/>
          </p:nvPr>
        </p:nvSpPr>
        <p:spPr/>
        <p:txBody>
          <a:bodyPr rtlCol="0"/>
          <a:lstStyle/>
          <a:p>
            <a:pPr rtl="0"/>
            <a:fld id="{DF61EA0F-A667-4B49-8422-0062BC55E249}" type="slidenum">
              <a:rPr lang="el-GR" smtClean="0"/>
              <a:t>12</a:t>
            </a:fld>
            <a:endParaRPr lang="el-GR" dirty="0"/>
          </a:p>
        </p:txBody>
      </p:sp>
    </p:spTree>
    <p:extLst>
      <p:ext uri="{BB962C8B-B14F-4D97-AF65-F5344CB8AC3E}">
        <p14:creationId xmlns:p14="http://schemas.microsoft.com/office/powerpoint/2010/main" val="34217808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Διαφάνεια τίτλου">
    <p:spTree>
      <p:nvGrpSpPr>
        <p:cNvPr id="1" name=""/>
        <p:cNvGrpSpPr/>
        <p:nvPr/>
      </p:nvGrpSpPr>
      <p:grpSpPr>
        <a:xfrm>
          <a:off x="0" y="0"/>
          <a:ext cx="0" cy="0"/>
          <a:chOff x="0" y="0"/>
          <a:chExt cx="0" cy="0"/>
        </a:xfrm>
      </p:grpSpPr>
      <p:sp>
        <p:nvSpPr>
          <p:cNvPr id="7" name="Ορθογώνιο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Τίτλος και περιεχόμενο">
    <p:spTree>
      <p:nvGrpSpPr>
        <p:cNvPr id="1" name=""/>
        <p:cNvGrpSpPr/>
        <p:nvPr/>
      </p:nvGrpSpPr>
      <p:grpSpPr>
        <a:xfrm>
          <a:off x="0" y="0"/>
          <a:ext cx="0" cy="0"/>
          <a:chOff x="0" y="0"/>
          <a:chExt cx="0" cy="0"/>
        </a:xfrm>
      </p:grpSpPr>
      <p:sp>
        <p:nvSpPr>
          <p:cNvPr id="9" name="Ορθογώνιο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el-GR" sz="1800" noProof="0" dirty="0"/>
          </a:p>
        </p:txBody>
      </p:sp>
      <p:cxnSp>
        <p:nvCxnSpPr>
          <p:cNvPr id="12" name="Ευθεία γραμμή σύνδεσης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Τίτλος 3"/>
          <p:cNvSpPr>
            <a:spLocks noGrp="1"/>
          </p:cNvSpPr>
          <p:nvPr>
            <p:ph type="title"/>
          </p:nvPr>
        </p:nvSpPr>
        <p:spPr>
          <a:xfrm>
            <a:off x="521207" y="448056"/>
            <a:ext cx="10068135" cy="640080"/>
          </a:xfrm>
        </p:spPr>
        <p:txBody>
          <a:bodyPr rtlCol="0" anchor="b" anchorCtr="0">
            <a:normAutofit/>
          </a:bodyPr>
          <a:lstStyle>
            <a:lvl1pPr>
              <a:defRPr sz="2800">
                <a:solidFill>
                  <a:schemeClr val="bg2">
                    <a:lumMod val="25000"/>
                  </a:schemeClr>
                </a:solidFill>
              </a:defRPr>
            </a:lvl1pPr>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sz="quarter" idx="10"/>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defRPr>
            </a:lvl1pPr>
            <a:lvl2pPr>
              <a:defRPr lang="en-US" sz="1200" smtClean="0">
                <a:solidFill>
                  <a:schemeClr val="tx1">
                    <a:lumMod val="75000"/>
                    <a:lumOff val="25000"/>
                  </a:schemeClr>
                </a:solidFill>
              </a:defRPr>
            </a:lvl2pPr>
            <a:lvl3pPr>
              <a:defRPr lang="en-US" sz="1200" smtClean="0">
                <a:solidFill>
                  <a:schemeClr val="tx1">
                    <a:lumMod val="75000"/>
                    <a:lumOff val="25000"/>
                  </a:schemeClr>
                </a:solidFill>
              </a:defRPr>
            </a:lvl3pPr>
            <a:lvl4pPr>
              <a:defRPr lang="en-US" sz="1200" smtClean="0">
                <a:solidFill>
                  <a:schemeClr val="tx1">
                    <a:lumMod val="75000"/>
                    <a:lumOff val="25000"/>
                  </a:schemeClr>
                </a:solidFill>
              </a:defRPr>
            </a:lvl4pPr>
            <a:lvl5pPr>
              <a:defRPr lang="en-US" sz="1200">
                <a:solidFill>
                  <a:schemeClr val="tx1">
                    <a:lumMod val="75000"/>
                    <a:lumOff val="25000"/>
                  </a:schemeClr>
                </a:solidFill>
              </a:defRPr>
            </a:lvl5pPr>
          </a:lstStyle>
          <a:p>
            <a:pPr marL="0" lvl="0" indent="0" rtl="0">
              <a:lnSpc>
                <a:spcPct val="150000"/>
              </a:lnSpc>
              <a:spcBef>
                <a:spcPts val="1000"/>
              </a:spcBef>
              <a:spcAft>
                <a:spcPts val="1200"/>
              </a:spcAft>
              <a:buNone/>
            </a:pPr>
            <a:r>
              <a:rPr lang="el-GR" noProof="0"/>
              <a:t>Επεξεργασία στυλ υποδείγματος κειμένου</a:t>
            </a:r>
          </a:p>
          <a:p>
            <a:pPr marL="0" lvl="1" indent="0" rtl="0">
              <a:lnSpc>
                <a:spcPct val="150000"/>
              </a:lnSpc>
              <a:spcBef>
                <a:spcPts val="1000"/>
              </a:spcBef>
              <a:spcAft>
                <a:spcPts val="1200"/>
              </a:spcAft>
              <a:buNone/>
            </a:pPr>
            <a:r>
              <a:rPr lang="el-GR" noProof="0"/>
              <a:t>Δεύτερου επιπέδου</a:t>
            </a:r>
          </a:p>
          <a:p>
            <a:pPr marL="0" lvl="2" indent="0" rtl="0">
              <a:lnSpc>
                <a:spcPct val="150000"/>
              </a:lnSpc>
              <a:spcBef>
                <a:spcPts val="1000"/>
              </a:spcBef>
              <a:spcAft>
                <a:spcPts val="1200"/>
              </a:spcAft>
              <a:buNone/>
            </a:pPr>
            <a:r>
              <a:rPr lang="el-GR" noProof="0"/>
              <a:t>Τρίτου επιπέδου</a:t>
            </a:r>
          </a:p>
          <a:p>
            <a:pPr marL="0" lvl="3" indent="0" rtl="0">
              <a:lnSpc>
                <a:spcPct val="150000"/>
              </a:lnSpc>
              <a:spcBef>
                <a:spcPts val="1000"/>
              </a:spcBef>
              <a:spcAft>
                <a:spcPts val="1200"/>
              </a:spcAft>
              <a:buNone/>
            </a:pPr>
            <a:r>
              <a:rPr lang="el-GR" noProof="0"/>
              <a:t>Τέταρτου επιπέδου</a:t>
            </a:r>
          </a:p>
          <a:p>
            <a:pPr marL="0" lvl="4" indent="0" rtl="0">
              <a:lnSpc>
                <a:spcPct val="150000"/>
              </a:lnSpc>
              <a:spcBef>
                <a:spcPts val="1000"/>
              </a:spcBef>
              <a:spcAft>
                <a:spcPts val="1200"/>
              </a:spcAft>
              <a:buNone/>
            </a:pPr>
            <a:r>
              <a:rPr lang="el-GR" noProof="0"/>
              <a:t>Πέμπτου επιπέδου</a:t>
            </a:r>
            <a:endParaRPr lang="el-GR" noProof="0" dirty="0"/>
          </a:p>
        </p:txBody>
      </p:sp>
      <p:sp>
        <p:nvSpPr>
          <p:cNvPr id="6" name="Θέση ημερομηνίας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pPr rtl="0"/>
            <a:fld id="{368E473F-9E20-4236-857A-0F18234A7730}" type="datetime1">
              <a:rPr lang="el-GR" noProof="0" smtClean="0"/>
              <a:t>5/12/2018</a:t>
            </a:fld>
            <a:endParaRPr lang="el-GR" noProof="0" dirty="0"/>
          </a:p>
        </p:txBody>
      </p:sp>
      <p:sp>
        <p:nvSpPr>
          <p:cNvPr id="7" name="Θέση υποσέλιδου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pPr rtl="0"/>
            <a:endParaRPr lang="el-GR" noProof="0" dirty="0"/>
          </a:p>
        </p:txBody>
      </p:sp>
      <p:sp>
        <p:nvSpPr>
          <p:cNvPr id="8" name="Θέση αριθμού διαφάνειας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pPr rtl="0"/>
            <a:fld id="{9860EDB8-5305-433F-BE41-D7A86D811DB3}" type="slidenum">
              <a:rPr lang="el-GR" noProof="0" smtClean="0"/>
              <a:pPr/>
              <a:t>‹#›</a:t>
            </a:fld>
            <a:endParaRPr lang="el-GR" noProof="0" dirty="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Κεφαλίδα ενότητας">
    <p:spTree>
      <p:nvGrpSpPr>
        <p:cNvPr id="1" name=""/>
        <p:cNvGrpSpPr/>
        <p:nvPr/>
      </p:nvGrpSpPr>
      <p:grpSpPr>
        <a:xfrm>
          <a:off x="0" y="0"/>
          <a:ext cx="0" cy="0"/>
          <a:chOff x="0" y="0"/>
          <a:chExt cx="0" cy="0"/>
        </a:xfrm>
      </p:grpSpPr>
      <p:sp>
        <p:nvSpPr>
          <p:cNvPr id="9" name="Ορθογώνιο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10" name="Ορθογώνιο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2" name="Τίτλος 1"/>
          <p:cNvSpPr>
            <a:spLocks noGrp="1"/>
          </p:cNvSpPr>
          <p:nvPr>
            <p:ph type="title"/>
          </p:nvPr>
        </p:nvSpPr>
        <p:spPr>
          <a:xfrm>
            <a:off x="521208" y="884902"/>
            <a:ext cx="6876288" cy="1291369"/>
          </a:xfrm>
        </p:spPr>
        <p:txBody>
          <a:bodyPr rtlCol="0">
            <a:normAutofit/>
          </a:bodyPr>
          <a:lstStyle>
            <a:lvl1pPr>
              <a:defRPr sz="3600">
                <a:solidFill>
                  <a:schemeClr val="bg1"/>
                </a:solidFill>
              </a:defRPr>
            </a:lvl1pPr>
          </a:lstStyle>
          <a:p>
            <a:pPr rtl="0"/>
            <a:r>
              <a:rPr lang="el-GR" noProof="0"/>
              <a:t>Κάντε κλικ για να επεξεργαστείτε τον τίτλο υποδείγματος</a:t>
            </a:r>
            <a:endParaRPr lang="el-GR" noProof="0" dirty="0"/>
          </a:p>
        </p:txBody>
      </p:sp>
      <p:sp>
        <p:nvSpPr>
          <p:cNvPr id="7" name="Θέση περιεχομένου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j-lt"/>
              </a:defRPr>
            </a:lvl1pPr>
            <a:lvl2pPr>
              <a:defRPr lang="en-US" sz="1200" dirty="0" smtClean="0">
                <a:solidFill>
                  <a:schemeClr val="tx1">
                    <a:lumMod val="75000"/>
                    <a:lumOff val="25000"/>
                  </a:schemeClr>
                </a:solidFill>
              </a:defRPr>
            </a:lvl2pPr>
            <a:lvl3pPr>
              <a:defRPr lang="en-US" sz="1200" dirty="0" smtClean="0">
                <a:solidFill>
                  <a:schemeClr val="tx1">
                    <a:lumMod val="75000"/>
                    <a:lumOff val="25000"/>
                  </a:schemeClr>
                </a:solidFill>
              </a:defRPr>
            </a:lvl3pPr>
            <a:lvl4pPr>
              <a:defRPr lang="en-US" sz="1200" dirty="0" smtClean="0">
                <a:solidFill>
                  <a:schemeClr val="tx1">
                    <a:lumMod val="75000"/>
                    <a:lumOff val="25000"/>
                  </a:schemeClr>
                </a:solidFill>
              </a:defRPr>
            </a:lvl4pPr>
            <a:lvl5pPr>
              <a:defRPr lang="en-US" sz="1200" dirty="0">
                <a:solidFill>
                  <a:schemeClr val="tx1">
                    <a:lumMod val="75000"/>
                    <a:lumOff val="25000"/>
                  </a:schemeClr>
                </a:solidFill>
              </a:defRPr>
            </a:lvl5pPr>
          </a:lstStyle>
          <a:p>
            <a:pPr marL="0" lvl="0" indent="0" rtl="0">
              <a:lnSpc>
                <a:spcPct val="150000"/>
              </a:lnSpc>
              <a:spcBef>
                <a:spcPts val="1000"/>
              </a:spcBef>
              <a:spcAft>
                <a:spcPts val="1200"/>
              </a:spcAft>
              <a:buNone/>
            </a:pPr>
            <a:r>
              <a:rPr lang="el-GR" noProof="0"/>
              <a:t>Επεξεργασία στυλ υποδείγματος κειμένου</a:t>
            </a:r>
          </a:p>
          <a:p>
            <a:pPr marL="0" lvl="1" indent="0" rtl="0">
              <a:lnSpc>
                <a:spcPct val="150000"/>
              </a:lnSpc>
              <a:spcBef>
                <a:spcPts val="1000"/>
              </a:spcBef>
              <a:spcAft>
                <a:spcPts val="1200"/>
              </a:spcAft>
              <a:buNone/>
            </a:pPr>
            <a:r>
              <a:rPr lang="el-GR" noProof="0"/>
              <a:t>Δεύτερου επιπέδου</a:t>
            </a:r>
          </a:p>
          <a:p>
            <a:pPr marL="0" lvl="2" indent="0" rtl="0">
              <a:lnSpc>
                <a:spcPct val="150000"/>
              </a:lnSpc>
              <a:spcBef>
                <a:spcPts val="1000"/>
              </a:spcBef>
              <a:spcAft>
                <a:spcPts val="1200"/>
              </a:spcAft>
              <a:buNone/>
            </a:pPr>
            <a:r>
              <a:rPr lang="el-GR" noProof="0"/>
              <a:t>Τρίτου επιπέδου</a:t>
            </a:r>
          </a:p>
          <a:p>
            <a:pPr marL="0" lvl="3" indent="0" rtl="0">
              <a:lnSpc>
                <a:spcPct val="150000"/>
              </a:lnSpc>
              <a:spcBef>
                <a:spcPts val="1000"/>
              </a:spcBef>
              <a:spcAft>
                <a:spcPts val="1200"/>
              </a:spcAft>
              <a:buNone/>
            </a:pPr>
            <a:r>
              <a:rPr lang="el-GR" noProof="0"/>
              <a:t>Τέταρτου επιπέδου</a:t>
            </a:r>
          </a:p>
          <a:p>
            <a:pPr marL="0" lvl="4" indent="0" rtl="0">
              <a:lnSpc>
                <a:spcPct val="150000"/>
              </a:lnSpc>
              <a:spcBef>
                <a:spcPts val="1000"/>
              </a:spcBef>
              <a:spcAft>
                <a:spcPts val="1200"/>
              </a:spcAft>
              <a:buNone/>
            </a:pPr>
            <a:r>
              <a:rPr lang="el-GR" noProof="0"/>
              <a:t>Πέμπτου επιπέδου</a:t>
            </a:r>
            <a:endParaRPr lang="el-GR" noProof="0" dirty="0"/>
          </a:p>
        </p:txBody>
      </p:sp>
    </p:spTree>
    <p:extLst>
      <p:ext uri="{BB962C8B-B14F-4D97-AF65-F5344CB8AC3E}">
        <p14:creationId xmlns:p14="http://schemas.microsoft.com/office/powerpoint/2010/main" val="13356555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Ορθογώνιο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el-GR" sz="1800" dirty="0"/>
          </a:p>
        </p:txBody>
      </p:sp>
      <p:sp>
        <p:nvSpPr>
          <p:cNvPr id="2" name="Θέση τίτλου 1"/>
          <p:cNvSpPr>
            <a:spLocks noGrp="1"/>
          </p:cNvSpPr>
          <p:nvPr>
            <p:ph type="title"/>
          </p:nvPr>
        </p:nvSpPr>
        <p:spPr>
          <a:xfrm>
            <a:off x="521208" y="448056"/>
            <a:ext cx="10058302" cy="640080"/>
          </a:xfrm>
          <a:prstGeom prst="rect">
            <a:avLst/>
          </a:prstGeom>
        </p:spPr>
        <p:txBody>
          <a:bodyPr vert="horz" lIns="91440" tIns="45720" rIns="91440" bIns="45720" rtlCol="0" anchor="b" anchorCtr="0">
            <a:normAutofit/>
          </a:bodyPr>
          <a:lstStyle/>
          <a:p>
            <a:pPr rtl="0"/>
            <a:r>
              <a:rPr lang="el-GR" dirty="0"/>
              <a:t>Κάντε κλικ για να επεξεργαστείτε το Στυλ κύριου τίτλου</a:t>
            </a:r>
          </a:p>
        </p:txBody>
      </p:sp>
      <p:sp>
        <p:nvSpPr>
          <p:cNvPr id="3" name="Θέση κειμένου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el-GR" dirty="0"/>
              <a:t>Επεξεργασία στυλ υποδείγματος κειμένου</a:t>
            </a:r>
          </a:p>
          <a:p>
            <a:pPr marL="228600" lvl="0" indent="-228600" algn="l" defTabSz="914400" rtl="0" eaLnBrk="1" latinLnBrk="0" hangingPunct="1">
              <a:lnSpc>
                <a:spcPct val="90000"/>
              </a:lnSpc>
              <a:spcBef>
                <a:spcPct val="30000"/>
              </a:spcBef>
              <a:buFont typeface="Arial" panose="020B0604020202020204" pitchFamily="34" charset="0"/>
              <a:buChar char="•"/>
            </a:pPr>
            <a:r>
              <a:rPr lang="el-GR" dirty="0"/>
              <a:t>Δεύτερου επιπέδου</a:t>
            </a:r>
          </a:p>
          <a:p>
            <a:pPr marL="685800" lvl="1" indent="-228600" algn="l" defTabSz="914400" rtl="0" eaLnBrk="1" latinLnBrk="0" hangingPunct="1">
              <a:lnSpc>
                <a:spcPct val="90000"/>
              </a:lnSpc>
              <a:spcBef>
                <a:spcPct val="30000"/>
              </a:spcBef>
              <a:buFont typeface="Arial" panose="020B0604020202020204" pitchFamily="34" charset="0"/>
              <a:buChar char="•"/>
            </a:pPr>
            <a:r>
              <a:rPr lang="el-GR" dirty="0"/>
              <a:t>Τρίτου επιπέδου</a:t>
            </a:r>
          </a:p>
          <a:p>
            <a:pPr marL="1143000" lvl="2" indent="-228600" algn="l" defTabSz="914400" rtl="0" eaLnBrk="1" latinLnBrk="0" hangingPunct="1">
              <a:lnSpc>
                <a:spcPct val="90000"/>
              </a:lnSpc>
              <a:spcBef>
                <a:spcPct val="30000"/>
              </a:spcBef>
              <a:buFont typeface="Arial" panose="020B0604020202020204" pitchFamily="34" charset="0"/>
              <a:buChar char="•"/>
            </a:pPr>
            <a:r>
              <a:rPr lang="el-GR" dirty="0"/>
              <a:t>Τέταρτου επιπέδου</a:t>
            </a:r>
          </a:p>
          <a:p>
            <a:pPr marL="1600200" lvl="3" indent="-228600" algn="l" defTabSz="914400" rtl="0" eaLnBrk="1" latinLnBrk="0" hangingPunct="1">
              <a:lnSpc>
                <a:spcPct val="90000"/>
              </a:lnSpc>
              <a:spcBef>
                <a:spcPct val="30000"/>
              </a:spcBef>
              <a:buFont typeface="Arial" panose="020B0604020202020204" pitchFamily="34" charset="0"/>
              <a:buChar char="•"/>
            </a:pPr>
            <a:r>
              <a:rPr lang="el-GR" dirty="0"/>
              <a:t>Πέμπτου επιπέδου</a:t>
            </a:r>
          </a:p>
        </p:txBody>
      </p:sp>
      <p:sp>
        <p:nvSpPr>
          <p:cNvPr id="4" name="Θέση ημερομηνίας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pPr rtl="0"/>
            <a:fld id="{577B7329-A8D8-42EA-B94C-D5FD42F8F744}" type="datetime1">
              <a:rPr lang="el-GR" smtClean="0"/>
              <a:t>5/12/2018</a:t>
            </a:fld>
            <a:endParaRPr lang="el-GR" dirty="0"/>
          </a:p>
        </p:txBody>
      </p:sp>
      <p:sp>
        <p:nvSpPr>
          <p:cNvPr id="5" name="Θέση υποσέλιδου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pPr rtl="0"/>
            <a:endParaRPr lang="el-GR" dirty="0"/>
          </a:p>
        </p:txBody>
      </p:sp>
      <p:sp>
        <p:nvSpPr>
          <p:cNvPr id="6" name="Θέση αριθμού διαφάνειας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pPr rtl="0"/>
            <a:fld id="{9860EDB8-5305-433F-BE41-D7A86D811DB3}" type="slidenum">
              <a:rPr lang="el-GR" smtClean="0"/>
              <a:pPr/>
              <a:t>‹#›</a:t>
            </a:fld>
            <a:endParaRPr lang="el-GR" dirty="0"/>
          </a:p>
        </p:txBody>
      </p:sp>
      <p:cxnSp>
        <p:nvCxnSpPr>
          <p:cNvPr id="8" name="Ευθεία γραμμή σύνδεσης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hf sldNum="0" hdr="0" ftr="0" dt="0"/>
  <p:txStyles>
    <p:titleStyle>
      <a:lvl1pPr algn="l" defTabSz="914400" rtl="0" eaLnBrk="1" latinLnBrk="0" hangingPunct="1">
        <a:spcBef>
          <a:spcPct val="0"/>
        </a:spcBef>
        <a:buNone/>
        <a:defRPr sz="2800" kern="1200">
          <a:solidFill>
            <a:schemeClr val="tx1"/>
          </a:solidFill>
          <a:latin typeface="+mj-lt"/>
          <a:ea typeface="+mj-ea"/>
          <a:cs typeface="+mj-cs"/>
        </a:defRPr>
      </a:lvl1pPr>
    </p:titleStyle>
    <p:bodyStyle>
      <a:lvl1pPr marL="0" indent="0" algn="l" defTabSz="914400" rtl="0" eaLnBrk="1" latinLnBrk="0" hangingPunct="1">
        <a:lnSpc>
          <a:spcPct val="150000"/>
        </a:lnSpc>
        <a:spcBef>
          <a:spcPts val="1000"/>
        </a:spcBef>
        <a:spcAft>
          <a:spcPts val="1200"/>
        </a:spcAft>
        <a:buFontTx/>
        <a:buNone/>
        <a:defRPr lang="en-US" sz="1200" kern="1200" dirty="0">
          <a:solidFill>
            <a:schemeClr val="tx1"/>
          </a:solidFill>
          <a:latin typeface="+mn-lt"/>
          <a:ea typeface="+mn-ea"/>
          <a:cs typeface="+mn-cs"/>
        </a:defRPr>
      </a:lvl1pPr>
      <a:lvl2pPr marL="228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2pPr>
      <a:lvl3pPr marL="685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3pPr>
      <a:lvl4pPr marL="11430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4pPr>
      <a:lvl5pPr marL="16002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bit.ly/2Q5DrNs"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mbientlab.com/product/metawearc" TargetMode="Externa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go.microsoft.com/fwlink/?LinkId=617172" TargetMode="External"/><Relationship Id="rId7"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hyperlink" Target="https://support.office.com/el-gr/article/%ce%95%ce%ba%cf%80%ce%b1%ce%af%ce%b4%ce%b5%cf%85%cf%83%ce%b7-%cf%83%cf%84%ce%bf-PowerPoint-40e8c930-cb0b-40d8-82c4-bd53d3398787?omkt=el-GR&amp;ui=el-GR&amp;rs=el-GR&amp;ad=GR"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p:cNvSpPr>
            <a:spLocks noGrp="1"/>
          </p:cNvSpPr>
          <p:nvPr>
            <p:ph type="ctrTitle"/>
          </p:nvPr>
        </p:nvSpPr>
        <p:spPr>
          <a:xfrm>
            <a:off x="838200" y="1164324"/>
            <a:ext cx="10515600" cy="2387600"/>
          </a:xfrm>
        </p:spPr>
        <p:txBody>
          <a:bodyPr rtlCol="0" anchor="ctr" anchorCtr="0">
            <a:normAutofit/>
          </a:bodyPr>
          <a:lstStyle/>
          <a:p>
            <a:pPr rtl="0"/>
            <a:r>
              <a:rPr lang="el-GR" sz="4800" dirty="0">
                <a:solidFill>
                  <a:schemeClr val="bg1"/>
                </a:solidFill>
              </a:rPr>
              <a:t>Μηχανική Μάθηση και Αθλητισμός</a:t>
            </a:r>
          </a:p>
        </p:txBody>
      </p:sp>
      <p:sp>
        <p:nvSpPr>
          <p:cNvPr id="3" name="Υπότιτλος 2"/>
          <p:cNvSpPr>
            <a:spLocks noGrp="1"/>
          </p:cNvSpPr>
          <p:nvPr>
            <p:ph type="subTitle" idx="4294967295"/>
          </p:nvPr>
        </p:nvSpPr>
        <p:spPr>
          <a:xfrm>
            <a:off x="855620" y="2933105"/>
            <a:ext cx="9582736" cy="1137793"/>
          </a:xfrm>
        </p:spPr>
        <p:txBody>
          <a:bodyPr rtlCol="0">
            <a:normAutofit fontScale="85000" lnSpcReduction="20000"/>
          </a:bodyPr>
          <a:lstStyle/>
          <a:p>
            <a:pPr marL="0" indent="0" rtl="0">
              <a:buNone/>
            </a:pPr>
            <a:r>
              <a:rPr lang="el-GR" sz="2400" dirty="0">
                <a:solidFill>
                  <a:schemeClr val="bg1"/>
                </a:solidFill>
                <a:latin typeface="+mj-lt"/>
              </a:rPr>
              <a:t>Μαυροπούλου Κυριακή, ΑΕΜ 12</a:t>
            </a:r>
          </a:p>
          <a:p>
            <a:pPr marL="0" indent="0" rtl="0">
              <a:buNone/>
            </a:pPr>
            <a:r>
              <a:rPr lang="el-GR" sz="2400" dirty="0">
                <a:solidFill>
                  <a:schemeClr val="bg1"/>
                </a:solidFill>
                <a:latin typeface="+mj-lt"/>
              </a:rPr>
              <a:t>Μπάμπης Νικόλαος, ΑΕΜ 13</a:t>
            </a:r>
          </a:p>
        </p:txBody>
      </p:sp>
      <p:pic>
        <p:nvPicPr>
          <p:cNvPr id="6" name="Εικόνα 5">
            <a:extLst>
              <a:ext uri="{FF2B5EF4-FFF2-40B4-BE49-F238E27FC236}">
                <a16:creationId xmlns:a16="http://schemas.microsoft.com/office/drawing/2014/main" id="{5323E79F-2D72-413A-8A58-9C858F1944C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409813" y="5485787"/>
            <a:ext cx="2545173" cy="1148254"/>
          </a:xfrm>
          <a:prstGeom prst="rect">
            <a:avLst/>
          </a:prstGeom>
        </p:spPr>
      </p:pic>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Τίτλος 7"/>
          <p:cNvSpPr>
            <a:spLocks noGrp="1"/>
          </p:cNvSpPr>
          <p:nvPr>
            <p:ph type="title"/>
          </p:nvPr>
        </p:nvSpPr>
        <p:spPr>
          <a:xfrm>
            <a:off x="521207" y="448056"/>
            <a:ext cx="10578915" cy="640080"/>
          </a:xfrm>
        </p:spPr>
        <p:txBody>
          <a:bodyPr rtlCol="0">
            <a:noAutofit/>
          </a:bodyPr>
          <a:lstStyle/>
          <a:p>
            <a:pPr rtl="0"/>
            <a:r>
              <a:rPr lang="el-GR" dirty="0">
                <a:latin typeface="Segoe UI Light" panose="020B0502040204020203" pitchFamily="34" charset="0"/>
                <a:cs typeface="Segoe UI Light" panose="020B0502040204020203" pitchFamily="34" charset="0"/>
              </a:rPr>
              <a:t>Η ορολογία «</a:t>
            </a:r>
            <a:r>
              <a:rPr lang="en-US" dirty="0">
                <a:latin typeface="Segoe UI Light" panose="020B0502040204020203" pitchFamily="34" charset="0"/>
                <a:cs typeface="Segoe UI Light" panose="020B0502040204020203" pitchFamily="34" charset="0"/>
              </a:rPr>
              <a:t>Machine Learning</a:t>
            </a:r>
            <a:r>
              <a:rPr lang="el-GR" dirty="0">
                <a:latin typeface="Segoe UI Light" panose="020B0502040204020203" pitchFamily="34" charset="0"/>
                <a:cs typeface="Segoe UI Light" panose="020B0502040204020203" pitchFamily="34" charset="0"/>
              </a:rPr>
              <a:t>»</a:t>
            </a:r>
          </a:p>
        </p:txBody>
      </p:sp>
      <p:sp>
        <p:nvSpPr>
          <p:cNvPr id="38" name="Θέση περιεχομένου 17"/>
          <p:cNvSpPr txBox="1">
            <a:spLocks/>
          </p:cNvSpPr>
          <p:nvPr/>
        </p:nvSpPr>
        <p:spPr>
          <a:xfrm>
            <a:off x="541610" y="1524708"/>
            <a:ext cx="4321704" cy="387151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a:spcAft>
                <a:spcPts val="600"/>
              </a:spcAft>
              <a:buNone/>
              <a:defRPr/>
            </a:pPr>
            <a:r>
              <a:rPr lang="el-GR" sz="1400" dirty="0">
                <a:latin typeface="Segoe UI" panose="020B0502040204020203" pitchFamily="34" charset="0"/>
                <a:cs typeface="Segoe UI" panose="020B0502040204020203" pitchFamily="34" charset="0"/>
              </a:rPr>
              <a:t>Η χρήση των δεδομένων στον αθλητισμό, έχει δει μεγάλη ανάπτυξη τα τελευταία χρόνια. Έτσι λοιπόν υπάρχει μεγάλη ανάγκη πλέον στην  διερεύνηση μελέτης και την κατασκευή αλγορίθμων που μπορούν να μαθαίνουν από τα δεδομένα αυτά. Τέτοιο αλγόριθμοι λειτουργούν, δημιουργώντας μοντέλα από δεδομένα, προκειμένου να κάνουν προβλέψεις ή να εξάγουν αποφάσεις που εκφράζονται ως το αποτέλεσμα.</a:t>
            </a:r>
          </a:p>
        </p:txBody>
      </p:sp>
      <p:pic>
        <p:nvPicPr>
          <p:cNvPr id="3" name="Εικόνα 2">
            <a:extLst>
              <a:ext uri="{FF2B5EF4-FFF2-40B4-BE49-F238E27FC236}">
                <a16:creationId xmlns:a16="http://schemas.microsoft.com/office/drawing/2014/main" id="{8FCAADA0-4330-41C5-A1F4-5AAC37BA0E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70714" y="3209773"/>
            <a:ext cx="6479676" cy="2737891"/>
          </a:xfrm>
          <a:prstGeom prst="rect">
            <a:avLst/>
          </a:prstGeom>
        </p:spPr>
      </p:pic>
      <p:sp>
        <p:nvSpPr>
          <p:cNvPr id="7" name="Θέση περιεχομένου 17">
            <a:extLst>
              <a:ext uri="{FF2B5EF4-FFF2-40B4-BE49-F238E27FC236}">
                <a16:creationId xmlns:a16="http://schemas.microsoft.com/office/drawing/2014/main" id="{12156FDE-401E-4EAE-80DB-835E893FF230}"/>
              </a:ext>
            </a:extLst>
          </p:cNvPr>
          <p:cNvSpPr txBox="1">
            <a:spLocks/>
          </p:cNvSpPr>
          <p:nvPr/>
        </p:nvSpPr>
        <p:spPr>
          <a:xfrm>
            <a:off x="10920972" y="5947664"/>
            <a:ext cx="729418" cy="33745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a:spcAft>
                <a:spcPts val="600"/>
              </a:spcAft>
              <a:buNone/>
              <a:defRPr/>
            </a:pPr>
            <a:r>
              <a:rPr lang="en-US" sz="1400" dirty="0">
                <a:latin typeface="Segoe UI" panose="020B0502040204020203" pitchFamily="34" charset="0"/>
                <a:cs typeface="Segoe UI" panose="020B0502040204020203" pitchFamily="34" charset="0"/>
                <a:hlinkClick r:id="rId4"/>
              </a:rPr>
              <a:t>source</a:t>
            </a:r>
            <a:endParaRPr lang="el-GR" sz="14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4576161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Τίτλος 3"/>
          <p:cNvSpPr>
            <a:spLocks noGrp="1"/>
          </p:cNvSpPr>
          <p:nvPr>
            <p:ph type="title"/>
          </p:nvPr>
        </p:nvSpPr>
        <p:spPr>
          <a:xfrm>
            <a:off x="521207" y="448056"/>
            <a:ext cx="11090690" cy="640080"/>
          </a:xfrm>
        </p:spPr>
        <p:txBody>
          <a:bodyPr rtlCol="0">
            <a:normAutofit/>
          </a:bodyPr>
          <a:lstStyle/>
          <a:p>
            <a:r>
              <a:rPr lang="el-GR" dirty="0">
                <a:latin typeface="Segoe UI Light" panose="020B0502040204020203" pitchFamily="34" charset="0"/>
                <a:cs typeface="Segoe UI Light" panose="020B0502040204020203" pitchFamily="34" charset="0"/>
              </a:rPr>
              <a:t>Εφαρμογή Αισθητήρα </a:t>
            </a:r>
            <a:r>
              <a:rPr lang="en-US" dirty="0">
                <a:latin typeface="Segoe UI Light" panose="020B0502040204020203" pitchFamily="34" charset="0"/>
                <a:cs typeface="Segoe UI Light" panose="020B0502040204020203" pitchFamily="34" charset="0"/>
              </a:rPr>
              <a:t>“MetawearC” </a:t>
            </a:r>
            <a:r>
              <a:rPr lang="el-GR" dirty="0">
                <a:latin typeface="Segoe UI Light" panose="020B0502040204020203" pitchFamily="34" charset="0"/>
                <a:cs typeface="Segoe UI Light" panose="020B0502040204020203" pitchFamily="34" charset="0"/>
              </a:rPr>
              <a:t>στο Ποδόσφαιρο.</a:t>
            </a:r>
          </a:p>
        </p:txBody>
      </p:sp>
      <p:sp>
        <p:nvSpPr>
          <p:cNvPr id="25" name="Θέση περιεχομένου 17"/>
          <p:cNvSpPr txBox="1">
            <a:spLocks/>
          </p:cNvSpPr>
          <p:nvPr/>
        </p:nvSpPr>
        <p:spPr>
          <a:xfrm>
            <a:off x="541609" y="145549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sz="1600" dirty="0">
                <a:latin typeface="Segoe UI" panose="020B0502040204020203" pitchFamily="34" charset="0"/>
                <a:cs typeface="Segoe UI" panose="020B0502040204020203" pitchFamily="34" charset="0"/>
              </a:rPr>
              <a:t>Πώς λειτουργεί:</a:t>
            </a:r>
          </a:p>
        </p:txBody>
      </p:sp>
      <p:sp>
        <p:nvSpPr>
          <p:cNvPr id="21" name="Θέση περιεχομένου 17"/>
          <p:cNvSpPr txBox="1">
            <a:spLocks/>
          </p:cNvSpPr>
          <p:nvPr/>
        </p:nvSpPr>
        <p:spPr>
          <a:xfrm>
            <a:off x="844563" y="2058984"/>
            <a:ext cx="5878966" cy="4129664"/>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Επιλογή κατάλληλου αισθητήρα, με χαρακτηριστικά</a:t>
            </a:r>
            <a:r>
              <a:rPr lang="en-US" sz="1400" dirty="0">
                <a:solidFill>
                  <a:prstClr val="black">
                    <a:lumMod val="75000"/>
                    <a:lumOff val="25000"/>
                  </a:prstClr>
                </a:solidFill>
                <a:latin typeface="Segoe UI" panose="020B0502040204020203" pitchFamily="34" charset="0"/>
                <a:cs typeface="Segoe UI" panose="020B0502040204020203" pitchFamily="34" charset="0"/>
              </a:rPr>
              <a:t>:</a:t>
            </a:r>
            <a:br>
              <a:rPr lang="en-US" sz="1400" dirty="0">
                <a:solidFill>
                  <a:prstClr val="black">
                    <a:lumMod val="75000"/>
                    <a:lumOff val="25000"/>
                  </a:prstClr>
                </a:solidFill>
                <a:latin typeface="Segoe UI" panose="020B0502040204020203" pitchFamily="34" charset="0"/>
                <a:cs typeface="Segoe UI" panose="020B0502040204020203" pitchFamily="34" charset="0"/>
              </a:rPr>
            </a:br>
            <a:r>
              <a:rPr lang="el-GR" sz="1400" dirty="0">
                <a:solidFill>
                  <a:prstClr val="black">
                    <a:lumMod val="75000"/>
                    <a:lumOff val="25000"/>
                  </a:prstClr>
                </a:solidFill>
                <a:latin typeface="Segoe UI" panose="020B0502040204020203" pitchFamily="34" charset="0"/>
                <a:cs typeface="Segoe UI" panose="020B0502040204020203" pitchFamily="34" charset="0"/>
              </a:rPr>
              <a:t>επιταχυνσιόμετρο - γυροσκόπιο.</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Τοποθέτηση αισθητήρα σε ειδικό ποδοσφαιρικό παπούτσι αθλητή</a:t>
            </a:r>
            <a:r>
              <a:rPr lang="en-US" sz="1400" dirty="0">
                <a:solidFill>
                  <a:prstClr val="black">
                    <a:lumMod val="75000"/>
                    <a:lumOff val="25000"/>
                  </a:prstClr>
                </a:solidFill>
                <a:latin typeface="Segoe UI" panose="020B0502040204020203" pitchFamily="34" charset="0"/>
                <a:cs typeface="Segoe UI" panose="020B0502040204020203" pitchFamily="34" charset="0"/>
              </a:rPr>
              <a:t> </a:t>
            </a:r>
            <a:r>
              <a:rPr lang="el-GR" sz="1400" dirty="0">
                <a:solidFill>
                  <a:prstClr val="black">
                    <a:lumMod val="75000"/>
                    <a:lumOff val="25000"/>
                  </a:prstClr>
                </a:solidFill>
                <a:latin typeface="Segoe UI" panose="020B0502040204020203" pitchFamily="34" charset="0"/>
                <a:cs typeface="Segoe UI" panose="020B0502040204020203" pitchFamily="34" charset="0"/>
              </a:rPr>
              <a:t>και καταγραφή κίνησης.</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Αποστολή δεδομένων μέσω </a:t>
            </a:r>
            <a:r>
              <a:rPr lang="en-US" sz="1400" dirty="0">
                <a:solidFill>
                  <a:prstClr val="black">
                    <a:lumMod val="75000"/>
                    <a:lumOff val="25000"/>
                  </a:prstClr>
                </a:solidFill>
                <a:latin typeface="Segoe UI" panose="020B0502040204020203" pitchFamily="34" charset="0"/>
                <a:cs typeface="Segoe UI" panose="020B0502040204020203" pitchFamily="34" charset="0"/>
              </a:rPr>
              <a:t>cloud</a:t>
            </a:r>
            <a:r>
              <a:rPr lang="el-GR" sz="1400" dirty="0">
                <a:solidFill>
                  <a:prstClr val="black">
                    <a:lumMod val="75000"/>
                    <a:lumOff val="25000"/>
                  </a:prstClr>
                </a:solidFill>
                <a:latin typeface="Segoe UI" panose="020B0502040204020203" pitchFamily="34" charset="0"/>
                <a:cs typeface="Segoe UI" panose="020B0502040204020203" pitchFamily="34" charset="0"/>
              </a:rPr>
              <a:t> ή επιλογή </a:t>
            </a:r>
            <a:r>
              <a:rPr lang="en-US" sz="1400" dirty="0">
                <a:solidFill>
                  <a:prstClr val="black">
                    <a:lumMod val="75000"/>
                    <a:lumOff val="25000"/>
                  </a:prstClr>
                </a:solidFill>
                <a:latin typeface="Segoe UI" panose="020B0502040204020203" pitchFamily="34" charset="0"/>
                <a:cs typeface="Segoe UI" panose="020B0502040204020203" pitchFamily="34" charset="0"/>
              </a:rPr>
              <a:t>download</a:t>
            </a:r>
            <a:r>
              <a:rPr lang="el-GR" sz="1400" dirty="0">
                <a:solidFill>
                  <a:prstClr val="black">
                    <a:lumMod val="75000"/>
                    <a:lumOff val="25000"/>
                  </a:prstClr>
                </a:solidFill>
                <a:latin typeface="Segoe UI" panose="020B0502040204020203" pitchFamily="34" charset="0"/>
                <a:cs typeface="Segoe UI" panose="020B0502040204020203" pitchFamily="34" charset="0"/>
              </a:rPr>
              <a:t> σε μορφή </a:t>
            </a:r>
            <a:r>
              <a:rPr lang="en-US" sz="1400" dirty="0">
                <a:solidFill>
                  <a:prstClr val="black">
                    <a:lumMod val="75000"/>
                    <a:lumOff val="25000"/>
                  </a:prstClr>
                </a:solidFill>
                <a:latin typeface="Segoe UI" panose="020B0502040204020203" pitchFamily="34" charset="0"/>
                <a:cs typeface="Segoe UI" panose="020B0502040204020203" pitchFamily="34" charset="0"/>
              </a:rPr>
              <a:t>.csv </a:t>
            </a:r>
            <a:r>
              <a:rPr lang="el-GR" sz="1400" dirty="0">
                <a:solidFill>
                  <a:prstClr val="black">
                    <a:lumMod val="75000"/>
                    <a:lumOff val="25000"/>
                  </a:prstClr>
                </a:solidFill>
                <a:latin typeface="Segoe UI" panose="020B0502040204020203" pitchFamily="34" charset="0"/>
                <a:cs typeface="Segoe UI" panose="020B0502040204020203" pitchFamily="34" charset="0"/>
              </a:rPr>
              <a:t>αρχείου</a:t>
            </a:r>
            <a:r>
              <a:rPr lang="en-US" sz="1400" dirty="0">
                <a:solidFill>
                  <a:prstClr val="black">
                    <a:lumMod val="75000"/>
                    <a:lumOff val="25000"/>
                  </a:prstClr>
                </a:solidFill>
                <a:latin typeface="Segoe UI" panose="020B0502040204020203" pitchFamily="34" charset="0"/>
                <a:cs typeface="Segoe UI" panose="020B0502040204020203" pitchFamily="34" charset="0"/>
              </a:rPr>
              <a:t>.</a:t>
            </a: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Οπτικοποίηση δεδομένων και καθαρισμός αυτών.</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Επιλογή αλγορίθμου (</a:t>
            </a:r>
            <a:r>
              <a:rPr lang="en-US" sz="1400" dirty="0">
                <a:solidFill>
                  <a:prstClr val="black">
                    <a:lumMod val="75000"/>
                    <a:lumOff val="25000"/>
                  </a:prstClr>
                </a:solidFill>
                <a:latin typeface="Segoe UI" panose="020B0502040204020203" pitchFamily="34" charset="0"/>
                <a:cs typeface="Segoe UI" panose="020B0502040204020203" pitchFamily="34" charset="0"/>
              </a:rPr>
              <a:t>k-Nearest-Neighbor Classifier</a:t>
            </a:r>
            <a:r>
              <a:rPr lang="el-GR" sz="1400" dirty="0">
                <a:solidFill>
                  <a:prstClr val="black">
                    <a:lumMod val="75000"/>
                    <a:lumOff val="25000"/>
                  </a:prstClr>
                </a:solidFill>
                <a:latin typeface="Segoe UI" panose="020B0502040204020203" pitchFamily="34" charset="0"/>
                <a:cs typeface="Segoe UI" panose="020B0502040204020203" pitchFamily="34" charset="0"/>
              </a:rPr>
              <a:t>) για την ανάλυση των δεδομένων και εξαγωγή προβλέψεων.</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Διαχωρισμός δεδομένων σε </a:t>
            </a:r>
            <a:r>
              <a:rPr lang="en-US" sz="1400" dirty="0">
                <a:solidFill>
                  <a:prstClr val="black">
                    <a:lumMod val="75000"/>
                    <a:lumOff val="25000"/>
                  </a:prstClr>
                </a:solidFill>
                <a:latin typeface="Segoe UI" panose="020B0502040204020203" pitchFamily="34" charset="0"/>
                <a:cs typeface="Segoe UI" panose="020B0502040204020203" pitchFamily="34" charset="0"/>
              </a:rPr>
              <a:t>training set </a:t>
            </a:r>
            <a:r>
              <a:rPr lang="el-GR" sz="1400" dirty="0">
                <a:solidFill>
                  <a:prstClr val="black">
                    <a:lumMod val="75000"/>
                    <a:lumOff val="25000"/>
                  </a:prstClr>
                </a:solidFill>
                <a:latin typeface="Segoe UI" panose="020B0502040204020203" pitchFamily="34" charset="0"/>
                <a:cs typeface="Segoe UI" panose="020B0502040204020203" pitchFamily="34" charset="0"/>
              </a:rPr>
              <a:t>και </a:t>
            </a:r>
            <a:r>
              <a:rPr lang="en-US" sz="1400" dirty="0">
                <a:solidFill>
                  <a:prstClr val="black">
                    <a:lumMod val="75000"/>
                    <a:lumOff val="25000"/>
                  </a:prstClr>
                </a:solidFill>
                <a:latin typeface="Segoe UI" panose="020B0502040204020203" pitchFamily="34" charset="0"/>
                <a:cs typeface="Segoe UI" panose="020B0502040204020203" pitchFamily="34" charset="0"/>
              </a:rPr>
              <a:t>test set.</a:t>
            </a:r>
            <a:r>
              <a:rPr lang="el-GR" sz="1400" dirty="0">
                <a:solidFill>
                  <a:prstClr val="black">
                    <a:lumMod val="75000"/>
                    <a:lumOff val="25000"/>
                  </a:prstClr>
                </a:solidFill>
                <a:latin typeface="Segoe UI" panose="020B0502040204020203" pitchFamily="34" charset="0"/>
                <a:cs typeface="Segoe UI" panose="020B0502040204020203" pitchFamily="34" charset="0"/>
              </a:rPr>
              <a:t> </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Πρόβλεψη για το αν υπάρχει επαφή με την μπάλα ή όχι. </a:t>
            </a: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cs typeface="Segoe UI"/>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cs typeface="Segoe UI"/>
            </a:endParaRPr>
          </a:p>
        </p:txBody>
      </p:sp>
      <p:sp>
        <p:nvSpPr>
          <p:cNvPr id="46" name="Θέση περιεχομένου 17">
            <a:extLst>
              <a:ext uri="{FF2B5EF4-FFF2-40B4-BE49-F238E27FC236}">
                <a16:creationId xmlns:a16="http://schemas.microsoft.com/office/drawing/2014/main" id="{0CABEA57-7AA8-485B-9F05-DBF59718FF4B}"/>
              </a:ext>
            </a:extLst>
          </p:cNvPr>
          <p:cNvSpPr txBox="1">
            <a:spLocks/>
          </p:cNvSpPr>
          <p:nvPr/>
        </p:nvSpPr>
        <p:spPr>
          <a:xfrm>
            <a:off x="847130" y="3994925"/>
            <a:ext cx="5158129" cy="56353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20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p:txBody>
      </p:sp>
      <p:pic>
        <p:nvPicPr>
          <p:cNvPr id="3" name="Εικόνα 2">
            <a:extLst>
              <a:ext uri="{FF2B5EF4-FFF2-40B4-BE49-F238E27FC236}">
                <a16:creationId xmlns:a16="http://schemas.microsoft.com/office/drawing/2014/main" id="{06DBD0A2-8165-43C1-9594-F0CF98B807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1258" y="1411693"/>
            <a:ext cx="3711906" cy="248768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6" name="Εικόνα 5">
            <a:extLst>
              <a:ext uri="{FF2B5EF4-FFF2-40B4-BE49-F238E27FC236}">
                <a16:creationId xmlns:a16="http://schemas.microsoft.com/office/drawing/2014/main" id="{F054A5A8-D269-4013-8822-B6DC123FC6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66698" y="4635450"/>
            <a:ext cx="4467849" cy="173379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61" name="Θέση περιεχομένου 17">
            <a:extLst>
              <a:ext uri="{FF2B5EF4-FFF2-40B4-BE49-F238E27FC236}">
                <a16:creationId xmlns:a16="http://schemas.microsoft.com/office/drawing/2014/main" id="{F4410B6A-F3CC-481C-B565-48E91FD67D90}"/>
              </a:ext>
            </a:extLst>
          </p:cNvPr>
          <p:cNvSpPr txBox="1">
            <a:spLocks/>
          </p:cNvSpPr>
          <p:nvPr/>
        </p:nvSpPr>
        <p:spPr>
          <a:xfrm>
            <a:off x="7758971" y="3946778"/>
            <a:ext cx="3688494" cy="65908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latin typeface="Segoe UI" panose="020B0502040204020203" pitchFamily="34" charset="0"/>
                <a:cs typeface="Segoe UI" panose="020B0502040204020203" pitchFamily="34" charset="0"/>
              </a:rPr>
              <a:t>Αισθητήρας </a:t>
            </a:r>
            <a:r>
              <a:rPr lang="en-US" dirty="0">
                <a:latin typeface="Segoe UI" panose="020B0502040204020203" pitchFamily="34" charset="0"/>
                <a:cs typeface="Segoe UI" panose="020B0502040204020203" pitchFamily="34" charset="0"/>
              </a:rPr>
              <a:t>MetawearC</a:t>
            </a:r>
            <a:r>
              <a:rPr lang="el-GR" dirty="0">
                <a:latin typeface="Segoe UI" panose="020B0502040204020203" pitchFamily="34" charset="0"/>
                <a:cs typeface="Segoe UI" panose="020B0502040204020203" pitchFamily="34" charset="0"/>
              </a:rPr>
              <a:t> της εταιρείας </a:t>
            </a:r>
            <a:r>
              <a:rPr lang="en-US" dirty="0">
                <a:latin typeface="Segoe UI" panose="020B0502040204020203" pitchFamily="34" charset="0"/>
                <a:cs typeface="Segoe UI" panose="020B0502040204020203" pitchFamily="34" charset="0"/>
              </a:rPr>
              <a:t>MbientLab</a:t>
            </a:r>
            <a:r>
              <a:rPr lang="el-GR" dirty="0">
                <a:latin typeface="Segoe UI" panose="020B0502040204020203" pitchFamily="34" charset="0"/>
                <a:cs typeface="Segoe UI" panose="020B0502040204020203" pitchFamily="34" charset="0"/>
              </a:rPr>
              <a:t>.</a:t>
            </a:r>
            <a:br>
              <a:rPr lang="el-GR" dirty="0">
                <a:latin typeface="Segoe UI" panose="020B0502040204020203" pitchFamily="34" charset="0"/>
                <a:cs typeface="Segoe UI" panose="020B0502040204020203" pitchFamily="34" charset="0"/>
              </a:rPr>
            </a:br>
            <a:r>
              <a:rPr lang="en-US" dirty="0">
                <a:latin typeface="Segoe UI" panose="020B0502040204020203" pitchFamily="34" charset="0"/>
                <a:cs typeface="Segoe UI" panose="020B0502040204020203" pitchFamily="34" charset="0"/>
                <a:hlinkClick r:id="rId5"/>
              </a:rPr>
              <a:t>https://mbientlab.com/product/metawearc </a:t>
            </a:r>
            <a:endParaRPr lang="el-GR" dirty="0">
              <a:latin typeface="Segoe UI" panose="020B0502040204020203" pitchFamily="34" charset="0"/>
              <a:cs typeface="Segoe UI" panose="020B0502040204020203" pitchFamily="34" charset="0"/>
            </a:endParaRPr>
          </a:p>
        </p:txBody>
      </p:sp>
      <p:sp>
        <p:nvSpPr>
          <p:cNvPr id="62" name="Θέση περιεχομένου 17">
            <a:extLst>
              <a:ext uri="{FF2B5EF4-FFF2-40B4-BE49-F238E27FC236}">
                <a16:creationId xmlns:a16="http://schemas.microsoft.com/office/drawing/2014/main" id="{8CFA6769-5F8F-47F8-9E9D-4CBCC41B93F0}"/>
              </a:ext>
            </a:extLst>
          </p:cNvPr>
          <p:cNvSpPr txBox="1">
            <a:spLocks/>
          </p:cNvSpPr>
          <p:nvPr/>
        </p:nvSpPr>
        <p:spPr>
          <a:xfrm>
            <a:off x="7333279" y="638685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latin typeface="Segoe UI" panose="020B0502040204020203" pitchFamily="34" charset="0"/>
                <a:cs typeface="Segoe UI" panose="020B0502040204020203" pitchFamily="34" charset="0"/>
              </a:rPr>
              <a:t>Δεδομένα που εξάγονται από τον αισθητήρα σε μορφή</a:t>
            </a:r>
            <a:r>
              <a:rPr lang="en-US" dirty="0">
                <a:latin typeface="Segoe UI" panose="020B0502040204020203" pitchFamily="34" charset="0"/>
                <a:cs typeface="Segoe UI" panose="020B0502040204020203" pitchFamily="34" charset="0"/>
              </a:rPr>
              <a:t> .csv</a:t>
            </a:r>
            <a:r>
              <a:rPr lang="el-GR" dirty="0">
                <a:latin typeface="Segoe UI" panose="020B0502040204020203" pitchFamily="34" charset="0"/>
                <a:cs typeface="Segoe UI" panose="020B0502040204020203" pitchFamily="34" charset="0"/>
              </a:rPr>
              <a:t> . </a:t>
            </a:r>
          </a:p>
        </p:txBody>
      </p:sp>
    </p:spTree>
    <p:extLst>
      <p:ext uri="{BB962C8B-B14F-4D97-AF65-F5344CB8AC3E}">
        <p14:creationId xmlns:p14="http://schemas.microsoft.com/office/powerpoint/2010/main" val="11070017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E46F4-5A92-4E8E-BE0C-9212B75BC272}"/>
              </a:ext>
            </a:extLst>
          </p:cNvPr>
          <p:cNvSpPr>
            <a:spLocks noGrp="1"/>
          </p:cNvSpPr>
          <p:nvPr>
            <p:ph type="title"/>
          </p:nvPr>
        </p:nvSpPr>
        <p:spPr/>
        <p:txBody>
          <a:bodyPr/>
          <a:lstStyle/>
          <a:p>
            <a:r>
              <a:rPr lang="el-GR" dirty="0"/>
              <a:t>Αποτελέσματα</a:t>
            </a:r>
            <a:endParaRPr lang="en-US" dirty="0"/>
          </a:p>
        </p:txBody>
      </p:sp>
      <p:sp>
        <p:nvSpPr>
          <p:cNvPr id="3" name="Content Placeholder 2">
            <a:extLst>
              <a:ext uri="{FF2B5EF4-FFF2-40B4-BE49-F238E27FC236}">
                <a16:creationId xmlns:a16="http://schemas.microsoft.com/office/drawing/2014/main" id="{7D73B733-501C-43C8-AEA7-6F79D8ABBF44}"/>
              </a:ext>
            </a:extLst>
          </p:cNvPr>
          <p:cNvSpPr>
            <a:spLocks noGrp="1"/>
          </p:cNvSpPr>
          <p:nvPr>
            <p:ph sz="quarter" idx="10"/>
          </p:nvPr>
        </p:nvSpPr>
        <p:spPr>
          <a:xfrm>
            <a:off x="539495" y="1435608"/>
            <a:ext cx="11151761" cy="2548563"/>
          </a:xfrm>
        </p:spPr>
        <p:txBody>
          <a:bodyPr>
            <a:noAutofit/>
          </a:bodyPr>
          <a:lstStyle/>
          <a:p>
            <a:r>
              <a:rPr lang="el-GR" sz="1400" dirty="0"/>
              <a:t>Ως </a:t>
            </a:r>
            <a:r>
              <a:rPr lang="en-US" sz="1400" dirty="0"/>
              <a:t>training set </a:t>
            </a:r>
            <a:r>
              <a:rPr lang="el-GR" sz="1400" dirty="0"/>
              <a:t>για την συγκεκριμένη υλοποίηση, χρησιμοποιήθηκαν τα εξής δείγματα</a:t>
            </a:r>
            <a:r>
              <a:rPr lang="en-US" sz="1400" dirty="0"/>
              <a:t>:</a:t>
            </a:r>
            <a:endParaRPr lang="el-GR" sz="1400" dirty="0"/>
          </a:p>
          <a:p>
            <a:pPr marL="171450" indent="-171450">
              <a:buFont typeface="Wingdings" panose="05000000000000000000" pitchFamily="2" charset="2"/>
              <a:buChar char="Ø"/>
            </a:pPr>
            <a:r>
              <a:rPr lang="el-GR" sz="1400" dirty="0"/>
              <a:t>τρέξιμο χωρίς καμία επαφή με την μπάλα</a:t>
            </a:r>
          </a:p>
          <a:p>
            <a:pPr marL="171450" indent="-171450">
              <a:buFont typeface="Wingdings" panose="05000000000000000000" pitchFamily="2" charset="2"/>
              <a:buChar char="Ø"/>
            </a:pPr>
            <a:r>
              <a:rPr lang="el-GR" sz="1400" dirty="0"/>
              <a:t>Τρέξιμο με απλή επαφή μπάλας</a:t>
            </a:r>
          </a:p>
          <a:p>
            <a:pPr marL="171450" indent="-171450">
              <a:buFont typeface="Wingdings" panose="05000000000000000000" pitchFamily="2" charset="2"/>
              <a:buChar char="Ø"/>
            </a:pPr>
            <a:r>
              <a:rPr lang="el-GR" sz="1400" dirty="0"/>
              <a:t>Τρέξιμο με πάσες</a:t>
            </a:r>
          </a:p>
          <a:p>
            <a:pPr marL="171450" indent="-171450">
              <a:buFont typeface="Wingdings" panose="05000000000000000000" pitchFamily="2" charset="2"/>
              <a:buChar char="Ø"/>
            </a:pPr>
            <a:r>
              <a:rPr lang="el-GR" sz="1400" dirty="0"/>
              <a:t>Τρέξιμο με εκτέλεση </a:t>
            </a:r>
            <a:r>
              <a:rPr lang="en-US" sz="1400" dirty="0"/>
              <a:t>shoot</a:t>
            </a:r>
            <a:r>
              <a:rPr lang="el-GR" sz="1400" dirty="0"/>
              <a:t>.</a:t>
            </a:r>
            <a:endParaRPr lang="en-US" sz="1400" dirty="0"/>
          </a:p>
        </p:txBody>
      </p:sp>
      <p:sp>
        <p:nvSpPr>
          <p:cNvPr id="4" name="Content Placeholder 2">
            <a:extLst>
              <a:ext uri="{FF2B5EF4-FFF2-40B4-BE49-F238E27FC236}">
                <a16:creationId xmlns:a16="http://schemas.microsoft.com/office/drawing/2014/main" id="{0226E4E3-4CC9-4DB0-8972-93DF81B3BCE8}"/>
              </a:ext>
            </a:extLst>
          </p:cNvPr>
          <p:cNvSpPr txBox="1">
            <a:spLocks/>
          </p:cNvSpPr>
          <p:nvPr/>
        </p:nvSpPr>
        <p:spPr>
          <a:xfrm>
            <a:off x="539495" y="4331643"/>
            <a:ext cx="11151761" cy="1416014"/>
          </a:xfrm>
          <a:prstGeom prst="rect">
            <a:avLst/>
          </a:prstGeom>
        </p:spPr>
        <p:txBody>
          <a:bodyPr vert="horz" lIns="91440" tIns="45720" rIns="91440" bIns="45720" rtlCol="0">
            <a:normAutofit fontScale="92500" lnSpcReduction="20000"/>
          </a:bodyPr>
          <a:lstStyle>
            <a:lvl1pPr marL="0" indent="0" algn="l" defTabSz="914400" rtl="0" eaLnBrk="1" latinLnBrk="0" hangingPunct="1">
              <a:lnSpc>
                <a:spcPct val="150000"/>
              </a:lnSpc>
              <a:spcBef>
                <a:spcPts val="1000"/>
              </a:spcBef>
              <a:spcAft>
                <a:spcPts val="1200"/>
              </a:spcAft>
              <a:buFontTx/>
              <a:buNone/>
              <a:defRPr lang="en-US" sz="1200" kern="1200" smtClean="0">
                <a:solidFill>
                  <a:schemeClr val="tx1">
                    <a:lumMod val="75000"/>
                    <a:lumOff val="25000"/>
                  </a:schemeClr>
                </a:solidFill>
                <a:latin typeface="+mn-lt"/>
                <a:ea typeface="+mn-ea"/>
                <a:cs typeface="+mn-cs"/>
              </a:defRPr>
            </a:lvl1pPr>
            <a:lvl2pPr marL="228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685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1430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16002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l-GR" sz="1400" dirty="0"/>
              <a:t>Μετά από τον καθορισμό κατωφλιού, για τον καθαρισμό τον δεδομένων υπήρξε η δυνατότητα στο να εντοπισθούν ετικέτες για κάθε ένα «σημείο» που υπήρχε στα δεδομένα. </a:t>
            </a:r>
          </a:p>
          <a:p>
            <a:r>
              <a:rPr lang="el-GR" sz="1400" dirty="0"/>
              <a:t>Ως </a:t>
            </a:r>
            <a:r>
              <a:rPr lang="en-US" sz="1400" dirty="0"/>
              <a:t>testing set</a:t>
            </a:r>
            <a:r>
              <a:rPr lang="el-GR" sz="1400" dirty="0"/>
              <a:t> για την συγκεκριμένη υλοποίηση, χρησιμοποιήθηκε ένα αρχείο, κατά το οποίο ο παίκτης είχε 10 ακριβώς επαφές με την μπάλα. Τα αποτελέσματα του αλγορίθμου, εντόπισαν τις 9!</a:t>
            </a:r>
            <a:r>
              <a:rPr lang="en-US" sz="1400" dirty="0"/>
              <a:t> </a:t>
            </a:r>
            <a:r>
              <a:rPr lang="el-GR" sz="1400" dirty="0"/>
              <a:t>Με 90% επιτυχία λοιπόν, ολοκληρώθηκε αυτή η εφαρμογή.</a:t>
            </a:r>
          </a:p>
        </p:txBody>
      </p:sp>
    </p:spTree>
    <p:extLst>
      <p:ext uri="{BB962C8B-B14F-4D97-AF65-F5344CB8AC3E}">
        <p14:creationId xmlns:p14="http://schemas.microsoft.com/office/powerpoint/2010/main" val="39984303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A8ABF0-B494-4E27-AA0D-1485C663B422}"/>
              </a:ext>
            </a:extLst>
          </p:cNvPr>
          <p:cNvSpPr>
            <a:spLocks noGrp="1"/>
          </p:cNvSpPr>
          <p:nvPr>
            <p:ph type="title"/>
          </p:nvPr>
        </p:nvSpPr>
        <p:spPr>
          <a:xfrm>
            <a:off x="521207" y="448055"/>
            <a:ext cx="10068135" cy="727601"/>
          </a:xfrm>
        </p:spPr>
        <p:txBody>
          <a:bodyPr>
            <a:normAutofit fontScale="90000"/>
          </a:bodyPr>
          <a:lstStyle/>
          <a:p>
            <a:r>
              <a:rPr lang="el-GR" dirty="0"/>
              <a:t>Πρόβλεψη ποδοσφαιρικού αποτελέσματος με τη χρήση Μηχανικής Μάθησης</a:t>
            </a:r>
            <a:r>
              <a:rPr lang="en-US" dirty="0"/>
              <a:t> (1)</a:t>
            </a:r>
          </a:p>
        </p:txBody>
      </p:sp>
      <p:sp>
        <p:nvSpPr>
          <p:cNvPr id="3" name="Content Placeholder 2">
            <a:extLst>
              <a:ext uri="{FF2B5EF4-FFF2-40B4-BE49-F238E27FC236}">
                <a16:creationId xmlns:a16="http://schemas.microsoft.com/office/drawing/2014/main" id="{98ED7B23-BF41-4692-B7CB-BFB7EFAD9283}"/>
              </a:ext>
            </a:extLst>
          </p:cNvPr>
          <p:cNvSpPr>
            <a:spLocks noGrp="1"/>
          </p:cNvSpPr>
          <p:nvPr>
            <p:ph sz="quarter" idx="10"/>
          </p:nvPr>
        </p:nvSpPr>
        <p:spPr>
          <a:xfrm>
            <a:off x="552776" y="1440180"/>
            <a:ext cx="11086447" cy="3977640"/>
          </a:xfrm>
        </p:spPr>
        <p:txBody>
          <a:bodyPr>
            <a:normAutofit fontScale="92500" lnSpcReduction="20000"/>
          </a:bodyPr>
          <a:lstStyle/>
          <a:p>
            <a:pPr marL="171450" indent="-171450">
              <a:lnSpc>
                <a:spcPct val="110000"/>
              </a:lnSpc>
              <a:buFont typeface="Wingdings" panose="05000000000000000000" pitchFamily="2" charset="2"/>
              <a:buChar char="Ø"/>
            </a:pPr>
            <a:r>
              <a:rPr lang="el-GR" sz="1400" dirty="0"/>
              <a:t>Στη συγκεκριμένη εφαρμογή εκτελέστηκαν διάφορες τεχνικές </a:t>
            </a:r>
            <a:r>
              <a:rPr lang="en-US" sz="1400" dirty="0"/>
              <a:t>Machine</a:t>
            </a:r>
            <a:r>
              <a:rPr lang="el-GR" sz="1400" dirty="0"/>
              <a:t> </a:t>
            </a:r>
            <a:r>
              <a:rPr lang="en-US" sz="1400" dirty="0"/>
              <a:t>Learning </a:t>
            </a:r>
            <a:r>
              <a:rPr lang="el-GR" sz="1400" dirty="0"/>
              <a:t>για</a:t>
            </a:r>
            <a:r>
              <a:rPr lang="en-US" sz="1400" dirty="0"/>
              <a:t> </a:t>
            </a:r>
            <a:r>
              <a:rPr lang="el-GR" sz="1400" dirty="0"/>
              <a:t>την πρόβλεψη αποτελεσμάτων σε ποδοσφαιρικούς</a:t>
            </a:r>
            <a:r>
              <a:rPr lang="en-US" sz="1400" dirty="0"/>
              <a:t> </a:t>
            </a:r>
            <a:r>
              <a:rPr lang="el-GR" sz="1400" dirty="0"/>
              <a:t>αγώνες τη αγγλικής ομάδας Τότεναμ, χρησιμοποιώντας δεδομένα για την περίοδο 1995-1997.</a:t>
            </a:r>
          </a:p>
          <a:p>
            <a:pPr marL="171450" indent="-171450">
              <a:lnSpc>
                <a:spcPct val="110000"/>
              </a:lnSpc>
              <a:buFont typeface="Wingdings" panose="05000000000000000000" pitchFamily="2" charset="2"/>
              <a:buChar char="Ø"/>
            </a:pPr>
            <a:r>
              <a:rPr lang="el-GR" sz="1400" dirty="0"/>
              <a:t>Οι τεχνικές που χρησιμοποιήθηκαν είναι οι εξής:</a:t>
            </a:r>
          </a:p>
          <a:p>
            <a:pPr marL="514350" lvl="1" indent="-285750">
              <a:lnSpc>
                <a:spcPct val="110000"/>
              </a:lnSpc>
            </a:pPr>
            <a:r>
              <a:rPr lang="en-US" sz="1400" dirty="0"/>
              <a:t>Expert Bayes Network</a:t>
            </a:r>
            <a:r>
              <a:rPr lang="el-GR" sz="1400" dirty="0"/>
              <a:t> (</a:t>
            </a:r>
            <a:r>
              <a:rPr lang="en-US" sz="1400" dirty="0"/>
              <a:t>BN)</a:t>
            </a:r>
            <a:r>
              <a:rPr lang="el-GR" sz="1400" dirty="0"/>
              <a:t> (κατασκευή ΒΝ από κοινού από το ΒΝ </a:t>
            </a:r>
            <a:r>
              <a:rPr lang="en-US" sz="1400" dirty="0"/>
              <a:t>expert </a:t>
            </a:r>
            <a:r>
              <a:rPr lang="el-GR" sz="1400" dirty="0"/>
              <a:t>και από το </a:t>
            </a:r>
            <a:r>
              <a:rPr lang="en-US" sz="1400" dirty="0"/>
              <a:t>expert domain)</a:t>
            </a:r>
            <a:endParaRPr lang="el-GR" sz="1400" dirty="0"/>
          </a:p>
          <a:p>
            <a:pPr marL="514350" lvl="1" indent="-285750">
              <a:lnSpc>
                <a:spcPct val="110000"/>
              </a:lnSpc>
            </a:pPr>
            <a:r>
              <a:rPr lang="en-US" sz="1400" dirty="0"/>
              <a:t>MC4 Decision Tree</a:t>
            </a:r>
            <a:r>
              <a:rPr lang="el-GR" sz="1400" dirty="0"/>
              <a:t> (οπτική απεικόνιση των αλληλεπιδράσεων που επηρεάζουν το μοντέλο)</a:t>
            </a:r>
            <a:endParaRPr lang="en-US" sz="1400" dirty="0"/>
          </a:p>
          <a:p>
            <a:pPr marL="514350" lvl="1" indent="-285750">
              <a:lnSpc>
                <a:spcPct val="110000"/>
              </a:lnSpc>
            </a:pPr>
            <a:r>
              <a:rPr lang="en-US" sz="1400" dirty="0"/>
              <a:t>Naive Bayes</a:t>
            </a:r>
            <a:r>
              <a:rPr lang="el-GR" sz="1400" dirty="0"/>
              <a:t> (θεωρεί πως όλα τα </a:t>
            </a:r>
            <a:r>
              <a:rPr lang="en-US" sz="1400" dirty="0"/>
              <a:t>attributes </a:t>
            </a:r>
            <a:r>
              <a:rPr lang="el-GR" sz="1400" dirty="0"/>
              <a:t>είναι ανεξάρτητα μεταξύ τους)</a:t>
            </a:r>
            <a:endParaRPr lang="en-US" sz="1400" dirty="0"/>
          </a:p>
          <a:p>
            <a:pPr marL="514350" lvl="1" indent="-285750">
              <a:lnSpc>
                <a:spcPct val="110000"/>
              </a:lnSpc>
            </a:pPr>
            <a:r>
              <a:rPr lang="en-US" sz="1400" dirty="0"/>
              <a:t>Data Driven Bayes</a:t>
            </a:r>
            <a:r>
              <a:rPr lang="el-GR" sz="1400" dirty="0"/>
              <a:t>  (προβλέπει βάσει των αλληλοσυσχετίσεων μεταξύ των </a:t>
            </a:r>
            <a:r>
              <a:rPr lang="en-US" sz="1400" dirty="0"/>
              <a:t>attributes)</a:t>
            </a:r>
          </a:p>
          <a:p>
            <a:pPr marL="514350" lvl="1" indent="-285750">
              <a:lnSpc>
                <a:spcPct val="110000"/>
              </a:lnSpc>
            </a:pPr>
            <a:r>
              <a:rPr lang="en-US" sz="1400" dirty="0"/>
              <a:t>K-nearest Neighbors (</a:t>
            </a:r>
            <a:r>
              <a:rPr lang="el-GR" sz="1400" dirty="0"/>
              <a:t>χρησιμοποιεί προσέγγιση ομοιότητας για πρόβλεψη)</a:t>
            </a:r>
            <a:endParaRPr lang="en-US" sz="1400" dirty="0"/>
          </a:p>
          <a:p>
            <a:pPr marL="171450" indent="-171450">
              <a:lnSpc>
                <a:spcPct val="110000"/>
              </a:lnSpc>
              <a:buFont typeface="Wingdings" panose="05000000000000000000" pitchFamily="2" charset="2"/>
              <a:buChar char="Ø"/>
            </a:pPr>
            <a:r>
              <a:rPr lang="el-GR" sz="1400" dirty="0"/>
              <a:t>Τα αποτελέσματα που εξήχθησαν από τον κάθε αλγόριθμο τέθηκαν σε σύγκριση, ώστε να εντοπιστούν οι διαφοροποιήσεις όσον αφορά την απόδοση μεταξύ του </a:t>
            </a:r>
            <a:r>
              <a:rPr lang="en-US" sz="1400" dirty="0"/>
              <a:t>expert </a:t>
            </a:r>
            <a:r>
              <a:rPr lang="el-GR" sz="1400" dirty="0"/>
              <a:t>ΒΝ και των υπολοίπων 4 αλγορίθμων </a:t>
            </a:r>
            <a:endParaRPr lang="en-US" sz="1400" dirty="0"/>
          </a:p>
        </p:txBody>
      </p:sp>
    </p:spTree>
    <p:extLst>
      <p:ext uri="{BB962C8B-B14F-4D97-AF65-F5344CB8AC3E}">
        <p14:creationId xmlns:p14="http://schemas.microsoft.com/office/powerpoint/2010/main" val="31485915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1A553-73C4-4D65-B84E-FE63882FA177}"/>
              </a:ext>
            </a:extLst>
          </p:cNvPr>
          <p:cNvSpPr>
            <a:spLocks noGrp="1"/>
          </p:cNvSpPr>
          <p:nvPr>
            <p:ph type="title"/>
          </p:nvPr>
        </p:nvSpPr>
        <p:spPr/>
        <p:txBody>
          <a:bodyPr>
            <a:normAutofit fontScale="90000"/>
          </a:bodyPr>
          <a:lstStyle/>
          <a:p>
            <a:r>
              <a:rPr lang="el-GR" dirty="0"/>
              <a:t>Πρόβλεψη ποδοσφαιρικού αποτελέσματος με τη χρήση Μηχανικής Μάθησης –Γενικά χαρακτηριστικά της εφαρμογής</a:t>
            </a:r>
            <a:endParaRPr lang="en-US" dirty="0"/>
          </a:p>
        </p:txBody>
      </p:sp>
      <p:sp>
        <p:nvSpPr>
          <p:cNvPr id="4" name="Content Placeholder 2">
            <a:extLst>
              <a:ext uri="{FF2B5EF4-FFF2-40B4-BE49-F238E27FC236}">
                <a16:creationId xmlns:a16="http://schemas.microsoft.com/office/drawing/2014/main" id="{143F49F9-3111-49C5-8305-75A3DBCCC44C}"/>
              </a:ext>
            </a:extLst>
          </p:cNvPr>
          <p:cNvSpPr>
            <a:spLocks noGrp="1"/>
          </p:cNvSpPr>
          <p:nvPr>
            <p:ph sz="quarter" idx="10"/>
          </p:nvPr>
        </p:nvSpPr>
        <p:spPr>
          <a:xfrm>
            <a:off x="552776" y="1440180"/>
            <a:ext cx="11086447" cy="3977640"/>
          </a:xfrm>
        </p:spPr>
        <p:txBody>
          <a:bodyPr>
            <a:normAutofit lnSpcReduction="10000"/>
          </a:bodyPr>
          <a:lstStyle/>
          <a:p>
            <a:pPr marL="171450" indent="-171450">
              <a:lnSpc>
                <a:spcPct val="100000"/>
              </a:lnSpc>
              <a:buFont typeface="Wingdings" panose="05000000000000000000" pitchFamily="2" charset="2"/>
              <a:buChar char="Ø"/>
            </a:pPr>
            <a:r>
              <a:rPr lang="el-GR" sz="1400" dirty="0"/>
              <a:t>Χρησιμοποιήθηκαν 2 είδη μοντέλων: α) Το γενικό και β) το εξειδικευμένο μοντέλο</a:t>
            </a:r>
          </a:p>
          <a:p>
            <a:pPr marL="171450" indent="-171450">
              <a:lnSpc>
                <a:spcPct val="100000"/>
              </a:lnSpc>
              <a:buFont typeface="Wingdings" panose="05000000000000000000" pitchFamily="2" charset="2"/>
              <a:buChar char="Ø"/>
            </a:pPr>
            <a:r>
              <a:rPr lang="el-GR" sz="1400" dirty="0"/>
              <a:t>Τα </a:t>
            </a:r>
            <a:r>
              <a:rPr lang="en-US" sz="1400" dirty="0"/>
              <a:t>attributes </a:t>
            </a:r>
            <a:r>
              <a:rPr lang="el-GR" sz="1400" dirty="0"/>
              <a:t>που χρησιμοποιήθηκαν</a:t>
            </a:r>
            <a:r>
              <a:rPr lang="en-US" sz="1400" dirty="0"/>
              <a:t> </a:t>
            </a:r>
            <a:r>
              <a:rPr lang="el-GR" sz="1400" dirty="0"/>
              <a:t>για την υλοποίηση του εξειδικευμένου μοντέλου είναι τα εξής; α) η παρουσία ή μη 3 συγκεκριμένων ποδοσφαιριστών στο αρχικό σχήμα, β) η θέση που είχε ένας συγκεκριμένος ποδοσφαιριστής στον αγωνιστικό χώρο, γ) η ποιότητα της αντίπαλης ομάδας και δ) αν η Τότεναμ αγωνιζόταν εντός ή εκτός έδρας</a:t>
            </a:r>
          </a:p>
          <a:p>
            <a:pPr marL="171450" indent="-171450">
              <a:lnSpc>
                <a:spcPct val="100000"/>
              </a:lnSpc>
              <a:buFont typeface="Wingdings" panose="05000000000000000000" pitchFamily="2" charset="2"/>
              <a:buChar char="Ø"/>
            </a:pPr>
            <a:r>
              <a:rPr lang="el-GR" sz="1400" dirty="0"/>
              <a:t>Για το γενικό μοντέλο χρησιμοποιήθηκαν τα </a:t>
            </a:r>
            <a:r>
              <a:rPr lang="en-US" sz="1400" dirty="0"/>
              <a:t>features </a:t>
            </a:r>
            <a:r>
              <a:rPr lang="el-GR" sz="1400" dirty="0"/>
              <a:t>του εξειδικευμένου μοντέλου συν μια ποικιλία από τα διάφορα άλλα χαρακτηριστικά</a:t>
            </a:r>
          </a:p>
          <a:p>
            <a:pPr marL="171450" indent="-171450">
              <a:lnSpc>
                <a:spcPct val="100000"/>
              </a:lnSpc>
              <a:buFont typeface="Wingdings" panose="05000000000000000000" pitchFamily="2" charset="2"/>
              <a:buChar char="Ø"/>
            </a:pPr>
            <a:r>
              <a:rPr lang="el-GR" sz="1400" dirty="0"/>
              <a:t>Οι αλγόριθμοι που χρησιμοποιήθηκαν δεν παρέχουν το ίδιο είδος πρόβλεψης</a:t>
            </a:r>
            <a:endParaRPr lang="en-US" sz="1400" dirty="0"/>
          </a:p>
          <a:p>
            <a:pPr marL="171450" indent="-171450">
              <a:lnSpc>
                <a:spcPct val="100000"/>
              </a:lnSpc>
              <a:buFont typeface="Wingdings" panose="05000000000000000000" pitchFamily="2" charset="2"/>
              <a:buChar char="Ø"/>
            </a:pPr>
            <a:r>
              <a:rPr lang="el-GR" sz="1400" dirty="0"/>
              <a:t>Τα </a:t>
            </a:r>
            <a:r>
              <a:rPr lang="en-US" sz="1400" dirty="0"/>
              <a:t>data </a:t>
            </a:r>
            <a:r>
              <a:rPr lang="el-GR" sz="1400" dirty="0"/>
              <a:t>χωρίστηκαν σε υποσύνολα, ώστε κάποια από αυτά να χρησιμοποιηθούν για </a:t>
            </a:r>
            <a:r>
              <a:rPr lang="en-US" sz="1400" dirty="0"/>
              <a:t>training </a:t>
            </a:r>
            <a:r>
              <a:rPr lang="el-GR" sz="1400" dirty="0"/>
              <a:t>του μοντέλου και κάποια για να </a:t>
            </a:r>
            <a:r>
              <a:rPr lang="en-US" sz="1400" dirty="0"/>
              <a:t>test </a:t>
            </a:r>
            <a:r>
              <a:rPr lang="el-GR" sz="1400" dirty="0"/>
              <a:t>της απόδοσής του</a:t>
            </a:r>
          </a:p>
          <a:p>
            <a:pPr marL="171450" indent="-171450">
              <a:lnSpc>
                <a:spcPct val="100000"/>
              </a:lnSpc>
              <a:buFont typeface="Wingdings" panose="05000000000000000000" pitchFamily="2" charset="2"/>
              <a:buChar char="Ø"/>
            </a:pPr>
            <a:r>
              <a:rPr lang="el-GR" sz="1400" dirty="0"/>
              <a:t>Παρακάτω θα γίνει αναφορά για τα αποτελέσματα που προέκυψαν από τον κάθε αλγόριθμο και για τις διαφορές της απόδοσης των αλγορίθμων</a:t>
            </a:r>
            <a:endParaRPr lang="en-US" sz="1400" dirty="0"/>
          </a:p>
          <a:p>
            <a:pPr marL="171450" indent="-171450">
              <a:lnSpc>
                <a:spcPct val="100000"/>
              </a:lnSpc>
              <a:buFont typeface="Wingdings" panose="05000000000000000000" pitchFamily="2" charset="2"/>
              <a:buChar char="Ø"/>
            </a:pPr>
            <a:endParaRPr lang="el-GR" sz="1400" dirty="0"/>
          </a:p>
          <a:p>
            <a:pPr marL="171450" indent="-171450">
              <a:lnSpc>
                <a:spcPct val="100000"/>
              </a:lnSpc>
              <a:buFont typeface="Wingdings" panose="05000000000000000000" pitchFamily="2" charset="2"/>
              <a:buChar char="Ø"/>
            </a:pPr>
            <a:endParaRPr lang="el-GR" sz="1400" dirty="0"/>
          </a:p>
          <a:p>
            <a:pPr marL="171450" indent="-171450">
              <a:lnSpc>
                <a:spcPct val="100000"/>
              </a:lnSpc>
              <a:buFont typeface="Wingdings" panose="05000000000000000000" pitchFamily="2" charset="2"/>
              <a:buChar char="Ø"/>
            </a:pPr>
            <a:endParaRPr lang="en-US" sz="1400" dirty="0"/>
          </a:p>
        </p:txBody>
      </p:sp>
    </p:spTree>
    <p:extLst>
      <p:ext uri="{BB962C8B-B14F-4D97-AF65-F5344CB8AC3E}">
        <p14:creationId xmlns:p14="http://schemas.microsoft.com/office/powerpoint/2010/main" val="13095013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Τίτλος 2"/>
          <p:cNvSpPr>
            <a:spLocks noGrp="1"/>
          </p:cNvSpPr>
          <p:nvPr>
            <p:ph type="title"/>
          </p:nvPr>
        </p:nvSpPr>
        <p:spPr/>
        <p:txBody>
          <a:bodyPr rtlCol="0">
            <a:normAutofit fontScale="90000"/>
          </a:bodyPr>
          <a:lstStyle/>
          <a:p>
            <a:r>
              <a:rPr lang="el-GR" dirty="0"/>
              <a:t>Πρόβλεψη ποδοσφαιρικού αποτελέσματος με τη χρήση Μηχανικής Μάθησης</a:t>
            </a:r>
            <a:r>
              <a:rPr lang="en-US" dirty="0"/>
              <a:t> – </a:t>
            </a:r>
            <a:r>
              <a:rPr lang="el-GR" dirty="0"/>
              <a:t>Ανάλυση αποτελεσμάτων</a:t>
            </a:r>
            <a:endParaRPr lang="el-GR" dirty="0">
              <a:latin typeface="Segoe UI Light" panose="020B0502040204020203" pitchFamily="34" charset="0"/>
              <a:cs typeface="Segoe UI Light" panose="020B0502040204020203" pitchFamily="34" charset="0"/>
            </a:endParaRPr>
          </a:p>
        </p:txBody>
      </p:sp>
      <p:sp>
        <p:nvSpPr>
          <p:cNvPr id="6" name="Content Placeholder 2">
            <a:extLst>
              <a:ext uri="{FF2B5EF4-FFF2-40B4-BE49-F238E27FC236}">
                <a16:creationId xmlns:a16="http://schemas.microsoft.com/office/drawing/2014/main" id="{5D9FE0D8-1D37-4BA1-A02D-E03E72F58AAD}"/>
              </a:ext>
            </a:extLst>
          </p:cNvPr>
          <p:cNvSpPr>
            <a:spLocks noGrp="1"/>
          </p:cNvSpPr>
          <p:nvPr>
            <p:ph sz="quarter" idx="10"/>
          </p:nvPr>
        </p:nvSpPr>
        <p:spPr>
          <a:xfrm>
            <a:off x="552776" y="1440180"/>
            <a:ext cx="11086447" cy="3977640"/>
          </a:xfrm>
        </p:spPr>
        <p:txBody>
          <a:bodyPr>
            <a:normAutofit/>
          </a:bodyPr>
          <a:lstStyle/>
          <a:p>
            <a:pPr>
              <a:lnSpc>
                <a:spcPct val="100000"/>
              </a:lnSpc>
            </a:pPr>
            <a:endParaRPr lang="el-GR" sz="1400" dirty="0"/>
          </a:p>
          <a:p>
            <a:pPr marL="171450" indent="-171450">
              <a:lnSpc>
                <a:spcPct val="100000"/>
              </a:lnSpc>
              <a:buFont typeface="Wingdings" panose="05000000000000000000" pitchFamily="2" charset="2"/>
              <a:buChar char="Ø"/>
            </a:pPr>
            <a:endParaRPr lang="en-US" sz="1400" dirty="0"/>
          </a:p>
        </p:txBody>
      </p:sp>
      <p:graphicFrame>
        <p:nvGraphicFramePr>
          <p:cNvPr id="2" name="Table 1">
            <a:extLst>
              <a:ext uri="{FF2B5EF4-FFF2-40B4-BE49-F238E27FC236}">
                <a16:creationId xmlns:a16="http://schemas.microsoft.com/office/drawing/2014/main" id="{10913B1B-93EA-42EC-B93A-FA9FB7D3E977}"/>
              </a:ext>
            </a:extLst>
          </p:cNvPr>
          <p:cNvGraphicFramePr>
            <a:graphicFrameLocks noGrp="1"/>
          </p:cNvGraphicFramePr>
          <p:nvPr>
            <p:extLst>
              <p:ext uri="{D42A27DB-BD31-4B8C-83A1-F6EECF244321}">
                <p14:modId xmlns:p14="http://schemas.microsoft.com/office/powerpoint/2010/main" val="2525604552"/>
              </p:ext>
            </p:extLst>
          </p:nvPr>
        </p:nvGraphicFramePr>
        <p:xfrm>
          <a:off x="552776" y="1935675"/>
          <a:ext cx="8127999" cy="221996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3562101596"/>
                    </a:ext>
                  </a:extLst>
                </a:gridCol>
                <a:gridCol w="2709333">
                  <a:extLst>
                    <a:ext uri="{9D8B030D-6E8A-4147-A177-3AD203B41FA5}">
                      <a16:colId xmlns:a16="http://schemas.microsoft.com/office/drawing/2014/main" val="501636549"/>
                    </a:ext>
                  </a:extLst>
                </a:gridCol>
                <a:gridCol w="2709333">
                  <a:extLst>
                    <a:ext uri="{9D8B030D-6E8A-4147-A177-3AD203B41FA5}">
                      <a16:colId xmlns:a16="http://schemas.microsoft.com/office/drawing/2014/main" val="2130228269"/>
                    </a:ext>
                  </a:extLst>
                </a:gridCol>
              </a:tblGrid>
              <a:tr h="370840">
                <a:tc>
                  <a:txBody>
                    <a:bodyPr/>
                    <a:lstStyle/>
                    <a:p>
                      <a:endParaRPr lang="en-US" dirty="0"/>
                    </a:p>
                  </a:txBody>
                  <a:tcPr/>
                </a:tc>
                <a:tc>
                  <a:txBody>
                    <a:bodyPr/>
                    <a:lstStyle/>
                    <a:p>
                      <a:r>
                        <a:rPr lang="en-US" dirty="0"/>
                        <a:t>Expert model</a:t>
                      </a:r>
                    </a:p>
                  </a:txBody>
                  <a:tcPr/>
                </a:tc>
                <a:tc>
                  <a:txBody>
                    <a:bodyPr/>
                    <a:lstStyle/>
                    <a:p>
                      <a:r>
                        <a:rPr lang="en-US" dirty="0"/>
                        <a:t>General model</a:t>
                      </a:r>
                    </a:p>
                  </a:txBody>
                  <a:tcPr/>
                </a:tc>
                <a:extLst>
                  <a:ext uri="{0D108BD9-81ED-4DB2-BD59-A6C34878D82A}">
                    <a16:rowId xmlns:a16="http://schemas.microsoft.com/office/drawing/2014/main" val="425596196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MC4 Decision Tree</a:t>
                      </a:r>
                      <a:endParaRPr lang="el-GR" sz="1800" dirty="0"/>
                    </a:p>
                  </a:txBody>
                  <a:tcPr/>
                </a:tc>
                <a:tc>
                  <a:txBody>
                    <a:bodyPr/>
                    <a:lstStyle/>
                    <a:p>
                      <a:r>
                        <a:rPr lang="en-US" dirty="0"/>
                        <a:t>61.35%</a:t>
                      </a:r>
                    </a:p>
                  </a:txBody>
                  <a:tcPr/>
                </a:tc>
                <a:tc>
                  <a:txBody>
                    <a:bodyPr/>
                    <a:lstStyle/>
                    <a:p>
                      <a:r>
                        <a:rPr lang="en-US" dirty="0"/>
                        <a:t>69.81%</a:t>
                      </a:r>
                    </a:p>
                  </a:txBody>
                  <a:tcPr/>
                </a:tc>
                <a:extLst>
                  <a:ext uri="{0D108BD9-81ED-4DB2-BD59-A6C34878D82A}">
                    <a16:rowId xmlns:a16="http://schemas.microsoft.com/office/drawing/2014/main" val="1918236380"/>
                  </a:ext>
                </a:extLst>
              </a:tr>
              <a:tr h="370840">
                <a:tc>
                  <a:txBody>
                    <a:bodyPr/>
                    <a:lstStyle/>
                    <a:p>
                      <a:r>
                        <a:rPr lang="en-US" dirty="0"/>
                        <a:t>Naive BN</a:t>
                      </a:r>
                    </a:p>
                  </a:txBody>
                  <a:tcPr/>
                </a:tc>
                <a:tc>
                  <a:txBody>
                    <a:bodyPr/>
                    <a:lstStyle/>
                    <a:p>
                      <a:r>
                        <a:rPr lang="en-US" dirty="0"/>
                        <a:t>64.26%</a:t>
                      </a:r>
                    </a:p>
                  </a:txBody>
                  <a:tcPr/>
                </a:tc>
                <a:tc>
                  <a:txBody>
                    <a:bodyPr/>
                    <a:lstStyle/>
                    <a:p>
                      <a:r>
                        <a:rPr lang="en-US" dirty="0"/>
                        <a:t>61.19%</a:t>
                      </a:r>
                    </a:p>
                  </a:txBody>
                  <a:tcPr/>
                </a:tc>
                <a:extLst>
                  <a:ext uri="{0D108BD9-81ED-4DB2-BD59-A6C34878D82A}">
                    <a16:rowId xmlns:a16="http://schemas.microsoft.com/office/drawing/2014/main" val="3280796591"/>
                  </a:ext>
                </a:extLst>
              </a:tr>
              <a:tr h="370840">
                <a:tc>
                  <a:txBody>
                    <a:bodyPr/>
                    <a:lstStyle/>
                    <a:p>
                      <a:r>
                        <a:rPr lang="en-US" sz="1800" dirty="0"/>
                        <a:t>Data Driven Bayes</a:t>
                      </a:r>
                      <a:endParaRPr lang="en-US" dirty="0"/>
                    </a:p>
                  </a:txBody>
                  <a:tcPr/>
                </a:tc>
                <a:tc>
                  <a:txBody>
                    <a:bodyPr/>
                    <a:lstStyle/>
                    <a:p>
                      <a:r>
                        <a:rPr lang="en-US" sz="1800" b="0" i="0" u="none" strike="noStrike" kern="1200" baseline="0" dirty="0">
                          <a:solidFill>
                            <a:schemeClr val="dk1"/>
                          </a:solidFill>
                          <a:latin typeface="+mn-lt"/>
                          <a:ea typeface="+mn-ea"/>
                          <a:cs typeface="+mn-cs"/>
                        </a:rPr>
                        <a:t>67.38%</a:t>
                      </a:r>
                      <a:endParaRPr lang="en-US" dirty="0"/>
                    </a:p>
                  </a:txBody>
                  <a:tcPr/>
                </a:tc>
                <a:tc>
                  <a:txBody>
                    <a:bodyPr/>
                    <a:lstStyle/>
                    <a:p>
                      <a:r>
                        <a:rPr lang="en-US" sz="1800" b="0" i="0" u="none" strike="noStrike" kern="1200" baseline="0" dirty="0">
                          <a:solidFill>
                            <a:schemeClr val="dk1"/>
                          </a:solidFill>
                          <a:latin typeface="+mn-lt"/>
                          <a:ea typeface="+mn-ea"/>
                          <a:cs typeface="+mn-cs"/>
                        </a:rPr>
                        <a:t>67.69%</a:t>
                      </a:r>
                      <a:endParaRPr lang="en-US" dirty="0"/>
                    </a:p>
                  </a:txBody>
                  <a:tcPr/>
                </a:tc>
                <a:extLst>
                  <a:ext uri="{0D108BD9-81ED-4DB2-BD59-A6C34878D82A}">
                    <a16:rowId xmlns:a16="http://schemas.microsoft.com/office/drawing/2014/main" val="1532159026"/>
                  </a:ext>
                </a:extLst>
              </a:tr>
              <a:tr h="370840">
                <a:tc>
                  <a:txBody>
                    <a:bodyPr/>
                    <a:lstStyle/>
                    <a:p>
                      <a:r>
                        <a:rPr lang="en-US" dirty="0"/>
                        <a:t>KNN</a:t>
                      </a:r>
                    </a:p>
                  </a:txBody>
                  <a:tcPr/>
                </a:tc>
                <a:tc>
                  <a:txBody>
                    <a:bodyPr/>
                    <a:lstStyle/>
                    <a:p>
                      <a:r>
                        <a:rPr lang="en-US" sz="1800" b="0" i="0" u="none" strike="noStrike" kern="1200" baseline="0" dirty="0">
                          <a:solidFill>
                            <a:schemeClr val="dk1"/>
                          </a:solidFill>
                          <a:latin typeface="+mn-lt"/>
                          <a:ea typeface="+mn-ea"/>
                          <a:cs typeface="+mn-cs"/>
                        </a:rPr>
                        <a:t>62.94%</a:t>
                      </a:r>
                      <a:endParaRPr lang="en-US" dirty="0"/>
                    </a:p>
                  </a:txBody>
                  <a:tcPr/>
                </a:tc>
                <a:tc>
                  <a:txBody>
                    <a:bodyPr/>
                    <a:lstStyle/>
                    <a:p>
                      <a:r>
                        <a:rPr lang="en-US" sz="1800" b="0" i="0" u="none" strike="noStrike" kern="1200" baseline="0" dirty="0">
                          <a:solidFill>
                            <a:schemeClr val="dk1"/>
                          </a:solidFill>
                          <a:latin typeface="+mn-lt"/>
                          <a:ea typeface="+mn-ea"/>
                          <a:cs typeface="+mn-cs"/>
                        </a:rPr>
                        <a:t>65.02%</a:t>
                      </a:r>
                      <a:endParaRPr lang="en-US" dirty="0"/>
                    </a:p>
                  </a:txBody>
                  <a:tcPr/>
                </a:tc>
                <a:extLst>
                  <a:ext uri="{0D108BD9-81ED-4DB2-BD59-A6C34878D82A}">
                    <a16:rowId xmlns:a16="http://schemas.microsoft.com/office/drawing/2014/main" val="2507488781"/>
                  </a:ext>
                </a:extLst>
              </a:tr>
              <a:tr h="292882">
                <a:tc>
                  <a:txBody>
                    <a:bodyPr/>
                    <a:lstStyle/>
                    <a:p>
                      <a:r>
                        <a:rPr lang="en-US" dirty="0"/>
                        <a:t>Expert BN</a:t>
                      </a:r>
                    </a:p>
                  </a:txBody>
                  <a:tcPr/>
                </a:tc>
                <a:tc>
                  <a:txBody>
                    <a:bodyPr/>
                    <a:lstStyle/>
                    <a:p>
                      <a:r>
                        <a:rPr lang="en-US" sz="1800" b="0" i="0" u="none" strike="noStrike" kern="1200" baseline="0" dirty="0">
                          <a:solidFill>
                            <a:schemeClr val="dk1"/>
                          </a:solidFill>
                          <a:latin typeface="+mn-lt"/>
                          <a:ea typeface="+mn-ea"/>
                          <a:cs typeface="+mn-cs"/>
                        </a:rPr>
                        <a:t>40.79%</a:t>
                      </a:r>
                      <a:endParaRPr lang="en-US" dirty="0"/>
                    </a:p>
                  </a:txBody>
                  <a:tcPr/>
                </a:tc>
                <a:tc>
                  <a:txBody>
                    <a:bodyPr/>
                    <a:lstStyle/>
                    <a:p>
                      <a:r>
                        <a:rPr lang="en-US" dirty="0"/>
                        <a:t>-</a:t>
                      </a:r>
                    </a:p>
                  </a:txBody>
                  <a:tcPr/>
                </a:tc>
                <a:extLst>
                  <a:ext uri="{0D108BD9-81ED-4DB2-BD59-A6C34878D82A}">
                    <a16:rowId xmlns:a16="http://schemas.microsoft.com/office/drawing/2014/main" val="1997458879"/>
                  </a:ext>
                </a:extLst>
              </a:tr>
            </a:tbl>
          </a:graphicData>
        </a:graphic>
      </p:graphicFrame>
      <p:sp>
        <p:nvSpPr>
          <p:cNvPr id="4" name="TextBox 3">
            <a:extLst>
              <a:ext uri="{FF2B5EF4-FFF2-40B4-BE49-F238E27FC236}">
                <a16:creationId xmlns:a16="http://schemas.microsoft.com/office/drawing/2014/main" id="{AC01CF47-D5F5-4292-8185-DF7EDF2AAAA8}"/>
              </a:ext>
            </a:extLst>
          </p:cNvPr>
          <p:cNvSpPr txBox="1"/>
          <p:nvPr/>
        </p:nvSpPr>
        <p:spPr>
          <a:xfrm>
            <a:off x="552776" y="4155635"/>
            <a:ext cx="9256541" cy="2308324"/>
          </a:xfrm>
          <a:prstGeom prst="rect">
            <a:avLst/>
          </a:prstGeom>
          <a:noFill/>
        </p:spPr>
        <p:txBody>
          <a:bodyPr wrap="square" rtlCol="0">
            <a:spAutoFit/>
          </a:bodyPr>
          <a:lstStyle/>
          <a:p>
            <a:pPr marL="285750" indent="-285750">
              <a:buFont typeface="Wingdings" panose="05000000000000000000" pitchFamily="2" charset="2"/>
              <a:buChar char="Ø"/>
            </a:pPr>
            <a:endParaRPr lang="el-GR" dirty="0"/>
          </a:p>
          <a:p>
            <a:pPr marL="285750" indent="-285750">
              <a:buFont typeface="Wingdings" panose="05000000000000000000" pitchFamily="2" charset="2"/>
              <a:buChar char="Ø"/>
            </a:pPr>
            <a:r>
              <a:rPr lang="el-GR" dirty="0"/>
              <a:t>Για τα γενικά </a:t>
            </a:r>
            <a:r>
              <a:rPr lang="en-US" dirty="0"/>
              <a:t>training </a:t>
            </a:r>
            <a:r>
              <a:rPr lang="el-GR" dirty="0"/>
              <a:t>και </a:t>
            </a:r>
            <a:r>
              <a:rPr lang="en-US" dirty="0"/>
              <a:t>test data sets </a:t>
            </a:r>
            <a:r>
              <a:rPr lang="el-GR" dirty="0"/>
              <a:t>ο ΚΝΝ αλγόριθμος έχει την καλύτερη απόδοση σε σχέση με τους υπόλοιπους αλγορίθμους</a:t>
            </a:r>
          </a:p>
          <a:p>
            <a:pPr marL="285750" indent="-285750">
              <a:buFont typeface="Wingdings" panose="05000000000000000000" pitchFamily="2" charset="2"/>
              <a:buChar char="Ø"/>
            </a:pPr>
            <a:r>
              <a:rPr lang="el-GR" dirty="0"/>
              <a:t>Για το </a:t>
            </a:r>
            <a:r>
              <a:rPr lang="en-US" dirty="0"/>
              <a:t>expert data set o expert BN </a:t>
            </a:r>
            <a:r>
              <a:rPr lang="el-GR" dirty="0"/>
              <a:t>αποδίδει καλύτερα σε σχέση με όλους τους υπόλοιπους αλγορίθμους</a:t>
            </a:r>
            <a:endParaRPr lang="en-US" dirty="0"/>
          </a:p>
          <a:p>
            <a:endParaRPr lang="en-US" dirty="0"/>
          </a:p>
          <a:p>
            <a:pPr marL="285750" indent="-285750">
              <a:buFont typeface="Wingdings" panose="05000000000000000000" pitchFamily="2" charset="2"/>
              <a:buChar char="Ø"/>
            </a:pPr>
            <a:endParaRPr lang="el-GR" dirty="0"/>
          </a:p>
          <a:p>
            <a:pPr marL="285750" indent="-285750">
              <a:buFont typeface="Wingdings" panose="05000000000000000000" pitchFamily="2" charset="2"/>
              <a:buChar char="Ø"/>
            </a:pPr>
            <a:endParaRPr lang="en-US" dirty="0"/>
          </a:p>
        </p:txBody>
      </p:sp>
      <p:sp>
        <p:nvSpPr>
          <p:cNvPr id="5" name="TextBox 4">
            <a:extLst>
              <a:ext uri="{FF2B5EF4-FFF2-40B4-BE49-F238E27FC236}">
                <a16:creationId xmlns:a16="http://schemas.microsoft.com/office/drawing/2014/main" id="{5B5E9DB6-CC84-41A1-97E8-0F07F8315D51}"/>
              </a:ext>
            </a:extLst>
          </p:cNvPr>
          <p:cNvSpPr txBox="1"/>
          <p:nvPr/>
        </p:nvSpPr>
        <p:spPr>
          <a:xfrm>
            <a:off x="552776" y="1440180"/>
            <a:ext cx="8689698" cy="369332"/>
          </a:xfrm>
          <a:prstGeom prst="rect">
            <a:avLst/>
          </a:prstGeom>
          <a:noFill/>
        </p:spPr>
        <p:txBody>
          <a:bodyPr wrap="square" rtlCol="0">
            <a:spAutoFit/>
          </a:bodyPr>
          <a:lstStyle/>
          <a:p>
            <a:r>
              <a:rPr lang="en-US" b="1" dirty="0"/>
              <a:t>Classification Error</a:t>
            </a:r>
          </a:p>
        </p:txBody>
      </p:sp>
    </p:spTree>
    <p:extLst>
      <p:ext uri="{BB962C8B-B14F-4D97-AF65-F5344CB8AC3E}">
        <p14:creationId xmlns:p14="http://schemas.microsoft.com/office/powerpoint/2010/main" val="9580368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Τίτλος 2"/>
          <p:cNvSpPr>
            <a:spLocks noGrp="1"/>
          </p:cNvSpPr>
          <p:nvPr>
            <p:ph type="title"/>
          </p:nvPr>
        </p:nvSpPr>
        <p:spPr/>
        <p:txBody>
          <a:bodyPr rtlCol="0"/>
          <a:lstStyle/>
          <a:p>
            <a:pPr rtl="0"/>
            <a:r>
              <a:rPr lang="el-GR" dirty="0"/>
              <a:t>Ρύθμιση της </a:t>
            </a:r>
            <a:r>
              <a:rPr lang="el-GR" dirty="0">
                <a:latin typeface="Segoe UI Light" panose="020B0502040204020203" pitchFamily="34" charset="0"/>
                <a:cs typeface="Segoe UI Light" panose="020B0502040204020203" pitchFamily="34" charset="0"/>
              </a:rPr>
              <a:t>Μεταμόρφωσης</a:t>
            </a:r>
          </a:p>
        </p:txBody>
      </p:sp>
      <p:sp>
        <p:nvSpPr>
          <p:cNvPr id="30" name="Θέση περιεχομένου 17"/>
          <p:cNvSpPr txBox="1">
            <a:spLocks/>
          </p:cNvSpPr>
          <p:nvPr/>
        </p:nvSpPr>
        <p:spPr>
          <a:xfrm>
            <a:off x="541609" y="145549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t>Δοκιμάστε τη μόνοι σας με αυτούς τους δύο απλούς πλανήτες:</a:t>
            </a:r>
          </a:p>
        </p:txBody>
      </p:sp>
      <p:grpSp>
        <p:nvGrpSpPr>
          <p:cNvPr id="13" name="Ομάδα 12" descr="Μικρός κύκλος με τον αριθμό 1 που υποδεικνύει το βήμα 1"/>
          <p:cNvGrpSpPr/>
          <p:nvPr/>
        </p:nvGrpSpPr>
        <p:grpSpPr bwMode="blackWhite">
          <a:xfrm>
            <a:off x="558723" y="1917997"/>
            <a:ext cx="558179" cy="409838"/>
            <a:chOff x="6953426" y="711274"/>
            <a:chExt cx="558179" cy="409838"/>
          </a:xfrm>
        </p:grpSpPr>
        <p:sp>
          <p:nvSpPr>
            <p:cNvPr id="14" name="Έλλειψη 1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15" name="Πλαίσιο κειμένου 14" descr="Αριθμός 1"/>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16" name="Θέση περιεχομένου 17"/>
          <p:cNvSpPr txBox="1">
            <a:spLocks/>
          </p:cNvSpPr>
          <p:nvPr/>
        </p:nvSpPr>
        <p:spPr>
          <a:xfrm>
            <a:off x="1066037" y="1958189"/>
            <a:ext cx="3296574" cy="838453"/>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Κάντε αναπαραγωγή αυτής της διαφάνειας: Κάντε δεξί κλικ στη μικρογραφία της διαφάνειας και επιλέξτε</a:t>
            </a:r>
            <a:r>
              <a:rPr lang="el-GR" dirty="0">
                <a:solidFill>
                  <a:prstClr val="black">
                    <a:lumMod val="75000"/>
                    <a:lumOff val="25000"/>
                  </a:prstClr>
                </a:solidFill>
                <a:cs typeface="Segoe UI"/>
              </a:rPr>
              <a:t> </a:t>
            </a:r>
            <a:r>
              <a:rPr lang="el-GR" dirty="0">
                <a:solidFill>
                  <a:srgbClr val="D24726"/>
                </a:solidFill>
                <a:latin typeface="Segoe UI Semibold" panose="020B0702040204020203" pitchFamily="34" charset="0"/>
                <a:cs typeface="Segoe UI Semibold" panose="020B0702040204020203" pitchFamily="34" charset="0"/>
              </a:rPr>
              <a:t>Αναπαραγωγή διαφάνειας</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2" name="Εικόνα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27434" y="1715748"/>
            <a:ext cx="1460399" cy="1778890"/>
          </a:xfrm>
          <a:prstGeom prst="rect">
            <a:avLst/>
          </a:prstGeom>
        </p:spPr>
      </p:pic>
      <p:grpSp>
        <p:nvGrpSpPr>
          <p:cNvPr id="18" name="Ομάδα 17" descr="Μικρός κύκλος με τον αριθμό 2 που υποδεικνύει το βήμα 2"/>
          <p:cNvGrpSpPr/>
          <p:nvPr/>
        </p:nvGrpSpPr>
        <p:grpSpPr bwMode="blackWhite">
          <a:xfrm>
            <a:off x="558723" y="2778751"/>
            <a:ext cx="558179" cy="409838"/>
            <a:chOff x="6953426" y="711274"/>
            <a:chExt cx="558179" cy="409838"/>
          </a:xfrm>
        </p:grpSpPr>
        <p:sp>
          <p:nvSpPr>
            <p:cNvPr id="23" name="Έλλειψη 22"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4" name="Πλαίσιο κειμένου 23" descr="Αριθμός 2"/>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25" name="Θέση περιεχομένου 17"/>
          <p:cNvSpPr txBox="1">
            <a:spLocks/>
          </p:cNvSpPr>
          <p:nvPr/>
        </p:nvSpPr>
        <p:spPr>
          <a:xfrm>
            <a:off x="1066038" y="2818942"/>
            <a:ext cx="2651153" cy="1517087"/>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Στη δεύτερη από αυτές τις δύο πανομοιότυπες διαφάνειες, αλλάξτε τα σχήματα στα δεξιά με κάποιον τρόπο (μετακίνηση, αλλαγή μεγέθους, αλλαγή χρώματος) και, στη συνέχεια, επιλέξτε </a:t>
            </a:r>
            <a:r>
              <a:rPr lang="el-GR" dirty="0">
                <a:solidFill>
                  <a:srgbClr val="D24726"/>
                </a:solidFill>
                <a:latin typeface="Segoe UI Semibold" panose="020B0702040204020203" pitchFamily="34" charset="0"/>
                <a:cs typeface="Segoe UI Semibold" panose="020B0702040204020203" pitchFamily="34" charset="0"/>
              </a:rPr>
              <a:t>Μεταβάσεις</a:t>
            </a:r>
            <a:r>
              <a:rPr lang="el-GR" dirty="0">
                <a:solidFill>
                  <a:prstClr val="black">
                    <a:lumMod val="75000"/>
                    <a:lumOff val="25000"/>
                  </a:prstClr>
                </a:solidFill>
                <a:cs typeface="Segoe UI"/>
              </a:rPr>
              <a:t> &gt; </a:t>
            </a:r>
            <a:r>
              <a:rPr lang="el-GR" dirty="0">
                <a:solidFill>
                  <a:srgbClr val="D24726"/>
                </a:solidFill>
                <a:latin typeface="Segoe UI Semibold" panose="020B0702040204020203" pitchFamily="34" charset="0"/>
                <a:cs typeface="Segoe UI Semibold" panose="020B0702040204020203" pitchFamily="34" charset="0"/>
              </a:rPr>
              <a:t>Μεταμόρφωση</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6" name="Εικόνα 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83896" y="3217634"/>
            <a:ext cx="2468760" cy="1069872"/>
          </a:xfrm>
          <a:prstGeom prst="rect">
            <a:avLst/>
          </a:prstGeom>
        </p:spPr>
      </p:pic>
      <p:grpSp>
        <p:nvGrpSpPr>
          <p:cNvPr id="26" name="Ομάδα 25" descr="Μικρός κύκλος με τον αριθμό 3 που υποδεικνύει το βήμα 3"/>
          <p:cNvGrpSpPr/>
          <p:nvPr/>
        </p:nvGrpSpPr>
        <p:grpSpPr bwMode="blackWhite">
          <a:xfrm>
            <a:off x="557319" y="4344232"/>
            <a:ext cx="558179" cy="409838"/>
            <a:chOff x="6953426" y="711274"/>
            <a:chExt cx="558179" cy="409838"/>
          </a:xfrm>
        </p:grpSpPr>
        <p:sp>
          <p:nvSpPr>
            <p:cNvPr id="27" name="Έλλειψη 2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8" name="Πλαίσιο κειμένου 27" descr="Αριθμός 3"/>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29" name="Θέση περιεχομένου 17"/>
          <p:cNvSpPr txBox="1">
            <a:spLocks/>
          </p:cNvSpPr>
          <p:nvPr/>
        </p:nvSpPr>
        <p:spPr>
          <a:xfrm>
            <a:off x="1076798" y="4360522"/>
            <a:ext cx="2838937" cy="1423282"/>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Επιστρέψτε στην πρώτη από τις δύο διαφάνειες, πατήστε το κουμπί </a:t>
            </a:r>
            <a:r>
              <a:rPr lang="el-GR" dirty="0">
                <a:solidFill>
                  <a:srgbClr val="D24726"/>
                </a:solidFill>
                <a:latin typeface="Segoe UI Semibold" panose="020B0702040204020203" pitchFamily="34" charset="0"/>
                <a:cs typeface="Segoe UI Semibold" panose="020B0702040204020203" pitchFamily="34" charset="0"/>
              </a:rPr>
              <a:t>Προβολή παρουσίασης </a:t>
            </a:r>
            <a:r>
              <a:rPr lang="el-GR" dirty="0">
                <a:solidFill>
                  <a:prstClr val="black">
                    <a:lumMod val="75000"/>
                    <a:lumOff val="25000"/>
                  </a:prstClr>
                </a:solidFill>
                <a:latin typeface="Segoe UI" panose="020B0502040204020203" pitchFamily="34" charset="0"/>
                <a:cs typeface="Segoe UI" panose="020B0502040204020203" pitchFamily="34" charset="0"/>
              </a:rPr>
              <a:t> και, στη συνέχεια, επιλέξτε</a:t>
            </a:r>
            <a:r>
              <a:rPr lang="el-GR" dirty="0">
                <a:solidFill>
                  <a:prstClr val="black">
                    <a:lumMod val="75000"/>
                    <a:lumOff val="25000"/>
                  </a:prstClr>
                </a:solidFill>
              </a:rPr>
              <a:t> </a:t>
            </a:r>
            <a:r>
              <a:rPr lang="el-GR" dirty="0">
                <a:solidFill>
                  <a:srgbClr val="D24726"/>
                </a:solidFill>
                <a:latin typeface="Segoe UI Semibold" panose="020B0702040204020203" pitchFamily="34" charset="0"/>
                <a:cs typeface="Segoe UI Semibold" panose="020B0702040204020203" pitchFamily="34" charset="0"/>
              </a:rPr>
              <a:t>Αναπαραγωγή</a:t>
            </a:r>
            <a:r>
              <a:rPr lang="el-GR" dirty="0">
                <a:solidFill>
                  <a:prstClr val="black">
                    <a:lumMod val="75000"/>
                    <a:lumOff val="25000"/>
                  </a:prstClr>
                </a:solidFill>
              </a:rPr>
              <a:t> </a:t>
            </a:r>
            <a:r>
              <a:rPr lang="el-GR" dirty="0">
                <a:solidFill>
                  <a:prstClr val="black">
                    <a:lumMod val="75000"/>
                    <a:lumOff val="25000"/>
                  </a:prstClr>
                </a:solidFill>
                <a:latin typeface="Segoe UI" panose="020B0502040204020203" pitchFamily="34" charset="0"/>
                <a:cs typeface="Segoe UI" panose="020B0502040204020203" pitchFamily="34" charset="0"/>
              </a:rPr>
              <a:t> για να δείτε τον κύκλο σας να μεταμορφώνεται!</a:t>
            </a:r>
          </a:p>
        </p:txBody>
      </p:sp>
      <p:pic>
        <p:nvPicPr>
          <p:cNvPr id="5" name="Εικόνα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915735" y="4344232"/>
            <a:ext cx="2134319" cy="887083"/>
          </a:xfrm>
          <a:prstGeom prst="rect">
            <a:avLst/>
          </a:prstGeom>
        </p:spPr>
      </p:pic>
      <p:sp>
        <p:nvSpPr>
          <p:cNvPr id="17" name="Θέση περιεχομένου 17"/>
          <p:cNvSpPr txBox="1">
            <a:spLocks/>
          </p:cNvSpPr>
          <p:nvPr/>
        </p:nvSpPr>
        <p:spPr>
          <a:xfrm>
            <a:off x="628962" y="5832234"/>
            <a:ext cx="4238006" cy="69290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srgbClr val="D24726"/>
                </a:solidFill>
                <a:latin typeface="Segoe UI Semibold" panose="020B0702040204020203" pitchFamily="34" charset="0"/>
                <a:cs typeface="Segoe UI Semibold" panose="020B0702040204020203" pitchFamily="34" charset="0"/>
              </a:rPr>
              <a:t>Συμβουλή: </a:t>
            </a:r>
            <a:r>
              <a:rPr lang="el-GR" dirty="0">
                <a:solidFill>
                  <a:prstClr val="black">
                    <a:lumMod val="75000"/>
                    <a:lumOff val="25000"/>
                  </a:prstClr>
                </a:solidFill>
              </a:rPr>
              <a:t>Οι </a:t>
            </a:r>
            <a:r>
              <a:rPr lang="el-GR" dirty="0">
                <a:solidFill>
                  <a:srgbClr val="404040"/>
                </a:solidFill>
                <a:latin typeface="Segoe UI Semibold" panose="020B0702040204020203" pitchFamily="34" charset="0"/>
                <a:cs typeface="Segoe UI Semibold" panose="020B0702040204020203" pitchFamily="34" charset="0"/>
              </a:rPr>
              <a:t>Επιλογές εφέ </a:t>
            </a:r>
            <a:r>
              <a:rPr lang="el-GR" dirty="0">
                <a:solidFill>
                  <a:prstClr val="black">
                    <a:lumMod val="75000"/>
                    <a:lumOff val="25000"/>
                  </a:prstClr>
                </a:solidFill>
                <a:latin typeface="Segoe UI" panose="020B0502040204020203" pitchFamily="34" charset="0"/>
                <a:cs typeface="Segoe UI" panose="020B0502040204020203" pitchFamily="34" charset="0"/>
              </a:rPr>
              <a:t>σάς παρέχουν ακόμη περισσότερες επιλογές για τη </a:t>
            </a:r>
            <a:r>
              <a:rPr lang="el-GR" dirty="0">
                <a:solidFill>
                  <a:prstClr val="black">
                    <a:lumMod val="75000"/>
                    <a:lumOff val="25000"/>
                  </a:prstClr>
                </a:solidFill>
                <a:latin typeface="Segoe UI Semibold" panose="020B0702040204020203" pitchFamily="34" charset="0"/>
                <a:cs typeface="Segoe UI Semibold" panose="020B0702040204020203" pitchFamily="34" charset="0"/>
              </a:rPr>
              <a:t>Μεταμόρφωση</a:t>
            </a:r>
            <a:r>
              <a:rPr lang="el-GR" dirty="0">
                <a:solidFill>
                  <a:prstClr val="black">
                    <a:lumMod val="75000"/>
                    <a:lumOff val="25000"/>
                  </a:prstClr>
                </a:solidFill>
              </a:rPr>
              <a:t>.</a:t>
            </a:r>
          </a:p>
        </p:txBody>
      </p:sp>
      <p:cxnSp>
        <p:nvCxnSpPr>
          <p:cNvPr id="20" name="Ευθεία γραμμή σύνδεσης 19" descr="Ανοιχτή γκρι γραμμή που διαχωρίζει κείμενο και εικόνες για μεταμόρφωση"/>
          <p:cNvCxnSpPr/>
          <p:nvPr/>
        </p:nvCxnSpPr>
        <p:spPr>
          <a:xfrm>
            <a:off x="6296866" y="1472431"/>
            <a:ext cx="0" cy="4892634"/>
          </a:xfrm>
          <a:prstGeom prst="line">
            <a:avLst/>
          </a:prstGeom>
          <a:ln w="952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sp>
        <p:nvSpPr>
          <p:cNvPr id="10" name="Έλλειψη 9" descr="Μεγάλος, μπλε κύκλος με ένα μικρό ανοιχτό μπλε κύκλο μέσα του"/>
          <p:cNvSpPr/>
          <p:nvPr/>
        </p:nvSpPr>
        <p:spPr>
          <a:xfrm>
            <a:off x="7236525" y="1944862"/>
            <a:ext cx="3827244" cy="3743233"/>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800" b="0" i="0" u="none" strike="noStrike" kern="0" cap="none" spc="0" normalizeH="0" baseline="0" dirty="0">
              <a:ln>
                <a:noFill/>
              </a:ln>
              <a:solidFill>
                <a:sysClr val="windowText" lastClr="000000"/>
              </a:solidFill>
              <a:effectLst/>
              <a:uLnTx/>
              <a:uFillTx/>
            </a:endParaRPr>
          </a:p>
        </p:txBody>
      </p:sp>
      <p:sp>
        <p:nvSpPr>
          <p:cNvPr id="11" name="Έλλειψη 10" descr="Μικρός ανοιχτός μπλε κύκλος μέσα σε μεγάλο σκούρο μπλε κύκλο"/>
          <p:cNvSpPr/>
          <p:nvPr/>
        </p:nvSpPr>
        <p:spPr bwMode="ltGray">
          <a:xfrm>
            <a:off x="8086223" y="2796642"/>
            <a:ext cx="2148929" cy="2101759"/>
          </a:xfrm>
          <a:prstGeom prst="ellipse">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800" b="0" i="0" u="none" strike="noStrike" kern="0" cap="none" spc="0" normalizeH="0" baseline="0" dirty="0">
              <a:ln>
                <a:noFill/>
              </a:ln>
              <a:solidFill>
                <a:sysClr val="windowText" lastClr="000000"/>
              </a:solidFill>
              <a:effectLst/>
              <a:uLnTx/>
              <a:uFillTx/>
            </a:endParaRPr>
          </a:p>
        </p:txBody>
      </p:sp>
    </p:spTree>
    <p:extLst>
      <p:ext uri="{BB962C8B-B14F-4D97-AF65-F5344CB8AC3E}">
        <p14:creationId xmlns:p14="http://schemas.microsoft.com/office/powerpoint/2010/main" val="25968336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normAutofit/>
          </a:bodyPr>
          <a:lstStyle/>
          <a:p>
            <a:pPr lvl="0" rtl="0"/>
            <a:r>
              <a:rPr lang="el-GR" dirty="0">
                <a:latin typeface="Segoe UI Light" panose="020B0502040204020203" pitchFamily="34" charset="0"/>
                <a:cs typeface="Segoe UI Light" panose="020B0502040204020203" pitchFamily="34" charset="0"/>
              </a:rPr>
              <a:t>Συνεργασία σε πραγματικό χρόνο</a:t>
            </a:r>
          </a:p>
        </p:txBody>
      </p:sp>
      <p:sp>
        <p:nvSpPr>
          <p:cNvPr id="5" name="Θέση περιεχομένου 4"/>
          <p:cNvSpPr>
            <a:spLocks noGrp="1"/>
          </p:cNvSpPr>
          <p:nvPr>
            <p:ph sz="half" idx="4294967295"/>
          </p:nvPr>
        </p:nvSpPr>
        <p:spPr>
          <a:xfrm>
            <a:off x="541610" y="1431010"/>
            <a:ext cx="5770699" cy="3978275"/>
          </a:xfrm>
        </p:spPr>
        <p:txBody>
          <a:bodyPr vert="horz" lIns="91440" tIns="45720" rIns="91440" bIns="45720" rtlCol="0">
            <a:normAutofit/>
          </a:bodyPr>
          <a:lstStyle/>
          <a:p>
            <a:pPr marL="0" indent="0" rtl="0">
              <a:lnSpc>
                <a:spcPts val="1800"/>
              </a:lnSpc>
              <a:spcBef>
                <a:spcPts val="1000"/>
              </a:spcBef>
              <a:spcAft>
                <a:spcPts val="20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Όταν κάνετε κοινή χρήση της παρουσίασής σας με άλλους χρήστες, θα τους βλέπετε να εργάζονται μαζί σας την ίδια στιγμή. </a:t>
            </a:r>
            <a:br>
              <a:rPr lang="el-GR" sz="1200" dirty="0">
                <a:solidFill>
                  <a:prstClr val="black">
                    <a:lumMod val="75000"/>
                    <a:lumOff val="25000"/>
                  </a:prstClr>
                </a:solidFill>
                <a:latin typeface="Segoe UI" panose="020B0502040204020203" pitchFamily="34" charset="0"/>
                <a:cs typeface="Segoe UI" panose="020B0502040204020203" pitchFamily="34" charset="0"/>
              </a:rPr>
            </a:br>
            <a:br>
              <a:rPr lang="el-GR" sz="1200" dirty="0">
                <a:solidFill>
                  <a:prstClr val="black">
                    <a:lumMod val="75000"/>
                    <a:lumOff val="25000"/>
                  </a:prstClr>
                </a:solidFill>
                <a:latin typeface="Segoe UI" panose="020B0502040204020203" pitchFamily="34" charset="0"/>
                <a:cs typeface="Segoe UI" panose="020B0502040204020203" pitchFamily="34" charset="0"/>
              </a:rPr>
            </a:br>
            <a:r>
              <a:rPr lang="el-GR" sz="1200" dirty="0">
                <a:solidFill>
                  <a:prstClr val="black">
                    <a:lumMod val="75000"/>
                    <a:lumOff val="25000"/>
                  </a:prstClr>
                </a:solidFill>
                <a:latin typeface="Segoe UI" panose="020B0502040204020203" pitchFamily="34" charset="0"/>
                <a:cs typeface="Segoe UI" panose="020B0502040204020203" pitchFamily="34" charset="0"/>
              </a:rPr>
              <a:t>Πώς λειτουργεί:</a:t>
            </a:r>
          </a:p>
        </p:txBody>
      </p:sp>
      <p:pic>
        <p:nvPicPr>
          <p:cNvPr id="11" name="Εικόνα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1984" y="2425111"/>
            <a:ext cx="3262550" cy="1475659"/>
          </a:xfrm>
          <a:prstGeom prst="rect">
            <a:avLst/>
          </a:prstGeom>
        </p:spPr>
      </p:pic>
      <p:grpSp>
        <p:nvGrpSpPr>
          <p:cNvPr id="33" name="Ομάδα 32" descr="Μικρός κύκλος με τον αριθμό 1 που υποδεικνύει το βήμα 1"/>
          <p:cNvGrpSpPr/>
          <p:nvPr/>
        </p:nvGrpSpPr>
        <p:grpSpPr bwMode="blackWhite">
          <a:xfrm>
            <a:off x="558723" y="4531632"/>
            <a:ext cx="558179" cy="409838"/>
            <a:chOff x="6953426" y="711274"/>
            <a:chExt cx="558179" cy="409838"/>
          </a:xfrm>
        </p:grpSpPr>
        <p:sp>
          <p:nvSpPr>
            <p:cNvPr id="34" name="Έλλειψη 3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5" name="Πλαίσιο κειμένου 34" descr="Αριθμός 1"/>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42" name="Θέση περιεχομένου 17"/>
          <p:cNvSpPr txBox="1">
            <a:spLocks/>
          </p:cNvSpPr>
          <p:nvPr/>
        </p:nvSpPr>
        <p:spPr>
          <a:xfrm>
            <a:off x="1066039" y="4571824"/>
            <a:ext cx="2696774" cy="1831562"/>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a:t>
            </a:r>
            <a:r>
              <a:rPr lang="el-GR" dirty="0">
                <a:solidFill>
                  <a:srgbClr val="D24726"/>
                </a:solidFill>
                <a:latin typeface="Segoe UI" panose="020B0502040204020203" pitchFamily="34" charset="0"/>
                <a:cs typeface="Segoe UI" panose="020B0502040204020203" pitchFamily="34" charset="0"/>
              </a:rPr>
              <a:t>Κοινή χρήση</a:t>
            </a:r>
            <a:r>
              <a:rPr lang="el-GR" dirty="0">
                <a:solidFill>
                  <a:prstClr val="black">
                    <a:lumMod val="75000"/>
                    <a:lumOff val="25000"/>
                  </a:prstClr>
                </a:solidFill>
                <a:latin typeface="Segoe UI" panose="020B0502040204020203" pitchFamily="34" charset="0"/>
                <a:cs typeface="Segoe UI" panose="020B0502040204020203" pitchFamily="34" charset="0"/>
              </a:rPr>
              <a:t> από την κορδέλα ή χρησιμοποιώντας τον συνδυασμό πλήκτρων </a:t>
            </a:r>
            <a:r>
              <a:rPr lang="el-GR" dirty="0" err="1">
                <a:solidFill>
                  <a:srgbClr val="D24726"/>
                </a:solidFill>
                <a:latin typeface="Segoe UI" panose="020B0502040204020203" pitchFamily="34" charset="0"/>
                <a:cs typeface="Segoe UI" panose="020B0502040204020203" pitchFamily="34" charset="0"/>
              </a:rPr>
              <a:t>Alt</a:t>
            </a:r>
            <a:r>
              <a:rPr lang="el-GR" dirty="0">
                <a:solidFill>
                  <a:srgbClr val="D24726"/>
                </a:solidFill>
                <a:latin typeface="Segoe UI" panose="020B0502040204020203" pitchFamily="34" charset="0"/>
                <a:cs typeface="Segoe UI" panose="020B0502040204020203" pitchFamily="34" charset="0"/>
              </a:rPr>
              <a:t>-Υ</a:t>
            </a:r>
            <a:r>
              <a:rPr lang="en-US" dirty="0">
                <a:solidFill>
                  <a:srgbClr val="D24726"/>
                </a:solidFill>
                <a:latin typeface="Segoe UI" panose="020B0502040204020203" pitchFamily="34" charset="0"/>
                <a:cs typeface="Segoe UI" panose="020B0502040204020203" pitchFamily="34" charset="0"/>
              </a:rPr>
              <a:t>U</a:t>
            </a:r>
            <a:r>
              <a:rPr lang="el-GR" dirty="0">
                <a:solidFill>
                  <a:prstClr val="black">
                    <a:lumMod val="75000"/>
                    <a:lumOff val="25000"/>
                  </a:prstClr>
                </a:solidFill>
                <a:latin typeface="Segoe UI" panose="020B0502040204020203" pitchFamily="34" charset="0"/>
                <a:cs typeface="Segoe UI" panose="020B0502040204020203" pitchFamily="34" charset="0"/>
              </a:rPr>
              <a:t>, για να προσκαλέσετε άτομα για να εργαστούν μαζί σας. (Μπορείτε να αποθηκεύσετε στο </a:t>
            </a:r>
            <a:r>
              <a:rPr lang="el-GR" dirty="0" err="1">
                <a:solidFill>
                  <a:prstClr val="black">
                    <a:lumMod val="75000"/>
                    <a:lumOff val="25000"/>
                  </a:prstClr>
                </a:solidFill>
                <a:latin typeface="Segoe UI" panose="020B0502040204020203" pitchFamily="34" charset="0"/>
                <a:cs typeface="Segoe UI" panose="020B0502040204020203" pitchFamily="34" charset="0"/>
              </a:rPr>
              <a:t>cloud</a:t>
            </a:r>
            <a:r>
              <a:rPr lang="el-GR" dirty="0">
                <a:solidFill>
                  <a:prstClr val="black">
                    <a:lumMod val="75000"/>
                    <a:lumOff val="25000"/>
                  </a:prstClr>
                </a:solidFill>
                <a:latin typeface="Segoe UI" panose="020B0502040204020203" pitchFamily="34" charset="0"/>
                <a:cs typeface="Segoe UI" panose="020B0502040204020203" pitchFamily="34" charset="0"/>
              </a:rPr>
              <a:t> σε αυτό το σημείο.)</a:t>
            </a:r>
          </a:p>
        </p:txBody>
      </p:sp>
      <p:pic>
        <p:nvPicPr>
          <p:cNvPr id="9" name="Εικόνα 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865261" y="2434307"/>
            <a:ext cx="3833874" cy="2512927"/>
          </a:xfrm>
          <a:prstGeom prst="rect">
            <a:avLst/>
          </a:prstGeom>
        </p:spPr>
      </p:pic>
      <p:grpSp>
        <p:nvGrpSpPr>
          <p:cNvPr id="36" name="Ομάδα 35" descr="Μικρός κύκλος με τον αριθμό 2 που υποδεικνύει το βήμα 2"/>
          <p:cNvGrpSpPr/>
          <p:nvPr/>
        </p:nvGrpSpPr>
        <p:grpSpPr bwMode="blackWhite">
          <a:xfrm>
            <a:off x="4249102" y="4531632"/>
            <a:ext cx="558179" cy="409838"/>
            <a:chOff x="6953426" y="711274"/>
            <a:chExt cx="558179" cy="409838"/>
          </a:xfrm>
        </p:grpSpPr>
        <p:sp>
          <p:nvSpPr>
            <p:cNvPr id="37" name="Έλλειψη 3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8" name="Πλαίσιο κειμένου 37" descr="Αριθμός 2"/>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43" name="Θέση περιεχομένου 17"/>
          <p:cNvSpPr txBox="1">
            <a:spLocks/>
          </p:cNvSpPr>
          <p:nvPr/>
        </p:nvSpPr>
        <p:spPr>
          <a:xfrm>
            <a:off x="4747855" y="4571824"/>
            <a:ext cx="3106367" cy="1324053"/>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Όταν άλλα άτομα βρίσκονται στην παρουσίαση, ένας δείκτης δείχνει ποιος βρίσκεται σε ποια διαφάνεια...</a:t>
            </a:r>
          </a:p>
        </p:txBody>
      </p:sp>
      <p:pic>
        <p:nvPicPr>
          <p:cNvPr id="12" name="Εικόνα 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99419" y="2350394"/>
            <a:ext cx="3563782" cy="2305343"/>
          </a:xfrm>
          <a:prstGeom prst="rect">
            <a:avLst/>
          </a:prstGeom>
        </p:spPr>
      </p:pic>
      <p:grpSp>
        <p:nvGrpSpPr>
          <p:cNvPr id="39" name="Ομάδα 38" descr="Μικρός κύκλος με τον αριθμό 3 που υποδεικνύει το βήμα 3"/>
          <p:cNvGrpSpPr/>
          <p:nvPr/>
        </p:nvGrpSpPr>
        <p:grpSpPr bwMode="blackWhite">
          <a:xfrm>
            <a:off x="7930921" y="4531632"/>
            <a:ext cx="558179" cy="409838"/>
            <a:chOff x="6953426" y="711274"/>
            <a:chExt cx="558179" cy="409838"/>
          </a:xfrm>
        </p:grpSpPr>
        <p:sp>
          <p:nvSpPr>
            <p:cNvPr id="40" name="Έλλειψη 3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41" name="Πλαίσιο κειμένου 40" descr="Αριθμός 3"/>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44" name="Θέση περιεχομένου 17"/>
          <p:cNvSpPr txBox="1">
            <a:spLocks/>
          </p:cNvSpPr>
          <p:nvPr/>
        </p:nvSpPr>
        <p:spPr>
          <a:xfrm>
            <a:off x="8429668" y="4571824"/>
            <a:ext cx="2658635" cy="697760"/>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…και το τμήμα της διαφάνειας που επεξεργάζεται.</a:t>
            </a:r>
          </a:p>
        </p:txBody>
      </p:sp>
    </p:spTree>
    <p:extLst>
      <p:ext uri="{BB962C8B-B14F-4D97-AF65-F5344CB8AC3E}">
        <p14:creationId xmlns:p14="http://schemas.microsoft.com/office/powerpoint/2010/main" val="13286760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Τίτλος 5"/>
          <p:cNvSpPr>
            <a:spLocks noGrp="1"/>
          </p:cNvSpPr>
          <p:nvPr>
            <p:ph type="title"/>
          </p:nvPr>
        </p:nvSpPr>
        <p:spPr>
          <a:xfrm>
            <a:off x="521207" y="448056"/>
            <a:ext cx="10667903" cy="640080"/>
          </a:xfrm>
        </p:spPr>
        <p:txBody>
          <a:bodyPr rtlCol="0">
            <a:normAutofit/>
          </a:bodyPr>
          <a:lstStyle/>
          <a:p>
            <a:pPr rtl="0"/>
            <a:r>
              <a:rPr lang="el-GR" dirty="0">
                <a:latin typeface="Segoe UI Light" panose="020B0502040204020203" pitchFamily="34" charset="0"/>
                <a:cs typeface="Segoe UI Light" panose="020B0502040204020203" pitchFamily="34" charset="0"/>
              </a:rPr>
              <a:t>Αποκτήστε την εμπειρία των ειδικών με το πλαίσιο "Πείτε μου"</a:t>
            </a:r>
          </a:p>
        </p:txBody>
      </p:sp>
      <p:sp>
        <p:nvSpPr>
          <p:cNvPr id="38" name="Θέση περιεχομένου 17"/>
          <p:cNvSpPr txBox="1">
            <a:spLocks/>
          </p:cNvSpPr>
          <p:nvPr/>
        </p:nvSpPr>
        <p:spPr>
          <a:xfrm>
            <a:off x="541609" y="1296100"/>
            <a:ext cx="5110161" cy="1236475"/>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Το πλαίσιο "Πείτε μου" βρίσκει τη σωστή εντολή όταν τη χρειάζεστε, </a:t>
            </a:r>
            <a:br>
              <a:rPr lang="el-GR" dirty="0">
                <a:solidFill>
                  <a:prstClr val="black">
                    <a:lumMod val="75000"/>
                    <a:lumOff val="25000"/>
                  </a:prstClr>
                </a:solidFill>
                <a:latin typeface="Segoe UI" panose="020B0502040204020203" pitchFamily="34" charset="0"/>
                <a:cs typeface="Segoe UI" panose="020B0502040204020203" pitchFamily="34" charset="0"/>
              </a:rPr>
            </a:br>
            <a:r>
              <a:rPr lang="el-GR" dirty="0">
                <a:solidFill>
                  <a:prstClr val="black">
                    <a:lumMod val="75000"/>
                    <a:lumOff val="25000"/>
                  </a:prstClr>
                </a:solidFill>
                <a:latin typeface="Segoe UI" panose="020B0502040204020203" pitchFamily="34" charset="0"/>
                <a:cs typeface="Segoe UI" panose="020B0502040204020203" pitchFamily="34" charset="0"/>
              </a:rPr>
              <a:t>για να εξοικονομείτε χρόνο και να επικεντρώνεστε στην εργασία σας.</a:t>
            </a:r>
            <a:br>
              <a:rPr lang="el-GR" dirty="0">
                <a:latin typeface="Segoe UI" panose="020B0502040204020203" pitchFamily="34" charset="0"/>
                <a:cs typeface="Segoe UI" panose="020B0502040204020203" pitchFamily="34" charset="0"/>
              </a:rPr>
            </a:br>
            <a:br>
              <a:rPr lang="el-GR" dirty="0">
                <a:latin typeface="Segoe UI" panose="020B0502040204020203" pitchFamily="34" charset="0"/>
                <a:cs typeface="Segoe UI" panose="020B0502040204020203" pitchFamily="34" charset="0"/>
              </a:rPr>
            </a:br>
            <a:r>
              <a:rPr lang="el-GR" dirty="0">
                <a:latin typeface="Segoe UI" panose="020B0502040204020203" pitchFamily="34" charset="0"/>
                <a:cs typeface="Segoe UI" panose="020B0502040204020203" pitchFamily="34" charset="0"/>
              </a:rPr>
              <a:t>Δοκιμάστε το:</a:t>
            </a:r>
          </a:p>
        </p:txBody>
      </p:sp>
      <p:grpSp>
        <p:nvGrpSpPr>
          <p:cNvPr id="4" name="Ομάδα 3" descr="Μικρός κύκλος με τον αριθμό 1 που υποδεικνύει το βήμα 1"/>
          <p:cNvGrpSpPr/>
          <p:nvPr/>
        </p:nvGrpSpPr>
        <p:grpSpPr bwMode="blackWhite">
          <a:xfrm>
            <a:off x="558723" y="2638502"/>
            <a:ext cx="558179" cy="409838"/>
            <a:chOff x="6953426" y="711274"/>
            <a:chExt cx="558179" cy="409838"/>
          </a:xfrm>
        </p:grpSpPr>
        <p:sp>
          <p:nvSpPr>
            <p:cNvPr id="2" name="Έλλειψη 1"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 name="Πλαίσιο κειμένου 2" descr="Αριθμός 1"/>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29" name="Θέση περιεχομένου 17"/>
          <p:cNvSpPr txBox="1">
            <a:spLocks/>
          </p:cNvSpPr>
          <p:nvPr/>
        </p:nvSpPr>
        <p:spPr>
          <a:xfrm>
            <a:off x="1066039" y="2678694"/>
            <a:ext cx="3121671" cy="46764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defTabSz="512763" rtl="0">
              <a:lnSpc>
                <a:spcPct val="100000"/>
              </a:lnSpc>
              <a:spcBef>
                <a:spcPts val="0"/>
              </a:spcBef>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την </a:t>
            </a:r>
            <a:r>
              <a:rPr lang="el-GR" dirty="0">
                <a:solidFill>
                  <a:srgbClr val="404040"/>
                </a:solidFill>
                <a:latin typeface="Segoe UI" panose="020B0502040204020203" pitchFamily="34" charset="0"/>
                <a:cs typeface="Segoe UI" panose="020B0502040204020203" pitchFamily="34" charset="0"/>
              </a:rPr>
              <a:t>εικόνα του ρομπότ </a:t>
            </a:r>
            <a:r>
              <a:rPr lang="el-GR" dirty="0">
                <a:solidFill>
                  <a:prstClr val="black">
                    <a:lumMod val="75000"/>
                    <a:lumOff val="25000"/>
                  </a:prstClr>
                </a:solidFill>
                <a:latin typeface="Segoe UI" panose="020B0502040204020203" pitchFamily="34" charset="0"/>
                <a:cs typeface="Segoe UI" panose="020B0502040204020203" pitchFamily="34" charset="0"/>
              </a:rPr>
              <a:t>στα δεξιά.</a:t>
            </a:r>
          </a:p>
        </p:txBody>
      </p:sp>
      <p:sp>
        <p:nvSpPr>
          <p:cNvPr id="25" name="Πλαίσιο κειμένου 16" descr="Επιλέξτε &quot;εγώ&quot;"/>
          <p:cNvSpPr txBox="1"/>
          <p:nvPr/>
        </p:nvSpPr>
        <p:spPr>
          <a:xfrm rot="21077122">
            <a:off x="6043297" y="1772253"/>
            <a:ext cx="1334770" cy="435610"/>
          </a:xfrm>
          <a:prstGeom prst="rect">
            <a:avLst/>
          </a:prstGeom>
          <a:noFill/>
          <a:ln>
            <a:noFill/>
          </a:ln>
          <a:effectLst/>
          <a:extLst>
            <a:ext uri="{C572A759-6A51-4108-AA02-DFA0A04FC94B}">
              <ma14:wrappingTextBoxFlag xmlns:ma14="http://schemas.microsoft.com/office/mac/drawingml/2011/main" xmlns=""/>
            </a:ext>
          </a:extLst>
        </p:spPr>
        <p:txBody>
          <a:bodyPr rot="0" spcFirstLastPara="0" vert="horz" wrap="none" lIns="91440" tIns="45720" rIns="91440" bIns="45720" numCol="1" spcCol="0" rtlCol="0" fromWordArt="0" anchor="t" anchorCtr="0" forceAA="0" compatLnSpc="1">
            <a:prstTxWarp prst="textNoShape">
              <a:avLst/>
            </a:prstTxWarp>
            <a:noAutofit/>
          </a:bodyPr>
          <a:lstStyle/>
          <a:p>
            <a:pPr algn="ctr">
              <a:spcAft>
                <a:spcPts val="200"/>
              </a:spcAft>
              <a:tabLst>
                <a:tab pos="4931410" algn="l"/>
              </a:tabLst>
            </a:pPr>
            <a:r>
              <a:rPr lang="el-GR" sz="1200" b="1" kern="1000" spc="100" dirty="0">
                <a:solidFill>
                  <a:srgbClr val="D24726"/>
                </a:solidFill>
                <a:latin typeface="Segoe UI Semibold" panose="020B0702040204020203" pitchFamily="34" charset="0"/>
                <a:ea typeface="SimHei" panose="02010609060101010101" pitchFamily="49" charset="-122"/>
                <a:cs typeface="Times New Roman" panose="02020603050405020304" pitchFamily="18" charset="0"/>
              </a:rPr>
              <a:t>ΕΠΙΛΕΞΤΕ ΜΕ</a:t>
            </a:r>
            <a:endParaRPr lang="el-GR" sz="1200" b="1" kern="1400" dirty="0">
              <a:solidFill>
                <a:srgbClr val="D24726"/>
              </a:solidFill>
              <a:effectLst/>
              <a:latin typeface="Segoe UI Light" panose="020B0502040204020203" pitchFamily="34" charset="0"/>
              <a:ea typeface="SimHei" panose="02010609060101010101" pitchFamily="49" charset="-122"/>
              <a:cs typeface="Times New Roman" panose="02020603050405020304" pitchFamily="18" charset="0"/>
            </a:endParaRPr>
          </a:p>
        </p:txBody>
      </p:sp>
      <p:pic>
        <p:nvPicPr>
          <p:cNvPr id="24" name="Εικόνα 23" descr="Καμπύλο βέλος"/>
          <p:cNvPicPr/>
          <p:nvPr/>
        </p:nvPicPr>
        <p:blipFill>
          <a:blip r:embed="rId3" cstate="print">
            <a:extLst>
              <a:ext uri="{28A0092B-C50C-407E-A947-70E740481C1C}">
                <a14:useLocalDpi xmlns:a14="http://schemas.microsoft.com/office/drawing/2010/main" val="0"/>
              </a:ext>
            </a:extLst>
          </a:blip>
          <a:stretch>
            <a:fillRect/>
          </a:stretch>
        </p:blipFill>
        <p:spPr>
          <a:xfrm rot="3861835" flipH="1">
            <a:off x="6740574" y="1787378"/>
            <a:ext cx="851862" cy="939987"/>
          </a:xfrm>
          <a:prstGeom prst="rect">
            <a:avLst/>
          </a:prstGeom>
        </p:spPr>
      </p:pic>
      <p:pic>
        <p:nvPicPr>
          <p:cNvPr id="23" name="Εικόνα 22" descr="Ρομπότ"/>
          <p:cNvPicPr>
            <a:picLocks noChangeAspect="1"/>
          </p:cNvPicPr>
          <p:nvPr/>
        </p:nvPicPr>
        <p:blipFill>
          <a:blip r:embed="rId4"/>
          <a:stretch>
            <a:fillRect/>
          </a:stretch>
        </p:blipFill>
        <p:spPr>
          <a:xfrm>
            <a:off x="7912741" y="1646170"/>
            <a:ext cx="2775459" cy="4531804"/>
          </a:xfrm>
          <a:prstGeom prst="rect">
            <a:avLst/>
          </a:prstGeom>
        </p:spPr>
      </p:pic>
      <p:grpSp>
        <p:nvGrpSpPr>
          <p:cNvPr id="19" name="Ομάδα 18" descr="Μικρός κύκλος με τον αριθμό 2 που υποδεικνύει το βήμα 2"/>
          <p:cNvGrpSpPr/>
          <p:nvPr/>
        </p:nvGrpSpPr>
        <p:grpSpPr bwMode="blackWhite">
          <a:xfrm>
            <a:off x="558723" y="3224505"/>
            <a:ext cx="558179" cy="409838"/>
            <a:chOff x="6953426" y="711274"/>
            <a:chExt cx="558179" cy="409838"/>
          </a:xfrm>
        </p:grpSpPr>
        <p:sp>
          <p:nvSpPr>
            <p:cNvPr id="20" name="Έλλειψη 1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1" name="Πλαίσιο κειμένου 20" descr="Αριθμός 2"/>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22" name="Θέση περιεχομένου 17"/>
          <p:cNvSpPr txBox="1">
            <a:spLocks/>
          </p:cNvSpPr>
          <p:nvPr/>
        </p:nvSpPr>
        <p:spPr>
          <a:xfrm>
            <a:off x="1066039" y="3264697"/>
            <a:ext cx="3504072" cy="913994"/>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buNone/>
            </a:pPr>
            <a:r>
              <a:rPr lang="el-GR" dirty="0">
                <a:solidFill>
                  <a:prstClr val="black">
                    <a:lumMod val="75000"/>
                    <a:lumOff val="25000"/>
                  </a:prstClr>
                </a:solidFill>
                <a:latin typeface="Segoe UI" panose="020B0502040204020203" pitchFamily="34" charset="0"/>
                <a:cs typeface="Segoe UI" panose="020B0502040204020203" pitchFamily="34" charset="0"/>
              </a:rPr>
              <a:t>Πληκτρολογήστε</a:t>
            </a:r>
            <a:r>
              <a:rPr lang="el-GR" dirty="0">
                <a:solidFill>
                  <a:prstClr val="black">
                    <a:lumMod val="75000"/>
                    <a:lumOff val="25000"/>
                  </a:prstClr>
                </a:solidFill>
              </a:rPr>
              <a:t> </a:t>
            </a:r>
            <a:r>
              <a:rPr lang="el-GR" i="1" dirty="0">
                <a:solidFill>
                  <a:srgbClr val="D24726"/>
                </a:solidFill>
                <a:latin typeface="Segoe UI" panose="020B0502040204020203" pitchFamily="34" charset="0"/>
                <a:cs typeface="Segoe UI" panose="020B0502040204020203" pitchFamily="34" charset="0"/>
              </a:rPr>
              <a:t>κίνηση</a:t>
            </a:r>
            <a:r>
              <a:rPr lang="el-GR" dirty="0">
                <a:solidFill>
                  <a:prstClr val="black">
                    <a:lumMod val="75000"/>
                    <a:lumOff val="25000"/>
                  </a:prstClr>
                </a:solidFill>
              </a:rPr>
              <a:t> </a:t>
            </a:r>
            <a:r>
              <a:rPr lang="el-GR" dirty="0">
                <a:solidFill>
                  <a:prstClr val="black">
                    <a:lumMod val="75000"/>
                    <a:lumOff val="25000"/>
                  </a:prstClr>
                </a:solidFill>
                <a:latin typeface="Segoe UI" panose="020B0502040204020203" pitchFamily="34" charset="0"/>
                <a:cs typeface="Segoe UI" panose="020B0502040204020203" pitchFamily="34" charset="0"/>
              </a:rPr>
              <a:t>στο πλαίσιο </a:t>
            </a:r>
            <a:r>
              <a:rPr lang="el-GR" dirty="0">
                <a:solidFill>
                  <a:srgbClr val="D24726"/>
                </a:solidFill>
                <a:latin typeface="Segoe UI Semibold" panose="020B0702040204020203" pitchFamily="34" charset="0"/>
                <a:cs typeface="Segoe UI Semibold" panose="020B0702040204020203" pitchFamily="34" charset="0"/>
              </a:rPr>
              <a:t>Πείτε μου </a:t>
            </a:r>
            <a:r>
              <a:rPr lang="el-GR" dirty="0">
                <a:solidFill>
                  <a:prstClr val="black">
                    <a:lumMod val="75000"/>
                    <a:lumOff val="25000"/>
                  </a:prstClr>
                </a:solidFill>
                <a:latin typeface="Segoe UI" panose="020B0502040204020203" pitchFamily="34" charset="0"/>
                <a:cs typeface="Segoe UI" panose="020B0502040204020203" pitchFamily="34" charset="0"/>
              </a:rPr>
              <a:t>και, στη συνέχεια, επιλέξτε </a:t>
            </a:r>
            <a:r>
              <a:rPr lang="el-GR" dirty="0">
                <a:solidFill>
                  <a:srgbClr val="D24726"/>
                </a:solidFill>
                <a:latin typeface="Segoe UI Semibold" panose="020B0702040204020203" pitchFamily="34" charset="0"/>
                <a:cs typeface="Segoe UI Semibold" panose="020B0702040204020203" pitchFamily="34" charset="0"/>
              </a:rPr>
              <a:t>Προσθήκη κίνησης</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5" name="Εικόνα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545526" y="3361785"/>
            <a:ext cx="2106152" cy="220832"/>
          </a:xfrm>
          <a:prstGeom prst="rect">
            <a:avLst/>
          </a:prstGeom>
        </p:spPr>
      </p:pic>
      <p:grpSp>
        <p:nvGrpSpPr>
          <p:cNvPr id="31" name="Ομάδα 30" descr="Μικρός κύκλος με τον αριθμό 3 που υποδεικνύει το βήμα 3"/>
          <p:cNvGrpSpPr/>
          <p:nvPr/>
        </p:nvGrpSpPr>
        <p:grpSpPr bwMode="blackWhite">
          <a:xfrm>
            <a:off x="557319" y="4263506"/>
            <a:ext cx="558179" cy="409838"/>
            <a:chOff x="6953426" y="711274"/>
            <a:chExt cx="558179" cy="409838"/>
          </a:xfrm>
        </p:grpSpPr>
        <p:sp>
          <p:nvSpPr>
            <p:cNvPr id="32" name="Έλλειψη 31"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3" name="Πλαίσιο κειμένου 32" descr="Αριθμός 3"/>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34" name="Θέση περιεχομένου 17"/>
          <p:cNvSpPr txBox="1">
            <a:spLocks/>
          </p:cNvSpPr>
          <p:nvPr/>
        </p:nvSpPr>
        <p:spPr>
          <a:xfrm>
            <a:off x="1064636" y="4303697"/>
            <a:ext cx="2075302" cy="144608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defTabSz="512763"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ένα εφέ κίνησης, όπως </a:t>
            </a:r>
            <a:r>
              <a:rPr lang="el-GR" dirty="0">
                <a:solidFill>
                  <a:srgbClr val="D24726"/>
                </a:solidFill>
                <a:latin typeface="Segoe UI Semibold" panose="020B0702040204020203" pitchFamily="34" charset="0"/>
                <a:cs typeface="Segoe UI Semibold" panose="020B0702040204020203" pitchFamily="34" charset="0"/>
              </a:rPr>
              <a:t>Ζουμ</a:t>
            </a:r>
            <a:r>
              <a:rPr lang="el-GR" dirty="0">
                <a:solidFill>
                  <a:prstClr val="black">
                    <a:lumMod val="75000"/>
                    <a:lumOff val="25000"/>
                  </a:prstClr>
                </a:solidFill>
                <a:latin typeface="Segoe UI" panose="020B0502040204020203" pitchFamily="34" charset="0"/>
                <a:cs typeface="Segoe UI" panose="020B0502040204020203" pitchFamily="34" charset="0"/>
              </a:rPr>
              <a:t> και παρακολουθήστε </a:t>
            </a:r>
            <a:br>
              <a:rPr lang="el-GR" dirty="0">
                <a:solidFill>
                  <a:prstClr val="black">
                    <a:lumMod val="75000"/>
                    <a:lumOff val="25000"/>
                  </a:prstClr>
                </a:solidFill>
                <a:latin typeface="Segoe UI" panose="020B0502040204020203" pitchFamily="34" charset="0"/>
                <a:cs typeface="Segoe UI" panose="020B0502040204020203" pitchFamily="34" charset="0"/>
              </a:rPr>
            </a:br>
            <a:r>
              <a:rPr lang="el-GR" dirty="0">
                <a:solidFill>
                  <a:prstClr val="black">
                    <a:lumMod val="75000"/>
                    <a:lumOff val="25000"/>
                  </a:prstClr>
                </a:solidFill>
                <a:latin typeface="Segoe UI" panose="020B0502040204020203" pitchFamily="34" charset="0"/>
                <a:cs typeface="Segoe UI" panose="020B0502040204020203" pitchFamily="34" charset="0"/>
              </a:rPr>
              <a:t>τι θα συμβεί.</a:t>
            </a:r>
          </a:p>
        </p:txBody>
      </p:sp>
      <p:pic>
        <p:nvPicPr>
          <p:cNvPr id="7" name="Εικόνα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105483" y="4069080"/>
            <a:ext cx="3803903" cy="2438400"/>
          </a:xfrm>
          <a:prstGeom prst="rect">
            <a:avLst/>
          </a:prstGeom>
        </p:spPr>
      </p:pic>
    </p:spTree>
    <p:extLst>
      <p:ext uri="{BB962C8B-B14F-4D97-AF65-F5344CB8AC3E}">
        <p14:creationId xmlns:p14="http://schemas.microsoft.com/office/powerpoint/2010/main" val="7276681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Τίτλος 7"/>
          <p:cNvSpPr>
            <a:spLocks noGrp="1"/>
          </p:cNvSpPr>
          <p:nvPr>
            <p:ph type="title"/>
          </p:nvPr>
        </p:nvSpPr>
        <p:spPr>
          <a:xfrm>
            <a:off x="521207" y="448056"/>
            <a:ext cx="8150845" cy="640080"/>
          </a:xfrm>
        </p:spPr>
        <p:txBody>
          <a:bodyPr rtlCol="0">
            <a:normAutofit/>
          </a:bodyPr>
          <a:lstStyle/>
          <a:p>
            <a:pPr rtl="0"/>
            <a:r>
              <a:rPr lang="el-GR" dirty="0">
                <a:latin typeface="Segoe UI Light" panose="020B0502040204020203" pitchFamily="34" charset="0"/>
                <a:cs typeface="Segoe UI Light" panose="020B0502040204020203" pitchFamily="34" charset="0"/>
              </a:rPr>
              <a:t>Εξερεύνηση χωρίς κλείσιμο των διαφανειών</a:t>
            </a:r>
          </a:p>
        </p:txBody>
      </p:sp>
      <p:sp>
        <p:nvSpPr>
          <p:cNvPr id="16" name="Θέση περιεχομένου 17"/>
          <p:cNvSpPr txBox="1">
            <a:spLocks/>
          </p:cNvSpPr>
          <p:nvPr/>
        </p:nvSpPr>
        <p:spPr>
          <a:xfrm>
            <a:off x="541609" y="1296100"/>
            <a:ext cx="6093106" cy="1236475"/>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latin typeface="Segoe UI" panose="020B0502040204020203" pitchFamily="34" charset="0"/>
                <a:cs typeface="Segoe UI" panose="020B0502040204020203" pitchFamily="34" charset="0"/>
              </a:rPr>
              <a:t>Η Έξυπνη αναζήτηση φέρνει την έρευνα απευθείας στο PowerPoint.</a:t>
            </a:r>
            <a:br>
              <a:rPr lang="el-GR" dirty="0">
                <a:latin typeface="Segoe UI" panose="020B0502040204020203" pitchFamily="34" charset="0"/>
                <a:cs typeface="Segoe UI" panose="020B0502040204020203" pitchFamily="34" charset="0"/>
              </a:rPr>
            </a:br>
            <a:br>
              <a:rPr lang="el-GR" dirty="0">
                <a:latin typeface="Segoe UI" panose="020B0502040204020203" pitchFamily="34" charset="0"/>
                <a:cs typeface="Segoe UI" panose="020B0502040204020203" pitchFamily="34" charset="0"/>
              </a:rPr>
            </a:br>
            <a:r>
              <a:rPr lang="el-GR" dirty="0">
                <a:latin typeface="Segoe UI" panose="020B0502040204020203" pitchFamily="34" charset="0"/>
                <a:cs typeface="Segoe UI" panose="020B0502040204020203" pitchFamily="34" charset="0"/>
              </a:rPr>
              <a:t>Δοκιμάστε το</a:t>
            </a:r>
            <a:r>
              <a:rPr lang="en-US" dirty="0">
                <a:latin typeface="Segoe UI" panose="020B0502040204020203" pitchFamily="34" charset="0"/>
                <a:cs typeface="Segoe UI" panose="020B0502040204020203" pitchFamily="34" charset="0"/>
              </a:rPr>
              <a:t> </a:t>
            </a:r>
            <a:r>
              <a:rPr lang="el-GR" dirty="0"/>
              <a:t>(παράδειγμα στα Αγγλικά)</a:t>
            </a:r>
            <a:r>
              <a:rPr lang="el-GR" dirty="0">
                <a:latin typeface="Segoe UI" panose="020B0502040204020203" pitchFamily="34" charset="0"/>
                <a:cs typeface="Segoe UI" panose="020B0502040204020203" pitchFamily="34" charset="0"/>
              </a:rPr>
              <a:t>:</a:t>
            </a:r>
          </a:p>
        </p:txBody>
      </p:sp>
      <p:pic>
        <p:nvPicPr>
          <p:cNvPr id="18" name="Εικόνα 1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4408" y="2146704"/>
            <a:ext cx="11129521" cy="3193794"/>
          </a:xfrm>
          <a:prstGeom prst="rect">
            <a:avLst/>
          </a:prstGeom>
        </p:spPr>
      </p:pic>
      <p:grpSp>
        <p:nvGrpSpPr>
          <p:cNvPr id="33" name="Ομάδα 32" descr="Μικρός κύκλος με τον αριθμό 1 που υποδεικνύει το βήμα 1"/>
          <p:cNvGrpSpPr/>
          <p:nvPr/>
        </p:nvGrpSpPr>
        <p:grpSpPr bwMode="blackWhite">
          <a:xfrm>
            <a:off x="558723" y="5233381"/>
            <a:ext cx="558179" cy="409838"/>
            <a:chOff x="6953426" y="711274"/>
            <a:chExt cx="558179" cy="409838"/>
          </a:xfrm>
        </p:grpSpPr>
        <p:sp>
          <p:nvSpPr>
            <p:cNvPr id="34" name="Έλλειψη 3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5" name="Πλαίσιο κειμένου 34" descr="Αριθμός 1"/>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42" name="Θέση περιεχομένου 17"/>
          <p:cNvSpPr txBox="1">
            <a:spLocks/>
          </p:cNvSpPr>
          <p:nvPr/>
        </p:nvSpPr>
        <p:spPr>
          <a:xfrm>
            <a:off x="1066038" y="5273573"/>
            <a:ext cx="2919669" cy="129839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Κάντε δεξί κλικ στη λέξη </a:t>
            </a:r>
            <a:r>
              <a:rPr lang="en-US" i="1" dirty="0">
                <a:solidFill>
                  <a:srgbClr val="D24726"/>
                </a:solidFill>
                <a:latin typeface="Segoe UI" panose="020B0502040204020203" pitchFamily="34" charset="0"/>
                <a:cs typeface="Segoe UI" panose="020B0502040204020203" pitchFamily="34" charset="0"/>
              </a:rPr>
              <a:t>office</a:t>
            </a:r>
            <a:r>
              <a:rPr lang="el-GR" i="1" dirty="0">
                <a:solidFill>
                  <a:srgbClr val="D24726"/>
                </a:solidFill>
                <a:latin typeface="Segoe UI" panose="020B0502040204020203" pitchFamily="34" charset="0"/>
                <a:cs typeface="Segoe UI" panose="020B0502040204020203" pitchFamily="34" charset="0"/>
              </a:rPr>
              <a:t> </a:t>
            </a:r>
            <a:r>
              <a:rPr lang="el-GR" dirty="0">
                <a:solidFill>
                  <a:prstClr val="black">
                    <a:lumMod val="75000"/>
                    <a:lumOff val="25000"/>
                  </a:prstClr>
                </a:solidFill>
                <a:latin typeface="Segoe UI" panose="020B0502040204020203" pitchFamily="34" charset="0"/>
                <a:cs typeface="Segoe UI" panose="020B0502040204020203" pitchFamily="34" charset="0"/>
              </a:rPr>
              <a:t>στην ακόλουθη φράση: </a:t>
            </a:r>
            <a:r>
              <a:rPr lang="en-US" sz="1800" dirty="0">
                <a:solidFill>
                  <a:prstClr val="black">
                    <a:lumMod val="75000"/>
                    <a:lumOff val="25000"/>
                  </a:prstClr>
                </a:solidFill>
                <a:latin typeface="Segoe UI" panose="020B0502040204020203" pitchFamily="34" charset="0"/>
                <a:cs typeface="Segoe UI" panose="020B0502040204020203" pitchFamily="34" charset="0"/>
              </a:rPr>
              <a:t>office furniture</a:t>
            </a:r>
            <a:endParaRPr lang="el-GR" sz="1800" dirty="0">
              <a:solidFill>
                <a:prstClr val="black">
                  <a:lumMod val="75000"/>
                  <a:lumOff val="25000"/>
                </a:prstClr>
              </a:solidFill>
              <a:latin typeface="Segoe UI" panose="020B0502040204020203" pitchFamily="34" charset="0"/>
              <a:cs typeface="Segoe UI" panose="020B0502040204020203" pitchFamily="34" charset="0"/>
            </a:endParaRPr>
          </a:p>
        </p:txBody>
      </p:sp>
      <p:grpSp>
        <p:nvGrpSpPr>
          <p:cNvPr id="36" name="Ομάδα 35" descr="Μικρός κύκλος με τον αριθμό 2 που υποδεικνύει το βήμα 2"/>
          <p:cNvGrpSpPr/>
          <p:nvPr/>
        </p:nvGrpSpPr>
        <p:grpSpPr bwMode="blackWhite">
          <a:xfrm>
            <a:off x="4249102" y="5233381"/>
            <a:ext cx="558179" cy="409838"/>
            <a:chOff x="6953426" y="711274"/>
            <a:chExt cx="558179" cy="409838"/>
          </a:xfrm>
        </p:grpSpPr>
        <p:sp>
          <p:nvSpPr>
            <p:cNvPr id="37" name="Έλλειψη 3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8" name="Πλαίσιο κειμένου 37" descr="Αριθμός 2"/>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43" name="Θέση περιεχομένου 17"/>
          <p:cNvSpPr txBox="1">
            <a:spLocks/>
          </p:cNvSpPr>
          <p:nvPr/>
        </p:nvSpPr>
        <p:spPr>
          <a:xfrm>
            <a:off x="4747855" y="5273573"/>
            <a:ext cx="3106367" cy="1324053"/>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a:t>
            </a:r>
            <a:r>
              <a:rPr lang="el-GR" dirty="0">
                <a:solidFill>
                  <a:srgbClr val="D24726"/>
                </a:solidFill>
                <a:latin typeface="Segoe UI Semibold" panose="020B0702040204020203" pitchFamily="34" charset="0"/>
                <a:cs typeface="Segoe UI Semibold" panose="020B0702040204020203" pitchFamily="34" charset="0"/>
              </a:rPr>
              <a:t>Έξυπνη</a:t>
            </a:r>
            <a:r>
              <a:rPr lang="el-GR" dirty="0">
                <a:solidFill>
                  <a:prstClr val="black">
                    <a:lumMod val="75000"/>
                    <a:lumOff val="25000"/>
                  </a:prstClr>
                </a:solidFill>
                <a:cs typeface="Segoe UI"/>
              </a:rPr>
              <a:t> </a:t>
            </a:r>
            <a:r>
              <a:rPr lang="el-GR" dirty="0">
                <a:solidFill>
                  <a:srgbClr val="D24726"/>
                </a:solidFill>
                <a:latin typeface="Segoe UI Semibold" panose="020B0702040204020203" pitchFamily="34" charset="0"/>
                <a:cs typeface="Segoe UI Semibold" panose="020B0702040204020203" pitchFamily="34" charset="0"/>
              </a:rPr>
              <a:t>αναζήτηση</a:t>
            </a:r>
            <a:r>
              <a:rPr lang="el-GR" dirty="0">
                <a:latin typeface="Segoe UI" panose="020B0502040204020203" pitchFamily="34" charset="0"/>
                <a:cs typeface="Segoe UI" panose="020B0502040204020203" pitchFamily="34" charset="0"/>
              </a:rPr>
              <a:t> και παρατηρήστε ότι τα αποτελέσματα είναι συναφή με αυτή τη φράση, όχι με τις </a:t>
            </a:r>
            <a:r>
              <a:rPr lang="el-GR" sz="1800" dirty="0">
                <a:latin typeface="Segoe UI" panose="020B0502040204020203" pitchFamily="34" charset="0"/>
                <a:cs typeface="Segoe UI" panose="020B0502040204020203" pitchFamily="34" charset="0"/>
              </a:rPr>
              <a:t>Εφαρμογές του Microsoft Office</a:t>
            </a:r>
            <a:r>
              <a:rPr lang="el-GR" dirty="0">
                <a:latin typeface="Segoe UI" panose="020B0502040204020203" pitchFamily="34" charset="0"/>
                <a:cs typeface="Segoe UI" panose="020B0502040204020203" pitchFamily="34" charset="0"/>
              </a:rPr>
              <a:t>.</a:t>
            </a:r>
            <a:endParaRPr lang="el-GR" dirty="0">
              <a:solidFill>
                <a:srgbClr val="D24726"/>
              </a:solidFill>
              <a:latin typeface="Segoe UI" panose="020B0502040204020203" pitchFamily="34" charset="0"/>
              <a:cs typeface="Segoe UI" panose="020B0502040204020203" pitchFamily="34" charset="0"/>
            </a:endParaRPr>
          </a:p>
        </p:txBody>
      </p:sp>
      <p:grpSp>
        <p:nvGrpSpPr>
          <p:cNvPr id="39" name="Ομάδα 38" descr="Μικρός κύκλος με τον αριθμό 3 που υποδεικνύει το βήμα 3"/>
          <p:cNvGrpSpPr/>
          <p:nvPr/>
        </p:nvGrpSpPr>
        <p:grpSpPr bwMode="blackWhite">
          <a:xfrm>
            <a:off x="7930921" y="5233381"/>
            <a:ext cx="558179" cy="409838"/>
            <a:chOff x="6953426" y="711274"/>
            <a:chExt cx="558179" cy="409838"/>
          </a:xfrm>
        </p:grpSpPr>
        <p:sp>
          <p:nvSpPr>
            <p:cNvPr id="40" name="Έλλειψη 3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41" name="Πλαίσιο κειμένου 40" descr="Αριθμός 3"/>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44" name="Θέση περιεχομένου 17"/>
          <p:cNvSpPr txBox="1">
            <a:spLocks/>
          </p:cNvSpPr>
          <p:nvPr/>
        </p:nvSpPr>
        <p:spPr>
          <a:xfrm>
            <a:off x="8429668" y="5273573"/>
            <a:ext cx="3107336" cy="1341886"/>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rtl="0">
              <a:spcAft>
                <a:spcPts val="2000"/>
              </a:spcAft>
              <a:buNone/>
            </a:pPr>
            <a:r>
              <a:rPr lang="el-GR" dirty="0">
                <a:latin typeface="Segoe UI" panose="020B0502040204020203" pitchFamily="34" charset="0"/>
                <a:cs typeface="Segoe UI" panose="020B0502040204020203" pitchFamily="34" charset="0"/>
              </a:rPr>
              <a:t>Απλώς για διασκέδαση, δοκιμάστε ξανά την Έξυπνη αναζήτηση κάνοντας δεξί κλικ στη λέξη </a:t>
            </a:r>
            <a:r>
              <a:rPr lang="el-GR" i="1" dirty="0">
                <a:solidFill>
                  <a:srgbClr val="D24726"/>
                </a:solidFill>
                <a:latin typeface="Segoe UI" panose="020B0502040204020203" pitchFamily="34" charset="0"/>
                <a:cs typeface="Segoe UI" panose="020B0502040204020203" pitchFamily="34" charset="0"/>
              </a:rPr>
              <a:t>Office</a:t>
            </a:r>
            <a:r>
              <a:rPr lang="el-GR" dirty="0"/>
              <a:t> </a:t>
            </a:r>
            <a:r>
              <a:rPr lang="el-GR" dirty="0">
                <a:latin typeface="Segoe UI" panose="020B0502040204020203" pitchFamily="34" charset="0"/>
                <a:cs typeface="Segoe UI" panose="020B0502040204020203" pitchFamily="34" charset="0"/>
              </a:rPr>
              <a:t>στο βήμα 2.</a:t>
            </a:r>
          </a:p>
          <a:p>
            <a:pPr marL="0" indent="0" rtl="0">
              <a:spcAft>
                <a:spcPts val="2000"/>
              </a:spcAft>
              <a:buNone/>
            </a:pPr>
            <a:endParaRPr lang="el-GR" dirty="0">
              <a:solidFill>
                <a:prstClr val="black">
                  <a:lumMod val="75000"/>
                  <a:lumOff val="25000"/>
                </a:prstClr>
              </a:solidFill>
            </a:endParaRPr>
          </a:p>
        </p:txBody>
      </p:sp>
    </p:spTree>
    <p:extLst>
      <p:ext uri="{BB962C8B-B14F-4D97-AF65-F5344CB8AC3E}">
        <p14:creationId xmlns:p14="http://schemas.microsoft.com/office/powerpoint/2010/main" val="17693260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Τίτλος 9"/>
          <p:cNvSpPr>
            <a:spLocks noGrp="1"/>
          </p:cNvSpPr>
          <p:nvPr>
            <p:ph type="title"/>
          </p:nvPr>
        </p:nvSpPr>
        <p:spPr>
          <a:xfrm>
            <a:off x="521208" y="968473"/>
            <a:ext cx="6876288" cy="1207799"/>
          </a:xfrm>
        </p:spPr>
        <p:txBody>
          <a:bodyPr rtlCol="0">
            <a:normAutofit/>
          </a:bodyPr>
          <a:lstStyle/>
          <a:p>
            <a:pPr rtl="0"/>
            <a:r>
              <a:rPr lang="el-GR" dirty="0">
                <a:latin typeface="Segoe UI Light" panose="020B0502040204020203" pitchFamily="34" charset="0"/>
                <a:cs typeface="Segoe UI Light" panose="020B0502040204020203" pitchFamily="34" charset="0"/>
              </a:rPr>
              <a:t>Έχετε περισσότερες ερωτήσεις σχετικά με το PowerPoint;</a:t>
            </a:r>
          </a:p>
        </p:txBody>
      </p:sp>
      <p:sp>
        <p:nvSpPr>
          <p:cNvPr id="5" name="Θέση περιεχομένου 4"/>
          <p:cNvSpPr>
            <a:spLocks noGrp="1"/>
          </p:cNvSpPr>
          <p:nvPr>
            <p:ph sz="half" idx="4294967295"/>
          </p:nvPr>
        </p:nvSpPr>
        <p:spPr>
          <a:xfrm>
            <a:off x="541611" y="2614427"/>
            <a:ext cx="11168608" cy="3978275"/>
          </a:xfrm>
        </p:spPr>
        <p:txBody>
          <a:bodyPr rtlCol="0">
            <a:normAutofit/>
          </a:bodyPr>
          <a:lstStyle/>
          <a:p>
            <a:pPr marL="0" indent="0" rtl="0">
              <a:lnSpc>
                <a:spcPts val="3600"/>
              </a:lnSpc>
              <a:spcAft>
                <a:spcPts val="0"/>
              </a:spcAft>
              <a:buNone/>
            </a:pPr>
            <a:r>
              <a:rPr lang="el-GR" sz="2000" dirty="0">
                <a:latin typeface="Segoe UI Light" panose="020B0502040204020203" pitchFamily="34" charset="0"/>
                <a:cs typeface="Segoe UI Light" panose="020B0502040204020203" pitchFamily="34" charset="0"/>
              </a:rPr>
              <a:t>Επιλέξτε το κουμπί </a:t>
            </a:r>
            <a:r>
              <a:rPr lang="el-GR" sz="2000" dirty="0">
                <a:solidFill>
                  <a:srgbClr val="D24726"/>
                </a:solidFill>
                <a:latin typeface="Segoe UI Semibold" panose="020B0702040204020203" pitchFamily="34" charset="0"/>
                <a:cs typeface="Segoe UI Semibold" panose="020B0702040204020203" pitchFamily="34" charset="0"/>
              </a:rPr>
              <a:t>Πείτε μου                   </a:t>
            </a:r>
            <a:r>
              <a:rPr lang="el-GR" sz="2000" dirty="0">
                <a:latin typeface="Segoe UI Light" panose="020B0502040204020203" pitchFamily="34" charset="0"/>
                <a:cs typeface="Segoe UI Light" panose="020B0502040204020203" pitchFamily="34" charset="0"/>
              </a:rPr>
              <a:t>και πληκτρολογήστε αυτό που θέλετε να μάθετε.</a:t>
            </a:r>
            <a:br>
              <a:rPr lang="el-GR" sz="2000" dirty="0">
                <a:latin typeface="Segoe UI Light" panose="020B0502040204020203" pitchFamily="34" charset="0"/>
                <a:cs typeface="Segoe UI Light" panose="020B0502040204020203" pitchFamily="34" charset="0"/>
              </a:rPr>
            </a:br>
            <a:endParaRPr lang="el-GR" sz="2000" dirty="0">
              <a:latin typeface="Segoe UI Light" panose="020B0502040204020203" pitchFamily="34" charset="0"/>
              <a:cs typeface="Segoe UI Light" panose="020B0502040204020203" pitchFamily="34" charset="0"/>
            </a:endParaRPr>
          </a:p>
          <a:p>
            <a:pPr>
              <a:lnSpc>
                <a:spcPts val="3600"/>
              </a:lnSpc>
              <a:spcAft>
                <a:spcPts val="0"/>
              </a:spcAft>
            </a:pPr>
            <a:r>
              <a:rPr lang="el-GR" sz="1800" dirty="0">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Επισκεφθείτε το </a:t>
            </a:r>
            <a:r>
              <a:rPr lang="el-GR" sz="1800" dirty="0" err="1">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ιστολόγιο</a:t>
            </a:r>
            <a:r>
              <a:rPr lang="el-GR" sz="1800" dirty="0">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 της ομάδας του PowerPoint (μόνο στα Αγγλικά)</a:t>
            </a:r>
            <a:endParaRPr lang="el-GR" sz="18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r>
              <a:rPr lang="el-GR" sz="1800" dirty="0">
                <a:latin typeface="Segoe UI Light" panose="020B0502040204020203" pitchFamily="34" charset="0"/>
                <a:cs typeface="Segoe UI Light" panose="020B0502040204020203" pitchFamily="34" charset="0"/>
                <a:hlinkClick r:id="rId4" tooltip="Μεταβείτε στη δωρεάν εκπαίδευση για το PowerPoint"/>
              </a:rPr>
              <a:t>Μεταβείτε στη δωρεάν εκπαίδευση για το PowerPoint</a:t>
            </a:r>
            <a:endParaRPr lang="el-GR" sz="18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endParaRPr lang="el-GR" sz="20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endParaRPr lang="el-GR" sz="2000" dirty="0">
              <a:latin typeface="Segoe UI Light" panose="020B0502040204020203" pitchFamily="34" charset="0"/>
              <a:cs typeface="Segoe UI Light" panose="020B0502040204020203" pitchFamily="34" charset="0"/>
            </a:endParaRPr>
          </a:p>
        </p:txBody>
      </p:sp>
      <p:pic>
        <p:nvPicPr>
          <p:cNvPr id="2" name="Εικόνα 1" descr="Κουμπί &quot;Πείτε μου&quot;"/>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010162" y="2350333"/>
            <a:ext cx="1269672" cy="1189747"/>
          </a:xfrm>
          <a:prstGeom prst="rect">
            <a:avLst/>
          </a:prstGeom>
        </p:spPr>
      </p:pic>
      <p:pic>
        <p:nvPicPr>
          <p:cNvPr id="11" name="Εικόνα 1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74146" y="3070697"/>
            <a:ext cx="2476156" cy="1707303"/>
          </a:xfrm>
          <a:prstGeom prst="rect">
            <a:avLst/>
          </a:prstGeom>
        </p:spPr>
      </p:pic>
      <p:sp>
        <p:nvSpPr>
          <p:cNvPr id="9" name="Πλαίσιο κειμένου 8"/>
          <p:cNvSpPr txBox="1"/>
          <p:nvPr/>
        </p:nvSpPr>
        <p:spPr>
          <a:xfrm>
            <a:off x="541611" y="5210842"/>
            <a:ext cx="6855885" cy="307777"/>
          </a:xfrm>
          <a:prstGeom prst="rect">
            <a:avLst/>
          </a:prstGeom>
          <a:noFill/>
        </p:spPr>
        <p:txBody>
          <a:bodyPr wrap="square" rtlCol="0">
            <a:spAutoFit/>
          </a:bodyPr>
          <a:lstStyle/>
          <a:p>
            <a:pPr algn="l" rtl="0"/>
            <a:r>
              <a:rPr lang="el-GR" sz="1400" dirty="0">
                <a:latin typeface="Segoe UI Light" panose="020B0502040204020203" pitchFamily="34" charset="0"/>
                <a:cs typeface="Segoe UI Light" panose="020B0502040204020203" pitchFamily="34" charset="0"/>
              </a:rPr>
              <a:t>ΕΠΙΛΕΞΤΕ ΤΟ ΒΕΛΟΣ ΟΤΑΝ ΒΡΙΣΚΕΣΤΕ ΣΕ ΛΕΙΤΟΥΡΓΙΑ ΠΡΟΒΟΛΗΣ ΠΑΡΟΥΣΙΑΣΗΣ</a:t>
            </a:r>
          </a:p>
        </p:txBody>
      </p:sp>
      <p:pic>
        <p:nvPicPr>
          <p:cNvPr id="7" name="Εικόνα 6" descr="Βέλος που δείχνει προς τα δεξιά και περιέχει μια υπερ-σύνδεση η οποία οδηγεί στη δωρεάν εκπαίδευση για το PowerPoint. Επιλέξτε την εικόνα, για να αποκτήσετε πρόσβαση στη δωρεάν εκπαίδευση για το PowerPoint">
            <a:hlinkClick r:id="rId4" tooltip="Επιλέξτε την εικόνα, για να αποκτήσετε πρόσβαση στη δωρεάν εκπαίδευση για το PowerPoin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098648" y="4272594"/>
            <a:ext cx="661940" cy="661940"/>
          </a:xfrm>
          <a:prstGeom prst="rect">
            <a:avLst/>
          </a:prstGeom>
        </p:spPr>
      </p:pic>
      <p:pic>
        <p:nvPicPr>
          <p:cNvPr id="12" name="Εικόνα 11" descr="Βέλος που δείχνει προς τα δεξιά με μια υπερ-σύνδεση για την παροχή σχολίων σχετικά με αυτήν την περιήγηση. Επιλέξτε την εικόνα, για να στείλετε σχόλια σχετικά με αυτήν την περιήγηση">
            <a:hlinkClick r:id="rId3" tooltip="Επιλέξτε εδώ, για να επισκεφθείτε το ιστολόγιο ομάδας του PowerPoint."/>
            <a:extLst>
              <a:ext uri="{FF2B5EF4-FFF2-40B4-BE49-F238E27FC236}">
                <a16:creationId xmlns:a16="http://schemas.microsoft.com/office/drawing/2014/main" id="{BA92070A-4E3D-4794-84A9-83B8DDF3A12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145496" y="3642100"/>
            <a:ext cx="661940" cy="661940"/>
          </a:xfrm>
          <a:prstGeom prst="rect">
            <a:avLst/>
          </a:prstGeom>
        </p:spPr>
      </p:pic>
    </p:spTree>
    <p:extLst>
      <p:ext uri="{BB962C8B-B14F-4D97-AF65-F5344CB8AC3E}">
        <p14:creationId xmlns:p14="http://schemas.microsoft.com/office/powerpoint/2010/main" val="89302588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15684342_TF10001108" id="{DBFF3AF7-5888-433F-AD38-299F70BCE26A}" vid="{65FC6890-4B6D-44B3-978B-79AC4729D2FE}"/>
    </a:ext>
  </a:extLst>
</a:theme>
</file>

<file path=ppt/theme/theme2.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Καλώς ορίσατε στο PowerPoint</Template>
  <TotalTime>954</TotalTime>
  <Words>1002</Words>
  <Application>Microsoft Office PowerPoint</Application>
  <PresentationFormat>Widescreen</PresentationFormat>
  <Paragraphs>119</Paragraphs>
  <Slides>12</Slides>
  <Notes>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Calibri</vt:lpstr>
      <vt:lpstr>Segoe UI</vt:lpstr>
      <vt:lpstr>Segoe UI Light</vt:lpstr>
      <vt:lpstr>Segoe UI Semibold</vt:lpstr>
      <vt:lpstr>Wingdings</vt:lpstr>
      <vt:lpstr>WelcomeDoc</vt:lpstr>
      <vt:lpstr>Μηχανική Μάθηση και Αθλητισμός</vt:lpstr>
      <vt:lpstr>Η ορολογία «Machine Learning»</vt:lpstr>
      <vt:lpstr>Εφαρμογή Αισθητήρα “MetawearC” στο Ποδόσφαιρο.</vt:lpstr>
      <vt:lpstr>Αποτελέσματα</vt:lpstr>
      <vt:lpstr>Πρόβλεψη ποδοσφαιρικού αποτελέσματος με τη χρήση Μηχανικής Μάθησης (1)</vt:lpstr>
      <vt:lpstr>Πρόβλεψη ποδοσφαιρικού αποτελέσματος με τη χρήση Μηχανικής Μάθησης –Γενικά χαρακτηριστικά της εφαρμογής</vt:lpstr>
      <vt:lpstr>Πρόβλεψη ποδοσφαιρικού αποτελέσματος με τη χρήση Μηχανικής Μάθησης – Ανάλυση αποτελεσμάτων</vt:lpstr>
      <vt:lpstr>Ρύθμιση της Μεταμόρφωσης</vt:lpstr>
      <vt:lpstr>Συνεργασία σε πραγματικό χρόνο</vt:lpstr>
      <vt:lpstr>Αποκτήστε την εμπειρία των ειδικών με το πλαίσιο "Πείτε μου"</vt:lpstr>
      <vt:lpstr>Εξερεύνηση χωρίς κλείσιμο των διαφανειών</vt:lpstr>
      <vt:lpstr>Έχετε περισσότερες ερωτήσεις σχετικά με το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Μηχανική Μάθηση και Αθλητισμός</dc:title>
  <dc:creator>dell</dc:creator>
  <cp:keywords/>
  <cp:lastModifiedBy>Nikos Bampis</cp:lastModifiedBy>
  <cp:revision>38</cp:revision>
  <dcterms:created xsi:type="dcterms:W3CDTF">2018-12-01T09:08:18Z</dcterms:created>
  <dcterms:modified xsi:type="dcterms:W3CDTF">2018-12-05T22:49:24Z</dcterms:modified>
  <cp:version/>
</cp:coreProperties>
</file>