
<file path=[Content_Types].xml><?xml version="1.0" encoding="utf-8"?>
<Types xmlns="http://schemas.openxmlformats.org/package/2006/content-types">
  <Default Extension="emf" ContentType="image/x-emf"/>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56" r:id="rId2"/>
    <p:sldId id="271" r:id="rId3"/>
    <p:sldId id="279" r:id="rId4"/>
    <p:sldId id="284" r:id="rId5"/>
    <p:sldId id="283" r:id="rId6"/>
    <p:sldId id="281" r:id="rId7"/>
    <p:sldId id="280" r:id="rId8"/>
    <p:sldId id="257" r:id="rId9"/>
    <p:sldId id="275" r:id="rId10"/>
    <p:sldId id="276" r:id="rId11"/>
    <p:sldId id="282" r:id="rId12"/>
  </p:sldIdLst>
  <p:sldSz cx="12192000" cy="6858000"/>
  <p:notesSz cx="6858000" cy="9144000"/>
  <p:defaultTextStyle>
    <a:defPPr rtl="0">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Καλώς ορίσατε" id="{E75E278A-FF0E-49A4-B170-79828D63BBAD}">
          <p14:sldIdLst>
            <p14:sldId id="256"/>
          </p14:sldIdLst>
        </p14:section>
        <p14:section name="Σχεδίαση, Μεταμόρφωση, Σχολιασμός, Συνεργασία, Πείτε μου" id="{B9B51309-D148-4332-87C2-07BE32FBCA3B}">
          <p14:sldIdLst>
            <p14:sldId id="271"/>
            <p14:sldId id="279"/>
            <p14:sldId id="284"/>
            <p14:sldId id="283"/>
            <p14:sldId id="281"/>
            <p14:sldId id="280"/>
            <p14:sldId id="257"/>
            <p14:sldId id="275"/>
            <p14:sldId id="276"/>
          </p14:sldIdLst>
        </p14:section>
        <p14:section name="Μάθετε περισσότερα" id="{2CC34DB2-6590-42C0-AD4B-A04C6060184E}">
          <p14:sldIdLst>
            <p14:sldId id="28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dell" initials="d" lastIdx="1" clrIdx="2">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87" autoAdjust="0"/>
    <p:restoredTop sz="94214" autoAdjust="0"/>
  </p:normalViewPr>
  <p:slideViewPr>
    <p:cSldViewPr snapToGrid="0">
      <p:cViewPr varScale="1">
        <p:scale>
          <a:sx n="107" d="100"/>
          <a:sy n="107" d="100"/>
        </p:scale>
        <p:origin x="108" y="2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2826"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dirty="0"/>
          </a:p>
        </p:txBody>
      </p:sp>
      <p:sp>
        <p:nvSpPr>
          <p:cNvPr id="3" name="Θέση ημερομηνίας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60A3599D-F7E3-4649-B859-D4940257D38C}" type="datetime1">
              <a:rPr lang="el-GR" smtClean="0"/>
              <a:t>2/12/2018</a:t>
            </a:fld>
            <a:endParaRPr lang="el-GR" dirty="0"/>
          </a:p>
        </p:txBody>
      </p:sp>
      <p:sp>
        <p:nvSpPr>
          <p:cNvPr id="4" name="Θέση υποσέλιδου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dirty="0"/>
          </a:p>
        </p:txBody>
      </p:sp>
      <p:sp>
        <p:nvSpPr>
          <p:cNvPr id="5" name="Θέση αριθμού διαφάνειας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679768-A2FC-4D08-91F6-8DCE6C566B36}" type="slidenum">
              <a:rPr lang="el-GR" smtClean="0"/>
              <a:t>‹#›</a:t>
            </a:fld>
            <a:endParaRPr lang="el-GR"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noProof="0" dirty="0"/>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3D094AE-4861-4AAD-8067-7B835847F302}" type="datetime1">
              <a:rPr lang="el-GR" noProof="0" smtClean="0"/>
              <a:t>2/12/2018</a:t>
            </a:fld>
            <a:endParaRPr lang="el-GR" noProof="0" dirty="0"/>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l-GR" noProof="0" dirty="0"/>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l-GR" noProof="0" dirty="0"/>
              <a:t>Στυλ υποδείγματος κειμένου</a:t>
            </a:r>
          </a:p>
          <a:p>
            <a:pPr lvl="1" rtl="0"/>
            <a:r>
              <a:rPr lang="el-GR" noProof="0" dirty="0"/>
              <a:t>Δεύτερου επιπέδου</a:t>
            </a:r>
          </a:p>
          <a:p>
            <a:pPr lvl="2" rtl="0"/>
            <a:r>
              <a:rPr lang="el-GR" noProof="0" dirty="0"/>
              <a:t>Τρίτου επιπέδου</a:t>
            </a:r>
          </a:p>
          <a:p>
            <a:pPr lvl="3" rtl="0"/>
            <a:r>
              <a:rPr lang="el-GR" noProof="0" dirty="0"/>
              <a:t>Τέταρτου επιπέδου</a:t>
            </a:r>
          </a:p>
          <a:p>
            <a:pPr lvl="4" rtl="0"/>
            <a:r>
              <a:rPr lang="el-GR" noProof="0" dirty="0"/>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noProof="0" dirty="0"/>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F61EA0F-A667-4B49-8422-0062BC55E249}" type="slidenum">
              <a:rPr lang="el-GR" noProof="0" smtClean="0"/>
              <a:t>‹#›</a:t>
            </a:fld>
            <a:endParaRPr lang="el-GR" noProof="0"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685800" y="1143000"/>
            <a:ext cx="5486400" cy="3086100"/>
          </a:xfrm>
        </p:spPr>
      </p:sp>
      <p:sp>
        <p:nvSpPr>
          <p:cNvPr id="3" name="Θέση σημειώσεων 2"/>
          <p:cNvSpPr>
            <a:spLocks noGrp="1"/>
          </p:cNvSpPr>
          <p:nvPr>
            <p:ph type="body" idx="1"/>
          </p:nvPr>
        </p:nvSpPr>
        <p:spPr/>
        <p:txBody>
          <a:bodyPr rtlCol="0"/>
          <a:lstStyle/>
          <a:p>
            <a:pPr rtl="0"/>
            <a:endParaRPr lang="el-GR" dirty="0"/>
          </a:p>
        </p:txBody>
      </p:sp>
      <p:sp>
        <p:nvSpPr>
          <p:cNvPr id="4" name="Θέση αριθμού διαφάνειας 3"/>
          <p:cNvSpPr>
            <a:spLocks noGrp="1"/>
          </p:cNvSpPr>
          <p:nvPr>
            <p:ph type="sldNum" sz="quarter" idx="10"/>
          </p:nvPr>
        </p:nvSpPr>
        <p:spPr/>
        <p:txBody>
          <a:bodyPr rtlCol="0"/>
          <a:lstStyle/>
          <a:p>
            <a:pPr rtl="0"/>
            <a:fld id="{DF61EA0F-A667-4B49-8422-0062BC55E249}" type="slidenum">
              <a:rPr lang="el-GR" smtClean="0"/>
              <a:t>1</a:t>
            </a:fld>
            <a:endParaRPr lang="el-GR"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2</a:t>
            </a:fld>
            <a:endParaRPr lang="el-GR" dirty="0"/>
          </a:p>
        </p:txBody>
      </p:sp>
    </p:spTree>
    <p:extLst>
      <p:ext uri="{BB962C8B-B14F-4D97-AF65-F5344CB8AC3E}">
        <p14:creationId xmlns:p14="http://schemas.microsoft.com/office/powerpoint/2010/main" val="497755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3</a:t>
            </a:fld>
            <a:endParaRPr lang="el-GR" dirty="0"/>
          </a:p>
        </p:txBody>
      </p:sp>
    </p:spTree>
    <p:extLst>
      <p:ext uri="{BB962C8B-B14F-4D97-AF65-F5344CB8AC3E}">
        <p14:creationId xmlns:p14="http://schemas.microsoft.com/office/powerpoint/2010/main" val="1873392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6</a:t>
            </a:fld>
            <a:endParaRPr lang="el-GR" dirty="0"/>
          </a:p>
        </p:txBody>
      </p:sp>
    </p:spTree>
    <p:extLst>
      <p:ext uri="{BB962C8B-B14F-4D97-AF65-F5344CB8AC3E}">
        <p14:creationId xmlns:p14="http://schemas.microsoft.com/office/powerpoint/2010/main" val="521594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7</a:t>
            </a:fld>
            <a:endParaRPr lang="el-GR" dirty="0"/>
          </a:p>
        </p:txBody>
      </p:sp>
    </p:spTree>
    <p:extLst>
      <p:ext uri="{BB962C8B-B14F-4D97-AF65-F5344CB8AC3E}">
        <p14:creationId xmlns:p14="http://schemas.microsoft.com/office/powerpoint/2010/main" val="2973883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8</a:t>
            </a:fld>
            <a:endParaRPr lang="el-GR" dirty="0"/>
          </a:p>
        </p:txBody>
      </p:sp>
    </p:spTree>
    <p:extLst>
      <p:ext uri="{BB962C8B-B14F-4D97-AF65-F5344CB8AC3E}">
        <p14:creationId xmlns:p14="http://schemas.microsoft.com/office/powerpoint/2010/main" val="2421314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9</a:t>
            </a:fld>
            <a:endParaRPr lang="el-GR" dirty="0"/>
          </a:p>
        </p:txBody>
      </p:sp>
    </p:spTree>
    <p:extLst>
      <p:ext uri="{BB962C8B-B14F-4D97-AF65-F5344CB8AC3E}">
        <p14:creationId xmlns:p14="http://schemas.microsoft.com/office/powerpoint/2010/main" val="882959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DF61EA0F-A667-4B49-8422-0062BC55E249}" type="slidenum">
              <a:rPr lang="el-GR" smtClean="0"/>
              <a:t>10</a:t>
            </a:fld>
            <a:endParaRPr lang="el-GR" dirty="0"/>
          </a:p>
        </p:txBody>
      </p:sp>
    </p:spTree>
    <p:extLst>
      <p:ext uri="{BB962C8B-B14F-4D97-AF65-F5344CB8AC3E}">
        <p14:creationId xmlns:p14="http://schemas.microsoft.com/office/powerpoint/2010/main" val="507994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a:xfrm>
            <a:off x="685800" y="1143000"/>
            <a:ext cx="5486400" cy="3086100"/>
          </a:xfrm>
        </p:spPr>
      </p:sp>
      <p:sp>
        <p:nvSpPr>
          <p:cNvPr id="3" name="Θέση σημειώσεων 2"/>
          <p:cNvSpPr>
            <a:spLocks noGrp="1"/>
          </p:cNvSpPr>
          <p:nvPr>
            <p:ph type="body" idx="1"/>
          </p:nvPr>
        </p:nvSpPr>
        <p:spPr/>
        <p:txBody>
          <a:bodyPr rtlCol="0"/>
          <a:lstStyle/>
          <a:p>
            <a:pPr rtl="0"/>
            <a:r>
              <a:rPr lang="el-GR" dirty="0"/>
              <a:t>Σε λειτουργία προβολής παρουσίασης, επιλέξτε τα βέλη για να επισκεφθείτε συνδέσεις.</a:t>
            </a:r>
          </a:p>
        </p:txBody>
      </p:sp>
      <p:sp>
        <p:nvSpPr>
          <p:cNvPr id="4" name="Θέση αριθμού διαφάνειας 3"/>
          <p:cNvSpPr>
            <a:spLocks noGrp="1"/>
          </p:cNvSpPr>
          <p:nvPr>
            <p:ph type="sldNum" sz="quarter" idx="10"/>
          </p:nvPr>
        </p:nvSpPr>
        <p:spPr/>
        <p:txBody>
          <a:bodyPr rtlCol="0"/>
          <a:lstStyle/>
          <a:p>
            <a:pPr rtl="0"/>
            <a:fld id="{DF61EA0F-A667-4B49-8422-0062BC55E249}" type="slidenum">
              <a:rPr lang="el-GR" smtClean="0"/>
              <a:t>11</a:t>
            </a:fld>
            <a:endParaRPr lang="el-GR" dirty="0"/>
          </a:p>
        </p:txBody>
      </p:sp>
    </p:spTree>
    <p:extLst>
      <p:ext uri="{BB962C8B-B14F-4D97-AF65-F5344CB8AC3E}">
        <p14:creationId xmlns:p14="http://schemas.microsoft.com/office/powerpoint/2010/main" val="3421780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Διαφάνεια τίτλου">
    <p:spTree>
      <p:nvGrpSpPr>
        <p:cNvPr id="1" name=""/>
        <p:cNvGrpSpPr/>
        <p:nvPr/>
      </p:nvGrpSpPr>
      <p:grpSpPr>
        <a:xfrm>
          <a:off x="0" y="0"/>
          <a:ext cx="0" cy="0"/>
          <a:chOff x="0" y="0"/>
          <a:chExt cx="0" cy="0"/>
        </a:xfrm>
      </p:grpSpPr>
      <p:sp>
        <p:nvSpPr>
          <p:cNvPr id="7" name="Ορθογώνιο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sz="1800" noProof="0" dirty="0"/>
          </a:p>
        </p:txBody>
      </p:sp>
      <p:sp>
        <p:nvSpPr>
          <p:cNvPr id="2" name="Τίτλος 1"/>
          <p:cNvSpPr>
            <a:spLocks noGrp="1"/>
          </p:cNvSpPr>
          <p:nvPr>
            <p:ph type="title"/>
          </p:nvPr>
        </p:nvSpPr>
        <p:spPr/>
        <p:txBody>
          <a:bodyPr rtlCol="0"/>
          <a:lstStyle/>
          <a:p>
            <a:pPr rtl="0"/>
            <a:r>
              <a:rPr lang="el-GR" noProof="0"/>
              <a:t>Κάντε κλικ για να επεξεργαστείτε τον τίτλο υποδείγματος</a:t>
            </a:r>
            <a:endParaRPr lang="el-GR" noProof="0"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Τίτλος και περιεχόμενο">
    <p:spTree>
      <p:nvGrpSpPr>
        <p:cNvPr id="1" name=""/>
        <p:cNvGrpSpPr/>
        <p:nvPr/>
      </p:nvGrpSpPr>
      <p:grpSpPr>
        <a:xfrm>
          <a:off x="0" y="0"/>
          <a:ext cx="0" cy="0"/>
          <a:chOff x="0" y="0"/>
          <a:chExt cx="0" cy="0"/>
        </a:xfrm>
      </p:grpSpPr>
      <p:sp>
        <p:nvSpPr>
          <p:cNvPr id="9" name="Ορθογώνιο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el-GR" sz="1800" noProof="0" dirty="0"/>
          </a:p>
        </p:txBody>
      </p:sp>
      <p:cxnSp>
        <p:nvCxnSpPr>
          <p:cNvPr id="12" name="Ευθεία γραμμή σύνδεσης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Τίτλος 3"/>
          <p:cNvSpPr>
            <a:spLocks noGrp="1"/>
          </p:cNvSpPr>
          <p:nvPr>
            <p:ph type="title"/>
          </p:nvPr>
        </p:nvSpPr>
        <p:spPr>
          <a:xfrm>
            <a:off x="521207" y="448056"/>
            <a:ext cx="10068135" cy="640080"/>
          </a:xfrm>
        </p:spPr>
        <p:txBody>
          <a:bodyPr rtlCol="0" anchor="b" anchorCtr="0">
            <a:normAutofit/>
          </a:bodyPr>
          <a:lstStyle>
            <a:lvl1pPr>
              <a:defRPr sz="2800">
                <a:solidFill>
                  <a:schemeClr val="bg2">
                    <a:lumMod val="25000"/>
                  </a:schemeClr>
                </a:solidFill>
              </a:defRPr>
            </a:lvl1pPr>
          </a:lstStyle>
          <a:p>
            <a:pPr rtl="0"/>
            <a:r>
              <a:rPr lang="el-GR" noProof="0"/>
              <a:t>Κάντε κλικ για να επεξεργαστείτε τον τίτλο υποδείγματος</a:t>
            </a:r>
            <a:endParaRPr lang="el-GR" noProof="0" dirty="0"/>
          </a:p>
        </p:txBody>
      </p:sp>
      <p:sp>
        <p:nvSpPr>
          <p:cNvPr id="3" name="Θέση περιεχομένου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l-GR" noProof="0"/>
              <a:t>Επεξεργασία στυλ υποδείγματος κειμένου</a:t>
            </a:r>
          </a:p>
          <a:p>
            <a:pPr marL="0" lvl="1" indent="0" rtl="0">
              <a:lnSpc>
                <a:spcPct val="150000"/>
              </a:lnSpc>
              <a:spcBef>
                <a:spcPts val="1000"/>
              </a:spcBef>
              <a:spcAft>
                <a:spcPts val="1200"/>
              </a:spcAft>
              <a:buNone/>
            </a:pPr>
            <a:r>
              <a:rPr lang="el-GR" noProof="0"/>
              <a:t>Δεύτερου επιπέδου</a:t>
            </a:r>
          </a:p>
          <a:p>
            <a:pPr marL="0" lvl="2" indent="0" rtl="0">
              <a:lnSpc>
                <a:spcPct val="150000"/>
              </a:lnSpc>
              <a:spcBef>
                <a:spcPts val="1000"/>
              </a:spcBef>
              <a:spcAft>
                <a:spcPts val="1200"/>
              </a:spcAft>
              <a:buNone/>
            </a:pPr>
            <a:r>
              <a:rPr lang="el-GR" noProof="0"/>
              <a:t>Τρίτου επιπέδου</a:t>
            </a:r>
          </a:p>
          <a:p>
            <a:pPr marL="0" lvl="3" indent="0" rtl="0">
              <a:lnSpc>
                <a:spcPct val="150000"/>
              </a:lnSpc>
              <a:spcBef>
                <a:spcPts val="1000"/>
              </a:spcBef>
              <a:spcAft>
                <a:spcPts val="1200"/>
              </a:spcAft>
              <a:buNone/>
            </a:pPr>
            <a:r>
              <a:rPr lang="el-GR" noProof="0"/>
              <a:t>Τέταρτου επιπέδου</a:t>
            </a:r>
          </a:p>
          <a:p>
            <a:pPr marL="0" lvl="4" indent="0" rtl="0">
              <a:lnSpc>
                <a:spcPct val="150000"/>
              </a:lnSpc>
              <a:spcBef>
                <a:spcPts val="1000"/>
              </a:spcBef>
              <a:spcAft>
                <a:spcPts val="1200"/>
              </a:spcAft>
              <a:buNone/>
            </a:pPr>
            <a:r>
              <a:rPr lang="el-GR" noProof="0"/>
              <a:t>Πέμπτου επιπέδου</a:t>
            </a:r>
            <a:endParaRPr lang="el-GR" noProof="0" dirty="0"/>
          </a:p>
        </p:txBody>
      </p:sp>
      <p:sp>
        <p:nvSpPr>
          <p:cNvPr id="6" name="Θέση ημερομηνίας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pPr rtl="0"/>
            <a:fld id="{368E473F-9E20-4236-857A-0F18234A7730}" type="datetime1">
              <a:rPr lang="el-GR" noProof="0" smtClean="0"/>
              <a:t>2/12/2018</a:t>
            </a:fld>
            <a:endParaRPr lang="el-GR" noProof="0" dirty="0"/>
          </a:p>
        </p:txBody>
      </p:sp>
      <p:sp>
        <p:nvSpPr>
          <p:cNvPr id="7" name="Θέση υποσέλιδου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pPr rtl="0"/>
            <a:endParaRPr lang="el-GR" noProof="0" dirty="0"/>
          </a:p>
        </p:txBody>
      </p:sp>
      <p:sp>
        <p:nvSpPr>
          <p:cNvPr id="8" name="Θέση αριθμού διαφάνειας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pPr rtl="0"/>
            <a:fld id="{9860EDB8-5305-433F-BE41-D7A86D811DB3}" type="slidenum">
              <a:rPr lang="el-GR" noProof="0" smtClean="0"/>
              <a:pPr/>
              <a:t>‹#›</a:t>
            </a:fld>
            <a:endParaRPr lang="el-GR" noProof="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Κεφαλίδα ενότητας">
    <p:spTree>
      <p:nvGrpSpPr>
        <p:cNvPr id="1" name=""/>
        <p:cNvGrpSpPr/>
        <p:nvPr/>
      </p:nvGrpSpPr>
      <p:grpSpPr>
        <a:xfrm>
          <a:off x="0" y="0"/>
          <a:ext cx="0" cy="0"/>
          <a:chOff x="0" y="0"/>
          <a:chExt cx="0" cy="0"/>
        </a:xfrm>
      </p:grpSpPr>
      <p:sp>
        <p:nvSpPr>
          <p:cNvPr id="9" name="Ορθογώνιο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sz="1800" noProof="0" dirty="0"/>
          </a:p>
        </p:txBody>
      </p:sp>
      <p:sp>
        <p:nvSpPr>
          <p:cNvPr id="10" name="Ορθογώνιο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sz="1800" noProof="0" dirty="0"/>
          </a:p>
        </p:txBody>
      </p:sp>
      <p:sp>
        <p:nvSpPr>
          <p:cNvPr id="2" name="Τίτλος 1"/>
          <p:cNvSpPr>
            <a:spLocks noGrp="1"/>
          </p:cNvSpPr>
          <p:nvPr>
            <p:ph type="title"/>
          </p:nvPr>
        </p:nvSpPr>
        <p:spPr>
          <a:xfrm>
            <a:off x="521208" y="884902"/>
            <a:ext cx="6876288" cy="1291369"/>
          </a:xfrm>
        </p:spPr>
        <p:txBody>
          <a:bodyPr rtlCol="0">
            <a:normAutofit/>
          </a:bodyPr>
          <a:lstStyle>
            <a:lvl1pPr>
              <a:defRPr sz="3600">
                <a:solidFill>
                  <a:schemeClr val="bg1"/>
                </a:solidFill>
              </a:defRPr>
            </a:lvl1pPr>
          </a:lstStyle>
          <a:p>
            <a:pPr rtl="0"/>
            <a:r>
              <a:rPr lang="el-GR" noProof="0"/>
              <a:t>Κάντε κλικ για να επεξεργαστείτε τον τίτλο υποδείγματος</a:t>
            </a:r>
            <a:endParaRPr lang="el-GR" noProof="0" dirty="0"/>
          </a:p>
        </p:txBody>
      </p:sp>
      <p:sp>
        <p:nvSpPr>
          <p:cNvPr id="7" name="Θέση περιεχομένου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rtl="0">
              <a:lnSpc>
                <a:spcPct val="150000"/>
              </a:lnSpc>
              <a:spcBef>
                <a:spcPts val="1000"/>
              </a:spcBef>
              <a:spcAft>
                <a:spcPts val="1200"/>
              </a:spcAft>
              <a:buNone/>
            </a:pPr>
            <a:r>
              <a:rPr lang="el-GR" noProof="0"/>
              <a:t>Επεξεργασία στυλ υποδείγματος κειμένου</a:t>
            </a:r>
          </a:p>
          <a:p>
            <a:pPr marL="0" lvl="1" indent="0" rtl="0">
              <a:lnSpc>
                <a:spcPct val="150000"/>
              </a:lnSpc>
              <a:spcBef>
                <a:spcPts val="1000"/>
              </a:spcBef>
              <a:spcAft>
                <a:spcPts val="1200"/>
              </a:spcAft>
              <a:buNone/>
            </a:pPr>
            <a:r>
              <a:rPr lang="el-GR" noProof="0"/>
              <a:t>Δεύτερου επιπέδου</a:t>
            </a:r>
          </a:p>
          <a:p>
            <a:pPr marL="0" lvl="2" indent="0" rtl="0">
              <a:lnSpc>
                <a:spcPct val="150000"/>
              </a:lnSpc>
              <a:spcBef>
                <a:spcPts val="1000"/>
              </a:spcBef>
              <a:spcAft>
                <a:spcPts val="1200"/>
              </a:spcAft>
              <a:buNone/>
            </a:pPr>
            <a:r>
              <a:rPr lang="el-GR" noProof="0"/>
              <a:t>Τρίτου επιπέδου</a:t>
            </a:r>
          </a:p>
          <a:p>
            <a:pPr marL="0" lvl="3" indent="0" rtl="0">
              <a:lnSpc>
                <a:spcPct val="150000"/>
              </a:lnSpc>
              <a:spcBef>
                <a:spcPts val="1000"/>
              </a:spcBef>
              <a:spcAft>
                <a:spcPts val="1200"/>
              </a:spcAft>
              <a:buNone/>
            </a:pPr>
            <a:r>
              <a:rPr lang="el-GR" noProof="0"/>
              <a:t>Τέταρτου επιπέδου</a:t>
            </a:r>
          </a:p>
          <a:p>
            <a:pPr marL="0" lvl="4" indent="0" rtl="0">
              <a:lnSpc>
                <a:spcPct val="150000"/>
              </a:lnSpc>
              <a:spcBef>
                <a:spcPts val="1000"/>
              </a:spcBef>
              <a:spcAft>
                <a:spcPts val="1200"/>
              </a:spcAft>
              <a:buNone/>
            </a:pPr>
            <a:r>
              <a:rPr lang="el-GR" noProof="0"/>
              <a:t>Πέμπτου επιπέδου</a:t>
            </a:r>
            <a:endParaRPr lang="el-GR" noProof="0"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Ορθογώνιο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rtl="0"/>
            <a:endParaRPr lang="el-GR" sz="1800" dirty="0"/>
          </a:p>
        </p:txBody>
      </p:sp>
      <p:sp>
        <p:nvSpPr>
          <p:cNvPr id="2" name="Θέση τίτλου 1"/>
          <p:cNvSpPr>
            <a:spLocks noGrp="1"/>
          </p:cNvSpPr>
          <p:nvPr>
            <p:ph type="title"/>
          </p:nvPr>
        </p:nvSpPr>
        <p:spPr>
          <a:xfrm>
            <a:off x="521208" y="448056"/>
            <a:ext cx="10058302" cy="640080"/>
          </a:xfrm>
          <a:prstGeom prst="rect">
            <a:avLst/>
          </a:prstGeom>
        </p:spPr>
        <p:txBody>
          <a:bodyPr vert="horz" lIns="91440" tIns="45720" rIns="91440" bIns="45720" rtlCol="0" anchor="b" anchorCtr="0">
            <a:normAutofit/>
          </a:bodyPr>
          <a:lstStyle/>
          <a:p>
            <a:pPr rtl="0"/>
            <a:r>
              <a:rPr lang="el-GR" dirty="0"/>
              <a:t>Κάντε κλικ για να επεξεργαστείτε το Στυλ κύριου τίτλου</a:t>
            </a:r>
          </a:p>
        </p:txBody>
      </p:sp>
      <p:sp>
        <p:nvSpPr>
          <p:cNvPr id="3" name="Θέση κειμένου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rtl="0"/>
            <a:r>
              <a:rPr lang="el-GR" dirty="0"/>
              <a:t>Επεξεργασία στυλ υποδείγματος κειμένου</a:t>
            </a:r>
          </a:p>
          <a:p>
            <a:pPr marL="228600" lvl="0" indent="-228600" algn="l" defTabSz="914400" rtl="0" eaLnBrk="1" latinLnBrk="0" hangingPunct="1">
              <a:lnSpc>
                <a:spcPct val="90000"/>
              </a:lnSpc>
              <a:spcBef>
                <a:spcPct val="30000"/>
              </a:spcBef>
              <a:buFont typeface="Arial" panose="020B0604020202020204" pitchFamily="34" charset="0"/>
              <a:buChar char="•"/>
            </a:pPr>
            <a:r>
              <a:rPr lang="el-GR" dirty="0"/>
              <a:t>Δεύτερου επιπέδου</a:t>
            </a:r>
          </a:p>
          <a:p>
            <a:pPr marL="685800" lvl="1" indent="-228600" algn="l" defTabSz="914400" rtl="0" eaLnBrk="1" latinLnBrk="0" hangingPunct="1">
              <a:lnSpc>
                <a:spcPct val="90000"/>
              </a:lnSpc>
              <a:spcBef>
                <a:spcPct val="30000"/>
              </a:spcBef>
              <a:buFont typeface="Arial" panose="020B0604020202020204" pitchFamily="34" charset="0"/>
              <a:buChar char="•"/>
            </a:pPr>
            <a:r>
              <a:rPr lang="el-GR" dirty="0"/>
              <a:t>Τρίτου επιπέδου</a:t>
            </a:r>
          </a:p>
          <a:p>
            <a:pPr marL="1143000" lvl="2" indent="-228600" algn="l" defTabSz="914400" rtl="0" eaLnBrk="1" latinLnBrk="0" hangingPunct="1">
              <a:lnSpc>
                <a:spcPct val="90000"/>
              </a:lnSpc>
              <a:spcBef>
                <a:spcPct val="30000"/>
              </a:spcBef>
              <a:buFont typeface="Arial" panose="020B0604020202020204" pitchFamily="34" charset="0"/>
              <a:buChar char="•"/>
            </a:pPr>
            <a:r>
              <a:rPr lang="el-GR" dirty="0"/>
              <a:t>Τέταρτου επιπέδου</a:t>
            </a:r>
          </a:p>
          <a:p>
            <a:pPr marL="1600200" lvl="3" indent="-228600" algn="l" defTabSz="914400" rtl="0" eaLnBrk="1" latinLnBrk="0" hangingPunct="1">
              <a:lnSpc>
                <a:spcPct val="90000"/>
              </a:lnSpc>
              <a:spcBef>
                <a:spcPct val="30000"/>
              </a:spcBef>
              <a:buFont typeface="Arial" panose="020B0604020202020204" pitchFamily="34" charset="0"/>
              <a:buChar char="•"/>
            </a:pPr>
            <a:r>
              <a:rPr lang="el-GR" dirty="0"/>
              <a:t>Πέμπτου επιπέδου</a:t>
            </a:r>
          </a:p>
        </p:txBody>
      </p:sp>
      <p:sp>
        <p:nvSpPr>
          <p:cNvPr id="4" name="Θέση ημερομηνίας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pPr rtl="0"/>
            <a:fld id="{577B7329-A8D8-42EA-B94C-D5FD42F8F744}" type="datetime1">
              <a:rPr lang="el-GR" smtClean="0"/>
              <a:t>2/12/2018</a:t>
            </a:fld>
            <a:endParaRPr lang="el-GR" dirty="0"/>
          </a:p>
        </p:txBody>
      </p:sp>
      <p:sp>
        <p:nvSpPr>
          <p:cNvPr id="5" name="Θέση υποσέλιδου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pPr rtl="0"/>
            <a:endParaRPr lang="el-GR" dirty="0"/>
          </a:p>
        </p:txBody>
      </p:sp>
      <p:sp>
        <p:nvSpPr>
          <p:cNvPr id="6" name="Θέση αριθμού διαφάνειας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pPr rtl="0"/>
            <a:fld id="{9860EDB8-5305-433F-BE41-D7A86D811DB3}" type="slidenum">
              <a:rPr lang="el-GR" smtClean="0"/>
              <a:pPr/>
              <a:t>‹#›</a:t>
            </a:fld>
            <a:endParaRPr lang="el-GR" dirty="0"/>
          </a:p>
        </p:txBody>
      </p:sp>
      <p:cxnSp>
        <p:nvCxnSpPr>
          <p:cNvPr id="8" name="Ευθεία γραμμή σύνδεσης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bit.ly/2Q5DrN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mbientlab.com/product/metawearc"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go.microsoft.com/fwlink/?LinkId=617172" TargetMode="External"/><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https://support.office.com/el-gr/article/%ce%95%ce%ba%cf%80%ce%b1%ce%af%ce%b4%ce%b5%cf%85%cf%83%ce%b7-%cf%83%cf%84%ce%bf-PowerPoint-40e8c930-cb0b-40d8-82c4-bd53d3398787?omkt=el-GR&amp;ui=el-GR&amp;rs=el-GR&amp;ad=G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ctrTitle"/>
          </p:nvPr>
        </p:nvSpPr>
        <p:spPr>
          <a:xfrm>
            <a:off x="838200" y="1164324"/>
            <a:ext cx="10515600" cy="2387600"/>
          </a:xfrm>
        </p:spPr>
        <p:txBody>
          <a:bodyPr rtlCol="0" anchor="ctr" anchorCtr="0">
            <a:normAutofit/>
          </a:bodyPr>
          <a:lstStyle/>
          <a:p>
            <a:pPr rtl="0"/>
            <a:r>
              <a:rPr lang="el-GR" sz="4800" dirty="0">
                <a:solidFill>
                  <a:schemeClr val="bg1"/>
                </a:solidFill>
              </a:rPr>
              <a:t>Μηχανική Μάθηση και Αθλητισμός</a:t>
            </a:r>
          </a:p>
        </p:txBody>
      </p:sp>
      <p:sp>
        <p:nvSpPr>
          <p:cNvPr id="3" name="Υπότιτλος 2"/>
          <p:cNvSpPr>
            <a:spLocks noGrp="1"/>
          </p:cNvSpPr>
          <p:nvPr>
            <p:ph type="subTitle" idx="4294967295"/>
          </p:nvPr>
        </p:nvSpPr>
        <p:spPr>
          <a:xfrm>
            <a:off x="855620" y="2933105"/>
            <a:ext cx="9582736" cy="1137793"/>
          </a:xfrm>
        </p:spPr>
        <p:txBody>
          <a:bodyPr rtlCol="0">
            <a:normAutofit fontScale="85000" lnSpcReduction="20000"/>
          </a:bodyPr>
          <a:lstStyle/>
          <a:p>
            <a:pPr marL="0" indent="0" rtl="0">
              <a:buNone/>
            </a:pPr>
            <a:r>
              <a:rPr lang="el-GR" sz="2400" dirty="0">
                <a:solidFill>
                  <a:schemeClr val="bg1"/>
                </a:solidFill>
                <a:latin typeface="+mj-lt"/>
              </a:rPr>
              <a:t>Μαυροπούλου Κυριακή, ΑΕΜ 12</a:t>
            </a:r>
          </a:p>
          <a:p>
            <a:pPr marL="0" indent="0" rtl="0">
              <a:buNone/>
            </a:pPr>
            <a:r>
              <a:rPr lang="el-GR" sz="2400" dirty="0">
                <a:solidFill>
                  <a:schemeClr val="bg1"/>
                </a:solidFill>
                <a:latin typeface="+mj-lt"/>
              </a:rPr>
              <a:t>Μπάμπης Νικόλαος, ΑΕΜ 13</a:t>
            </a:r>
          </a:p>
        </p:txBody>
      </p:sp>
      <p:pic>
        <p:nvPicPr>
          <p:cNvPr id="6" name="Εικόνα 5">
            <a:extLst>
              <a:ext uri="{FF2B5EF4-FFF2-40B4-BE49-F238E27FC236}">
                <a16:creationId xmlns:a16="http://schemas.microsoft.com/office/drawing/2014/main" id="{5323E79F-2D72-413A-8A58-9C858F1944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09813" y="5485787"/>
            <a:ext cx="2545173" cy="1148254"/>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Τίτλος 7"/>
          <p:cNvSpPr>
            <a:spLocks noGrp="1"/>
          </p:cNvSpPr>
          <p:nvPr>
            <p:ph type="title"/>
          </p:nvPr>
        </p:nvSpPr>
        <p:spPr>
          <a:xfrm>
            <a:off x="521207" y="448056"/>
            <a:ext cx="10578915" cy="640080"/>
          </a:xfrm>
        </p:spPr>
        <p:txBody>
          <a:bodyPr rtlCol="0">
            <a:noAutofit/>
          </a:bodyPr>
          <a:lstStyle/>
          <a:p>
            <a:pPr rtl="0"/>
            <a:r>
              <a:rPr lang="el-GR" dirty="0">
                <a:latin typeface="Segoe UI Light" panose="020B0502040204020203" pitchFamily="34" charset="0"/>
                <a:cs typeface="Segoe UI Light" panose="020B0502040204020203" pitchFamily="34" charset="0"/>
              </a:rPr>
              <a:t>Η ορολογία «</a:t>
            </a:r>
            <a:r>
              <a:rPr lang="en-US" dirty="0">
                <a:latin typeface="Segoe UI Light" panose="020B0502040204020203" pitchFamily="34" charset="0"/>
                <a:cs typeface="Segoe UI Light" panose="020B0502040204020203" pitchFamily="34" charset="0"/>
              </a:rPr>
              <a:t>Machine Learning</a:t>
            </a:r>
            <a:r>
              <a:rPr lang="el-GR" dirty="0">
                <a:latin typeface="Segoe UI Light" panose="020B0502040204020203" pitchFamily="34" charset="0"/>
                <a:cs typeface="Segoe UI Light" panose="020B0502040204020203" pitchFamily="34" charset="0"/>
              </a:rPr>
              <a:t>»</a:t>
            </a:r>
          </a:p>
        </p:txBody>
      </p:sp>
      <p:sp>
        <p:nvSpPr>
          <p:cNvPr id="38" name="Θέση περιεχομένου 17"/>
          <p:cNvSpPr txBox="1">
            <a:spLocks/>
          </p:cNvSpPr>
          <p:nvPr/>
        </p:nvSpPr>
        <p:spPr>
          <a:xfrm>
            <a:off x="541610" y="1524708"/>
            <a:ext cx="4321704" cy="387151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l-GR" sz="1400" dirty="0">
                <a:latin typeface="Segoe UI" panose="020B0502040204020203" pitchFamily="34" charset="0"/>
                <a:cs typeface="Segoe UI" panose="020B0502040204020203" pitchFamily="34" charset="0"/>
              </a:rPr>
              <a:t>Η χρήση των δεδομένων στον αθλητισμό, έχει δει μεγάλη ανάπτυξη τα τελευταία χρόνια. Έτσι λοιπόν υπάρχει μεγάλη ανάγκη πλέον στην  διερεύνηση μελέτης και την κατασκευή αλγορίθμων που μπορούν να μαθαίνουν από τα δεδομένα αυτά. Τέτοιο αλγόριθμοι λειτουργούν, δημιουργώντας μοντέλα από δεδομένα, προκειμένου να κάνουν προβλέψεις ή να εξάγουν αποφάσεις που εκφράζονται ως το αποτέλεσμα.</a:t>
            </a:r>
          </a:p>
        </p:txBody>
      </p:sp>
      <p:pic>
        <p:nvPicPr>
          <p:cNvPr id="3" name="Εικόνα 2">
            <a:extLst>
              <a:ext uri="{FF2B5EF4-FFF2-40B4-BE49-F238E27FC236}">
                <a16:creationId xmlns:a16="http://schemas.microsoft.com/office/drawing/2014/main" id="{8FCAADA0-4330-41C5-A1F4-5AAC37BA0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0714" y="3209773"/>
            <a:ext cx="6479676" cy="2737891"/>
          </a:xfrm>
          <a:prstGeom prst="rect">
            <a:avLst/>
          </a:prstGeom>
        </p:spPr>
      </p:pic>
      <p:sp>
        <p:nvSpPr>
          <p:cNvPr id="7" name="Θέση περιεχομένου 17">
            <a:extLst>
              <a:ext uri="{FF2B5EF4-FFF2-40B4-BE49-F238E27FC236}">
                <a16:creationId xmlns:a16="http://schemas.microsoft.com/office/drawing/2014/main" id="{12156FDE-401E-4EAE-80DB-835E893FF230}"/>
              </a:ext>
            </a:extLst>
          </p:cNvPr>
          <p:cNvSpPr txBox="1">
            <a:spLocks/>
          </p:cNvSpPr>
          <p:nvPr/>
        </p:nvSpPr>
        <p:spPr>
          <a:xfrm>
            <a:off x="10920972" y="5947664"/>
            <a:ext cx="729418" cy="33745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400" dirty="0">
                <a:latin typeface="Segoe UI" panose="020B0502040204020203" pitchFamily="34" charset="0"/>
                <a:cs typeface="Segoe UI" panose="020B0502040204020203" pitchFamily="34" charset="0"/>
                <a:hlinkClick r:id="rId4"/>
              </a:rPr>
              <a:t>source</a:t>
            </a:r>
            <a:endParaRPr lang="el-GR"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Τίτλος 3"/>
          <p:cNvSpPr>
            <a:spLocks noGrp="1"/>
          </p:cNvSpPr>
          <p:nvPr>
            <p:ph type="title"/>
          </p:nvPr>
        </p:nvSpPr>
        <p:spPr>
          <a:xfrm>
            <a:off x="521207" y="448056"/>
            <a:ext cx="11090690" cy="640080"/>
          </a:xfrm>
        </p:spPr>
        <p:txBody>
          <a:bodyPr rtlCol="0">
            <a:normAutofit/>
          </a:bodyPr>
          <a:lstStyle/>
          <a:p>
            <a:r>
              <a:rPr lang="el-GR" dirty="0">
                <a:latin typeface="Segoe UI Light" panose="020B0502040204020203" pitchFamily="34" charset="0"/>
                <a:cs typeface="Segoe UI Light" panose="020B0502040204020203" pitchFamily="34" charset="0"/>
              </a:rPr>
              <a:t>Εφαρμογή Αισθητήρα </a:t>
            </a:r>
            <a:r>
              <a:rPr lang="en-US" dirty="0">
                <a:latin typeface="Segoe UI Light" panose="020B0502040204020203" pitchFamily="34" charset="0"/>
                <a:cs typeface="Segoe UI Light" panose="020B0502040204020203" pitchFamily="34" charset="0"/>
              </a:rPr>
              <a:t>“MetawearC” </a:t>
            </a:r>
            <a:r>
              <a:rPr lang="el-GR" dirty="0">
                <a:latin typeface="Segoe UI Light" panose="020B0502040204020203" pitchFamily="34" charset="0"/>
                <a:cs typeface="Segoe UI Light" panose="020B0502040204020203" pitchFamily="34" charset="0"/>
              </a:rPr>
              <a:t>στο Ποδόσφαιρο.</a:t>
            </a:r>
          </a:p>
        </p:txBody>
      </p:sp>
      <p:sp>
        <p:nvSpPr>
          <p:cNvPr id="25" name="Θέση περιεχομένου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sz="1600" dirty="0">
                <a:latin typeface="Segoe UI" panose="020B0502040204020203" pitchFamily="34" charset="0"/>
                <a:cs typeface="Segoe UI" panose="020B0502040204020203" pitchFamily="34" charset="0"/>
              </a:rPr>
              <a:t>Πώς λειτουργεί:</a:t>
            </a:r>
          </a:p>
        </p:txBody>
      </p:sp>
      <p:sp>
        <p:nvSpPr>
          <p:cNvPr id="21" name="Θέση περιεχομένου 17"/>
          <p:cNvSpPr txBox="1">
            <a:spLocks/>
          </p:cNvSpPr>
          <p:nvPr/>
        </p:nvSpPr>
        <p:spPr>
          <a:xfrm>
            <a:off x="844563" y="2058984"/>
            <a:ext cx="5878966" cy="4129664"/>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Επιλογή κατάλληλου αισθητήρα, με χαρακτηριστικά</a:t>
            </a:r>
            <a:r>
              <a:rPr lang="en-US" sz="1400" dirty="0">
                <a:solidFill>
                  <a:prstClr val="black">
                    <a:lumMod val="75000"/>
                    <a:lumOff val="25000"/>
                  </a:prstClr>
                </a:solidFill>
                <a:latin typeface="Segoe UI" panose="020B0502040204020203" pitchFamily="34" charset="0"/>
                <a:cs typeface="Segoe UI" panose="020B0502040204020203" pitchFamily="34" charset="0"/>
              </a:rPr>
              <a:t>:</a:t>
            </a:r>
            <a:br>
              <a:rPr lang="en-US" sz="1400" dirty="0">
                <a:solidFill>
                  <a:prstClr val="black">
                    <a:lumMod val="75000"/>
                    <a:lumOff val="25000"/>
                  </a:prstClr>
                </a:solidFill>
                <a:latin typeface="Segoe UI" panose="020B0502040204020203" pitchFamily="34" charset="0"/>
                <a:cs typeface="Segoe UI" panose="020B0502040204020203" pitchFamily="34" charset="0"/>
              </a:rPr>
            </a:br>
            <a:r>
              <a:rPr lang="el-GR" sz="1400" dirty="0">
                <a:solidFill>
                  <a:prstClr val="black">
                    <a:lumMod val="75000"/>
                    <a:lumOff val="25000"/>
                  </a:prstClr>
                </a:solidFill>
                <a:latin typeface="Segoe UI" panose="020B0502040204020203" pitchFamily="34" charset="0"/>
                <a:cs typeface="Segoe UI" panose="020B0502040204020203" pitchFamily="34" charset="0"/>
              </a:rPr>
              <a:t>επιταχυνσιόμετρο - γυροσκόπιο.</a:t>
            </a:r>
          </a:p>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Τοποθέτηση αισθητήρα σε ειδικό ποδοσφαιρικό παπούτσι αθλητή</a:t>
            </a:r>
            <a:r>
              <a:rPr lang="en-US" sz="1400" dirty="0">
                <a:solidFill>
                  <a:prstClr val="black">
                    <a:lumMod val="75000"/>
                    <a:lumOff val="25000"/>
                  </a:prstClr>
                </a:solidFill>
                <a:latin typeface="Segoe UI" panose="020B0502040204020203" pitchFamily="34" charset="0"/>
                <a:cs typeface="Segoe UI" panose="020B0502040204020203" pitchFamily="34" charset="0"/>
              </a:rPr>
              <a:t> </a:t>
            </a:r>
            <a:r>
              <a:rPr lang="el-GR" sz="1400" dirty="0">
                <a:solidFill>
                  <a:prstClr val="black">
                    <a:lumMod val="75000"/>
                    <a:lumOff val="25000"/>
                  </a:prstClr>
                </a:solidFill>
                <a:latin typeface="Segoe UI" panose="020B0502040204020203" pitchFamily="34" charset="0"/>
                <a:cs typeface="Segoe UI" panose="020B0502040204020203" pitchFamily="34" charset="0"/>
              </a:rPr>
              <a:t>και καταγραφή κίνησης.</a:t>
            </a:r>
          </a:p>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Αποστολή δεδομένων μέσω </a:t>
            </a:r>
            <a:r>
              <a:rPr lang="en-US" sz="1400" dirty="0">
                <a:solidFill>
                  <a:prstClr val="black">
                    <a:lumMod val="75000"/>
                    <a:lumOff val="25000"/>
                  </a:prstClr>
                </a:solidFill>
                <a:latin typeface="Segoe UI" panose="020B0502040204020203" pitchFamily="34" charset="0"/>
                <a:cs typeface="Segoe UI" panose="020B0502040204020203" pitchFamily="34" charset="0"/>
              </a:rPr>
              <a:t>cloud</a:t>
            </a:r>
            <a:r>
              <a:rPr lang="el-GR" sz="1400" dirty="0">
                <a:solidFill>
                  <a:prstClr val="black">
                    <a:lumMod val="75000"/>
                    <a:lumOff val="25000"/>
                  </a:prstClr>
                </a:solidFill>
                <a:latin typeface="Segoe UI" panose="020B0502040204020203" pitchFamily="34" charset="0"/>
                <a:cs typeface="Segoe UI" panose="020B0502040204020203" pitchFamily="34" charset="0"/>
              </a:rPr>
              <a:t> ή επιλογή </a:t>
            </a:r>
            <a:r>
              <a:rPr lang="en-US" sz="1400" dirty="0">
                <a:solidFill>
                  <a:prstClr val="black">
                    <a:lumMod val="75000"/>
                    <a:lumOff val="25000"/>
                  </a:prstClr>
                </a:solidFill>
                <a:latin typeface="Segoe UI" panose="020B0502040204020203" pitchFamily="34" charset="0"/>
                <a:cs typeface="Segoe UI" panose="020B0502040204020203" pitchFamily="34" charset="0"/>
              </a:rPr>
              <a:t>download</a:t>
            </a:r>
            <a:r>
              <a:rPr lang="el-GR" sz="1400" dirty="0">
                <a:solidFill>
                  <a:prstClr val="black">
                    <a:lumMod val="75000"/>
                    <a:lumOff val="25000"/>
                  </a:prstClr>
                </a:solidFill>
                <a:latin typeface="Segoe UI" panose="020B0502040204020203" pitchFamily="34" charset="0"/>
                <a:cs typeface="Segoe UI" panose="020B0502040204020203" pitchFamily="34" charset="0"/>
              </a:rPr>
              <a:t> σε μορφή </a:t>
            </a:r>
            <a:r>
              <a:rPr lang="en-US" sz="1400" dirty="0">
                <a:solidFill>
                  <a:prstClr val="black">
                    <a:lumMod val="75000"/>
                    <a:lumOff val="25000"/>
                  </a:prstClr>
                </a:solidFill>
                <a:latin typeface="Segoe UI" panose="020B0502040204020203" pitchFamily="34" charset="0"/>
                <a:cs typeface="Segoe UI" panose="020B0502040204020203" pitchFamily="34" charset="0"/>
              </a:rPr>
              <a:t>.csv </a:t>
            </a:r>
            <a:r>
              <a:rPr lang="el-GR" sz="1400" dirty="0">
                <a:solidFill>
                  <a:prstClr val="black">
                    <a:lumMod val="75000"/>
                    <a:lumOff val="25000"/>
                  </a:prstClr>
                </a:solidFill>
                <a:latin typeface="Segoe UI" panose="020B0502040204020203" pitchFamily="34" charset="0"/>
                <a:cs typeface="Segoe UI" panose="020B0502040204020203" pitchFamily="34" charset="0"/>
              </a:rPr>
              <a:t>αρχείου</a:t>
            </a:r>
            <a:r>
              <a:rPr lang="en-US" sz="1400" dirty="0">
                <a:solidFill>
                  <a:prstClr val="black">
                    <a:lumMod val="75000"/>
                    <a:lumOff val="25000"/>
                  </a:prstClr>
                </a:solidFill>
                <a:latin typeface="Segoe UI" panose="020B0502040204020203" pitchFamily="34" charset="0"/>
                <a:cs typeface="Segoe UI" panose="020B0502040204020203" pitchFamily="34" charset="0"/>
              </a:rPr>
              <a:t>.</a:t>
            </a: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Οπτικοποίηση δεδομένων και καθαρισμός αυτών.</a:t>
            </a:r>
          </a:p>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Επιλογή αλγορίθμου (</a:t>
            </a:r>
            <a:r>
              <a:rPr lang="en-US" sz="1400" dirty="0">
                <a:solidFill>
                  <a:prstClr val="black">
                    <a:lumMod val="75000"/>
                    <a:lumOff val="25000"/>
                  </a:prstClr>
                </a:solidFill>
                <a:latin typeface="Segoe UI" panose="020B0502040204020203" pitchFamily="34" charset="0"/>
                <a:cs typeface="Segoe UI" panose="020B0502040204020203" pitchFamily="34" charset="0"/>
              </a:rPr>
              <a:t>k-Nearest-Neighbor Classifier</a:t>
            </a:r>
            <a:r>
              <a:rPr lang="el-GR" sz="1400" dirty="0">
                <a:solidFill>
                  <a:prstClr val="black">
                    <a:lumMod val="75000"/>
                    <a:lumOff val="25000"/>
                  </a:prstClr>
                </a:solidFill>
                <a:latin typeface="Segoe UI" panose="020B0502040204020203" pitchFamily="34" charset="0"/>
                <a:cs typeface="Segoe UI" panose="020B0502040204020203" pitchFamily="34" charset="0"/>
              </a:rPr>
              <a:t>) για την ανάλυση των δεδομένων και εξαγωγή προβλέψεων.</a:t>
            </a:r>
          </a:p>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Διαχωρισμός δεδομένων σε </a:t>
            </a:r>
            <a:r>
              <a:rPr lang="en-US" sz="1400" dirty="0">
                <a:solidFill>
                  <a:prstClr val="black">
                    <a:lumMod val="75000"/>
                    <a:lumOff val="25000"/>
                  </a:prstClr>
                </a:solidFill>
                <a:latin typeface="Segoe UI" panose="020B0502040204020203" pitchFamily="34" charset="0"/>
                <a:cs typeface="Segoe UI" panose="020B0502040204020203" pitchFamily="34" charset="0"/>
              </a:rPr>
              <a:t>training set </a:t>
            </a:r>
            <a:r>
              <a:rPr lang="el-GR" sz="1400" dirty="0">
                <a:solidFill>
                  <a:prstClr val="black">
                    <a:lumMod val="75000"/>
                    <a:lumOff val="25000"/>
                  </a:prstClr>
                </a:solidFill>
                <a:latin typeface="Segoe UI" panose="020B0502040204020203" pitchFamily="34" charset="0"/>
                <a:cs typeface="Segoe UI" panose="020B0502040204020203" pitchFamily="34" charset="0"/>
              </a:rPr>
              <a:t>και </a:t>
            </a:r>
            <a:r>
              <a:rPr lang="en-US" sz="1400" dirty="0">
                <a:solidFill>
                  <a:prstClr val="black">
                    <a:lumMod val="75000"/>
                    <a:lumOff val="25000"/>
                  </a:prstClr>
                </a:solidFill>
                <a:latin typeface="Segoe UI" panose="020B0502040204020203" pitchFamily="34" charset="0"/>
                <a:cs typeface="Segoe UI" panose="020B0502040204020203" pitchFamily="34" charset="0"/>
              </a:rPr>
              <a:t>test set.</a:t>
            </a:r>
            <a:r>
              <a:rPr lang="el-GR" sz="1400" dirty="0">
                <a:solidFill>
                  <a:prstClr val="black">
                    <a:lumMod val="75000"/>
                    <a:lumOff val="25000"/>
                  </a:prstClr>
                </a:solidFill>
                <a:latin typeface="Segoe UI" panose="020B0502040204020203" pitchFamily="34" charset="0"/>
                <a:cs typeface="Segoe UI" panose="020B0502040204020203" pitchFamily="34" charset="0"/>
              </a:rPr>
              <a:t> </a:t>
            </a:r>
          </a:p>
          <a:p>
            <a:pPr>
              <a:spcAft>
                <a:spcPts val="600"/>
              </a:spcAft>
              <a:buFont typeface="Wingdings" panose="05000000000000000000" pitchFamily="2" charset="2"/>
              <a:buChar char="Ø"/>
              <a:defRPr/>
            </a:pPr>
            <a:r>
              <a:rPr lang="el-GR" sz="1400" dirty="0">
                <a:solidFill>
                  <a:prstClr val="black">
                    <a:lumMod val="75000"/>
                    <a:lumOff val="25000"/>
                  </a:prstClr>
                </a:solidFill>
                <a:latin typeface="Segoe UI" panose="020B0502040204020203" pitchFamily="34" charset="0"/>
                <a:cs typeface="Segoe UI" panose="020B0502040204020203" pitchFamily="34" charset="0"/>
              </a:rPr>
              <a:t>Πρόβλεψη για το αν υπάρχει επαφή με την μπάλα ή όχι. </a:t>
            </a:r>
          </a:p>
          <a:p>
            <a:pPr>
              <a:spcAft>
                <a:spcPts val="600"/>
              </a:spcAft>
              <a:buFont typeface="Wingdings" panose="05000000000000000000" pitchFamily="2" charset="2"/>
              <a:buChar char="Ø"/>
              <a:defRPr/>
            </a:pP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a:p>
            <a:pPr>
              <a:spcAft>
                <a:spcPts val="600"/>
              </a:spcAft>
              <a:buFont typeface="Wingdings" panose="05000000000000000000" pitchFamily="2" charset="2"/>
              <a:buChar char="Ø"/>
              <a:defRPr/>
            </a:pP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a:p>
            <a:pPr>
              <a:spcAft>
                <a:spcPts val="600"/>
              </a:spcAft>
              <a:buFont typeface="Wingdings" panose="05000000000000000000" pitchFamily="2" charset="2"/>
              <a:buChar char="Ø"/>
              <a:defRPr/>
            </a:pP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a:p>
            <a:pPr>
              <a:spcAft>
                <a:spcPts val="600"/>
              </a:spcAft>
              <a:buFont typeface="Wingdings" panose="05000000000000000000" pitchFamily="2" charset="2"/>
              <a:buChar char="Ø"/>
              <a:defRPr/>
            </a:pP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a:p>
            <a:pPr>
              <a:spcAft>
                <a:spcPts val="600"/>
              </a:spcAft>
              <a:buFont typeface="Wingdings" panose="05000000000000000000" pitchFamily="2" charset="2"/>
              <a:buChar char="Ø"/>
              <a:defRPr/>
            </a:pPr>
            <a:endParaRPr lang="el-GR" sz="1400" dirty="0">
              <a:solidFill>
                <a:prstClr val="black">
                  <a:lumMod val="75000"/>
                  <a:lumOff val="25000"/>
                </a:prstClr>
              </a:solidFill>
              <a:cs typeface="Segoe UI"/>
            </a:endParaRPr>
          </a:p>
          <a:p>
            <a:pPr>
              <a:spcAft>
                <a:spcPts val="600"/>
              </a:spcAft>
              <a:buFont typeface="Wingdings" panose="05000000000000000000" pitchFamily="2" charset="2"/>
              <a:buChar char="Ø"/>
              <a:defRPr/>
            </a:pP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a:p>
            <a:pPr>
              <a:spcAft>
                <a:spcPts val="600"/>
              </a:spcAft>
              <a:buFont typeface="Wingdings" panose="05000000000000000000" pitchFamily="2" charset="2"/>
              <a:buChar char="Ø"/>
              <a:defRPr/>
            </a:pPr>
            <a:endParaRPr lang="el-GR" sz="1400" dirty="0">
              <a:solidFill>
                <a:prstClr val="black">
                  <a:lumMod val="75000"/>
                  <a:lumOff val="25000"/>
                </a:prstClr>
              </a:solidFill>
              <a:cs typeface="Segoe UI"/>
            </a:endParaRPr>
          </a:p>
        </p:txBody>
      </p:sp>
      <p:sp>
        <p:nvSpPr>
          <p:cNvPr id="46" name="Θέση περιεχομένου 17">
            <a:extLst>
              <a:ext uri="{FF2B5EF4-FFF2-40B4-BE49-F238E27FC236}">
                <a16:creationId xmlns:a16="http://schemas.microsoft.com/office/drawing/2014/main" id="{0CABEA57-7AA8-485B-9F05-DBF59718FF4B}"/>
              </a:ext>
            </a:extLst>
          </p:cNvPr>
          <p:cNvSpPr txBox="1">
            <a:spLocks/>
          </p:cNvSpPr>
          <p:nvPr/>
        </p:nvSpPr>
        <p:spPr>
          <a:xfrm>
            <a:off x="847130" y="3994925"/>
            <a:ext cx="5158129" cy="56353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spcAft>
                <a:spcPts val="2000"/>
              </a:spcAft>
              <a:buFont typeface="Wingdings" panose="05000000000000000000" pitchFamily="2" charset="2"/>
              <a:buChar char="Ø"/>
              <a:defRPr/>
            </a:pPr>
            <a:endParaRPr lang="el-GR" sz="1400" dirty="0">
              <a:solidFill>
                <a:prstClr val="black">
                  <a:lumMod val="75000"/>
                  <a:lumOff val="25000"/>
                </a:prstClr>
              </a:solidFill>
              <a:latin typeface="Segoe UI" panose="020B0502040204020203" pitchFamily="34" charset="0"/>
              <a:cs typeface="Segoe UI" panose="020B0502040204020203" pitchFamily="34" charset="0"/>
            </a:endParaRPr>
          </a:p>
        </p:txBody>
      </p:sp>
      <p:pic>
        <p:nvPicPr>
          <p:cNvPr id="3" name="Εικόνα 2">
            <a:extLst>
              <a:ext uri="{FF2B5EF4-FFF2-40B4-BE49-F238E27FC236}">
                <a16:creationId xmlns:a16="http://schemas.microsoft.com/office/drawing/2014/main" id="{06DBD0A2-8165-43C1-9594-F0CF98B80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1258" y="1411693"/>
            <a:ext cx="3711906" cy="24876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Εικόνα 5">
            <a:extLst>
              <a:ext uri="{FF2B5EF4-FFF2-40B4-BE49-F238E27FC236}">
                <a16:creationId xmlns:a16="http://schemas.microsoft.com/office/drawing/2014/main" id="{F054A5A8-D269-4013-8822-B6DC123FC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6698" y="4635450"/>
            <a:ext cx="4467849" cy="17337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1" name="Θέση περιεχομένου 17">
            <a:extLst>
              <a:ext uri="{FF2B5EF4-FFF2-40B4-BE49-F238E27FC236}">
                <a16:creationId xmlns:a16="http://schemas.microsoft.com/office/drawing/2014/main" id="{F4410B6A-F3CC-481C-B565-48E91FD67D90}"/>
              </a:ext>
            </a:extLst>
          </p:cNvPr>
          <p:cNvSpPr txBox="1">
            <a:spLocks/>
          </p:cNvSpPr>
          <p:nvPr/>
        </p:nvSpPr>
        <p:spPr>
          <a:xfrm>
            <a:off x="7758971" y="3946778"/>
            <a:ext cx="3688494" cy="659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l-GR" dirty="0">
                <a:latin typeface="Segoe UI" panose="020B0502040204020203" pitchFamily="34" charset="0"/>
                <a:cs typeface="Segoe UI" panose="020B0502040204020203" pitchFamily="34" charset="0"/>
              </a:rPr>
              <a:t>Αισθητήρας </a:t>
            </a:r>
            <a:r>
              <a:rPr lang="en-US" dirty="0">
                <a:latin typeface="Segoe UI" panose="020B0502040204020203" pitchFamily="34" charset="0"/>
                <a:cs typeface="Segoe UI" panose="020B0502040204020203" pitchFamily="34" charset="0"/>
              </a:rPr>
              <a:t>MetawearC</a:t>
            </a:r>
            <a:r>
              <a:rPr lang="el-GR" dirty="0">
                <a:latin typeface="Segoe UI" panose="020B0502040204020203" pitchFamily="34" charset="0"/>
                <a:cs typeface="Segoe UI" panose="020B0502040204020203" pitchFamily="34" charset="0"/>
              </a:rPr>
              <a:t> της εταιρείας </a:t>
            </a:r>
            <a:r>
              <a:rPr lang="en-US" dirty="0">
                <a:latin typeface="Segoe UI" panose="020B0502040204020203" pitchFamily="34" charset="0"/>
                <a:cs typeface="Segoe UI" panose="020B0502040204020203" pitchFamily="34" charset="0"/>
              </a:rPr>
              <a:t>MbientLab</a:t>
            </a:r>
            <a:r>
              <a:rPr lang="el-GR" dirty="0">
                <a:latin typeface="Segoe UI" panose="020B0502040204020203" pitchFamily="34" charset="0"/>
                <a:cs typeface="Segoe UI" panose="020B0502040204020203" pitchFamily="34" charset="0"/>
              </a:rPr>
              <a:t>.</a:t>
            </a:r>
            <a:br>
              <a:rPr lang="el-GR"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hlinkClick r:id="rId5"/>
              </a:rPr>
              <a:t>https://mbientlab.com/product/metawearc </a:t>
            </a:r>
            <a:endParaRPr lang="el-GR" dirty="0">
              <a:latin typeface="Segoe UI" panose="020B0502040204020203" pitchFamily="34" charset="0"/>
              <a:cs typeface="Segoe UI" panose="020B0502040204020203" pitchFamily="34" charset="0"/>
            </a:endParaRPr>
          </a:p>
        </p:txBody>
      </p:sp>
      <p:sp>
        <p:nvSpPr>
          <p:cNvPr id="62" name="Θέση περιεχομένου 17">
            <a:extLst>
              <a:ext uri="{FF2B5EF4-FFF2-40B4-BE49-F238E27FC236}">
                <a16:creationId xmlns:a16="http://schemas.microsoft.com/office/drawing/2014/main" id="{8CFA6769-5F8F-47F8-9E9D-4CBCC41B93F0}"/>
              </a:ext>
            </a:extLst>
          </p:cNvPr>
          <p:cNvSpPr txBox="1">
            <a:spLocks/>
          </p:cNvSpPr>
          <p:nvPr/>
        </p:nvSpPr>
        <p:spPr>
          <a:xfrm>
            <a:off x="7333279" y="638685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latin typeface="Segoe UI" panose="020B0502040204020203" pitchFamily="34" charset="0"/>
                <a:cs typeface="Segoe UI" panose="020B0502040204020203" pitchFamily="34" charset="0"/>
              </a:rPr>
              <a:t>Δεδομένα που εξάγονται από τον αισθητήρα σε μορφή</a:t>
            </a:r>
            <a:r>
              <a:rPr lang="en-US" dirty="0">
                <a:latin typeface="Segoe UI" panose="020B0502040204020203" pitchFamily="34" charset="0"/>
                <a:cs typeface="Segoe UI" panose="020B0502040204020203" pitchFamily="34" charset="0"/>
              </a:rPr>
              <a:t> .csv</a:t>
            </a:r>
            <a:r>
              <a:rPr lang="el-GR" dirty="0">
                <a:latin typeface="Segoe UI" panose="020B0502040204020203" pitchFamily="34" charset="0"/>
                <a:cs typeface="Segoe UI" panose="020B0502040204020203" pitchFamily="34" charset="0"/>
              </a:rPr>
              <a:t> . </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E46F4-5A92-4E8E-BE0C-9212B75BC272}"/>
              </a:ext>
            </a:extLst>
          </p:cNvPr>
          <p:cNvSpPr>
            <a:spLocks noGrp="1"/>
          </p:cNvSpPr>
          <p:nvPr>
            <p:ph type="title"/>
          </p:nvPr>
        </p:nvSpPr>
        <p:spPr/>
        <p:txBody>
          <a:bodyPr/>
          <a:lstStyle/>
          <a:p>
            <a:r>
              <a:rPr lang="el-GR" dirty="0"/>
              <a:t>Αποτελέσματα</a:t>
            </a:r>
            <a:endParaRPr lang="en-US" dirty="0"/>
          </a:p>
        </p:txBody>
      </p:sp>
      <p:sp>
        <p:nvSpPr>
          <p:cNvPr id="3" name="Content Placeholder 2">
            <a:extLst>
              <a:ext uri="{FF2B5EF4-FFF2-40B4-BE49-F238E27FC236}">
                <a16:creationId xmlns:a16="http://schemas.microsoft.com/office/drawing/2014/main" id="{7D73B733-501C-43C8-AEA7-6F79D8ABBF44}"/>
              </a:ext>
            </a:extLst>
          </p:cNvPr>
          <p:cNvSpPr>
            <a:spLocks noGrp="1"/>
          </p:cNvSpPr>
          <p:nvPr>
            <p:ph sz="quarter" idx="10"/>
          </p:nvPr>
        </p:nvSpPr>
        <p:spPr>
          <a:xfrm>
            <a:off x="539495" y="1435608"/>
            <a:ext cx="11151761" cy="2548563"/>
          </a:xfrm>
        </p:spPr>
        <p:txBody>
          <a:bodyPr>
            <a:noAutofit/>
          </a:bodyPr>
          <a:lstStyle/>
          <a:p>
            <a:r>
              <a:rPr lang="el-GR" sz="1400" dirty="0"/>
              <a:t>Ως </a:t>
            </a:r>
            <a:r>
              <a:rPr lang="en-US" sz="1400" dirty="0"/>
              <a:t>training set </a:t>
            </a:r>
            <a:r>
              <a:rPr lang="el-GR" sz="1400" dirty="0"/>
              <a:t>για την συγκεκριμένη υλοποίηση, χρησιμοποιήθηκαν τα εξής δείγματα</a:t>
            </a:r>
            <a:r>
              <a:rPr lang="en-US" sz="1400" dirty="0"/>
              <a:t>:</a:t>
            </a:r>
            <a:endParaRPr lang="el-GR" sz="1400" dirty="0"/>
          </a:p>
          <a:p>
            <a:pPr marL="171450" indent="-171450">
              <a:buFont typeface="Wingdings" panose="05000000000000000000" pitchFamily="2" charset="2"/>
              <a:buChar char="Ø"/>
            </a:pPr>
            <a:r>
              <a:rPr lang="el-GR" sz="1400" dirty="0"/>
              <a:t>τρέξιμο χωρίς καμία επαφή με την μπάλα</a:t>
            </a:r>
          </a:p>
          <a:p>
            <a:pPr marL="171450" indent="-171450">
              <a:buFont typeface="Wingdings" panose="05000000000000000000" pitchFamily="2" charset="2"/>
              <a:buChar char="Ø"/>
            </a:pPr>
            <a:r>
              <a:rPr lang="el-GR" sz="1400" dirty="0"/>
              <a:t>Τρέξιμο με απλή επαφή μπάλας</a:t>
            </a:r>
          </a:p>
          <a:p>
            <a:pPr marL="171450" indent="-171450">
              <a:buFont typeface="Wingdings" panose="05000000000000000000" pitchFamily="2" charset="2"/>
              <a:buChar char="Ø"/>
            </a:pPr>
            <a:r>
              <a:rPr lang="el-GR" sz="1400" dirty="0"/>
              <a:t>Τρέξιμο με πάσες</a:t>
            </a:r>
          </a:p>
          <a:p>
            <a:pPr marL="171450" indent="-171450">
              <a:buFont typeface="Wingdings" panose="05000000000000000000" pitchFamily="2" charset="2"/>
              <a:buChar char="Ø"/>
            </a:pPr>
            <a:r>
              <a:rPr lang="el-GR" sz="1400" dirty="0"/>
              <a:t>Τρέξιμο με εκτέλεση </a:t>
            </a:r>
            <a:r>
              <a:rPr lang="en-US" sz="1400" dirty="0"/>
              <a:t>shoot</a:t>
            </a:r>
            <a:r>
              <a:rPr lang="el-GR" sz="1400" dirty="0"/>
              <a:t>.</a:t>
            </a:r>
            <a:endParaRPr lang="en-US" sz="1400" dirty="0"/>
          </a:p>
        </p:txBody>
      </p:sp>
      <p:sp>
        <p:nvSpPr>
          <p:cNvPr id="4" name="Content Placeholder 2">
            <a:extLst>
              <a:ext uri="{FF2B5EF4-FFF2-40B4-BE49-F238E27FC236}">
                <a16:creationId xmlns:a16="http://schemas.microsoft.com/office/drawing/2014/main" id="{0226E4E3-4CC9-4DB0-8972-93DF81B3BCE8}"/>
              </a:ext>
            </a:extLst>
          </p:cNvPr>
          <p:cNvSpPr txBox="1">
            <a:spLocks/>
          </p:cNvSpPr>
          <p:nvPr/>
        </p:nvSpPr>
        <p:spPr>
          <a:xfrm>
            <a:off x="539495" y="4331643"/>
            <a:ext cx="11151761" cy="1416014"/>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50000"/>
              </a:lnSpc>
              <a:spcBef>
                <a:spcPts val="1000"/>
              </a:spcBef>
              <a:spcAft>
                <a:spcPts val="1200"/>
              </a:spcAft>
              <a:buFontTx/>
              <a:buNone/>
              <a:defRPr lang="en-US" sz="1200" kern="1200" smtClean="0">
                <a:solidFill>
                  <a:schemeClr val="tx1">
                    <a:lumMod val="75000"/>
                    <a:lumOff val="25000"/>
                  </a:schemeClr>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l-GR" sz="1400" dirty="0"/>
              <a:t>Μετά από τον καθορισμό κατωφλιού, για τον καθαρισμό τον δεδομένων υπήρξε η δυνατότητα στο να εντοπισθούν ετικέτες για κάθε ένα «σημείο» που υπήρχε στα δεδομένα. </a:t>
            </a:r>
          </a:p>
          <a:p>
            <a:r>
              <a:rPr lang="el-GR" sz="1400" dirty="0"/>
              <a:t>Ως </a:t>
            </a:r>
            <a:r>
              <a:rPr lang="en-US" sz="1400" dirty="0"/>
              <a:t>testing set</a:t>
            </a:r>
            <a:r>
              <a:rPr lang="el-GR" sz="1400" dirty="0"/>
              <a:t> για την συγκεκριμένη υλοποίηση, χρησιμοποιήθηκε ένα αρχείο, κατά το οποίο ο παίκτης είχε 10 ακριβώς επαφές με την μπάλα. Τα αποτελέσματα του αλγορίθμου, εντόπισαν τις 9!</a:t>
            </a:r>
            <a:r>
              <a:rPr lang="en-US" sz="1400" dirty="0"/>
              <a:t> </a:t>
            </a:r>
            <a:r>
              <a:rPr lang="el-GR" sz="1400" dirty="0"/>
              <a:t>Με 90% επιτυχία λοιπόν, ολοκληρώθηκε αυτή η εφαρμογή.</a:t>
            </a:r>
          </a:p>
        </p:txBody>
      </p:sp>
    </p:spTree>
    <p:extLst>
      <p:ext uri="{BB962C8B-B14F-4D97-AF65-F5344CB8AC3E}">
        <p14:creationId xmlns:p14="http://schemas.microsoft.com/office/powerpoint/2010/main" val="3998430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ABF0-B494-4E27-AA0D-1485C663B422}"/>
              </a:ext>
            </a:extLst>
          </p:cNvPr>
          <p:cNvSpPr>
            <a:spLocks noGrp="1"/>
          </p:cNvSpPr>
          <p:nvPr>
            <p:ph type="title"/>
          </p:nvPr>
        </p:nvSpPr>
        <p:spPr>
          <a:xfrm>
            <a:off x="521207" y="448055"/>
            <a:ext cx="10068135" cy="727601"/>
          </a:xfrm>
        </p:spPr>
        <p:txBody>
          <a:bodyPr>
            <a:normAutofit fontScale="90000"/>
          </a:bodyPr>
          <a:lstStyle/>
          <a:p>
            <a:r>
              <a:rPr lang="el-GR" dirty="0"/>
              <a:t>Πρόβλεψη ποδοσφαιρικού αποτελέσματος με τη χρήση Μηχανικής Μάθησης</a:t>
            </a:r>
            <a:endParaRPr lang="en-US" dirty="0"/>
          </a:p>
        </p:txBody>
      </p:sp>
      <p:sp>
        <p:nvSpPr>
          <p:cNvPr id="3" name="Content Placeholder 2">
            <a:extLst>
              <a:ext uri="{FF2B5EF4-FFF2-40B4-BE49-F238E27FC236}">
                <a16:creationId xmlns:a16="http://schemas.microsoft.com/office/drawing/2014/main" id="{98ED7B23-BF41-4692-B7CB-BFB7EFAD9283}"/>
              </a:ext>
            </a:extLst>
          </p:cNvPr>
          <p:cNvSpPr>
            <a:spLocks noGrp="1"/>
          </p:cNvSpPr>
          <p:nvPr>
            <p:ph sz="quarter" idx="10"/>
          </p:nvPr>
        </p:nvSpPr>
        <p:spPr>
          <a:xfrm>
            <a:off x="552776" y="1440180"/>
            <a:ext cx="11086447" cy="3977640"/>
          </a:xfrm>
        </p:spPr>
        <p:txBody>
          <a:bodyPr>
            <a:normAutofit lnSpcReduction="10000"/>
          </a:bodyPr>
          <a:lstStyle/>
          <a:p>
            <a:pPr marL="171450" indent="-171450">
              <a:lnSpc>
                <a:spcPct val="100000"/>
              </a:lnSpc>
              <a:buFont typeface="Wingdings" panose="05000000000000000000" pitchFamily="2" charset="2"/>
              <a:buChar char="Ø"/>
            </a:pPr>
            <a:r>
              <a:rPr lang="el-GR" sz="1400" dirty="0"/>
              <a:t>Στη συγκεκριμένη εφαρμογή εκτελέστηκαν διάφορες τεχνικές </a:t>
            </a:r>
            <a:r>
              <a:rPr lang="en-US" sz="1400" dirty="0"/>
              <a:t>Machine</a:t>
            </a:r>
            <a:r>
              <a:rPr lang="el-GR" sz="1400" dirty="0"/>
              <a:t> </a:t>
            </a:r>
            <a:r>
              <a:rPr lang="en-US" sz="1400" dirty="0"/>
              <a:t>Learning </a:t>
            </a:r>
            <a:r>
              <a:rPr lang="el-GR" sz="1400" dirty="0"/>
              <a:t>για πρόβλεψη αποτελεσμάτων σε ποδοσφαιρικούς</a:t>
            </a:r>
            <a:r>
              <a:rPr lang="en-US" sz="1400" dirty="0"/>
              <a:t> </a:t>
            </a:r>
            <a:r>
              <a:rPr lang="el-GR" sz="1400" dirty="0"/>
              <a:t>αγώνες τη αγγλικής ομάδας Τοτεναμ, χρησιμοποιώντας δεδομένα για την περίοδο 1995-1997.</a:t>
            </a:r>
          </a:p>
          <a:p>
            <a:pPr marL="171450" indent="-171450">
              <a:lnSpc>
                <a:spcPct val="100000"/>
              </a:lnSpc>
              <a:buFont typeface="Wingdings" panose="05000000000000000000" pitchFamily="2" charset="2"/>
              <a:buChar char="Ø"/>
            </a:pPr>
            <a:r>
              <a:rPr lang="el-GR" sz="1400" dirty="0"/>
              <a:t>Οι τεχνικές που χρησιμοποιήθηκαν είναι οι εξής:</a:t>
            </a:r>
          </a:p>
          <a:p>
            <a:pPr marL="514350" lvl="1" indent="-285750">
              <a:lnSpc>
                <a:spcPct val="100000"/>
              </a:lnSpc>
            </a:pPr>
            <a:r>
              <a:rPr lang="en-US" sz="1400" dirty="0"/>
              <a:t>Expert Bayes Network</a:t>
            </a:r>
          </a:p>
          <a:p>
            <a:pPr marL="514350" lvl="1" indent="-285750">
              <a:lnSpc>
                <a:spcPct val="100000"/>
              </a:lnSpc>
            </a:pPr>
            <a:r>
              <a:rPr lang="en-US" sz="1400" dirty="0"/>
              <a:t>MC4 Decision Tree</a:t>
            </a:r>
          </a:p>
          <a:p>
            <a:pPr marL="514350" lvl="1" indent="-285750">
              <a:lnSpc>
                <a:spcPct val="100000"/>
              </a:lnSpc>
            </a:pPr>
            <a:r>
              <a:rPr lang="en-US" sz="1400" dirty="0"/>
              <a:t>Naive Bayes</a:t>
            </a:r>
          </a:p>
          <a:p>
            <a:pPr marL="514350" lvl="1" indent="-285750">
              <a:lnSpc>
                <a:spcPct val="100000"/>
              </a:lnSpc>
            </a:pPr>
            <a:r>
              <a:rPr lang="en-US" sz="1400" dirty="0"/>
              <a:t>Data Driven Bayes</a:t>
            </a:r>
          </a:p>
          <a:p>
            <a:pPr marL="514350" lvl="1" indent="-285750">
              <a:lnSpc>
                <a:spcPct val="100000"/>
              </a:lnSpc>
            </a:pPr>
            <a:r>
              <a:rPr lang="en-US" sz="1400" dirty="0"/>
              <a:t>K-nearest Neighbors</a:t>
            </a:r>
          </a:p>
          <a:p>
            <a:pPr marL="171450" indent="-171450">
              <a:lnSpc>
                <a:spcPct val="100000"/>
              </a:lnSpc>
              <a:buFont typeface="Wingdings" panose="05000000000000000000" pitchFamily="2" charset="2"/>
              <a:buChar char="Ø"/>
            </a:pPr>
            <a:r>
              <a:rPr lang="el-GR" sz="1400" dirty="0"/>
              <a:t>Τα αποτελέσματα που εξήχθησαν από τον κάθε αλγόριθμο τέθηκαν σε σύγκριση, ώστε να εντοπιστούν οι διαφοροποιήσεις όσον αφορά </a:t>
            </a:r>
            <a:endParaRPr lang="en-US" sz="1400" dirty="0"/>
          </a:p>
        </p:txBody>
      </p:sp>
    </p:spTree>
    <p:extLst>
      <p:ext uri="{BB962C8B-B14F-4D97-AF65-F5344CB8AC3E}">
        <p14:creationId xmlns:p14="http://schemas.microsoft.com/office/powerpoint/2010/main" val="3148591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Τίτλος 2"/>
          <p:cNvSpPr>
            <a:spLocks noGrp="1"/>
          </p:cNvSpPr>
          <p:nvPr>
            <p:ph type="title"/>
          </p:nvPr>
        </p:nvSpPr>
        <p:spPr/>
        <p:txBody>
          <a:bodyPr rtlCol="0"/>
          <a:lstStyle/>
          <a:p>
            <a:pPr rtl="0"/>
            <a:r>
              <a:rPr lang="el-GR" dirty="0">
                <a:latin typeface="Segoe UI Light" panose="020B0502040204020203" pitchFamily="34" charset="0"/>
                <a:cs typeface="Segoe UI Light" panose="020B0502040204020203" pitchFamily="34" charset="0"/>
              </a:rPr>
              <a:t>Μεταμόρφωση</a:t>
            </a:r>
          </a:p>
        </p:txBody>
      </p:sp>
      <p:pic>
        <p:nvPicPr>
          <p:cNvPr id="2" name="media1">
            <a:hlinkClick r:id="" action="ppaction://media"/>
            <a:extLst>
              <a:ext uri="{FF2B5EF4-FFF2-40B4-BE49-F238E27FC236}">
                <a16:creationId xmlns:a16="http://schemas.microsoft.com/office/drawing/2014/main" id="{F930D87C-C7E5-4D63-8E81-062EA958AD1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18759" y="1543747"/>
            <a:ext cx="6110288" cy="3438380"/>
          </a:xfrm>
          <a:prstGeom prst="rect">
            <a:avLst/>
          </a:prstGeom>
        </p:spPr>
      </p:pic>
      <p:sp>
        <p:nvSpPr>
          <p:cNvPr id="5" name="Θέση περιεχομένου 4"/>
          <p:cNvSpPr>
            <a:spLocks noGrp="1"/>
          </p:cNvSpPr>
          <p:nvPr>
            <p:ph sz="half" idx="4294967295"/>
          </p:nvPr>
        </p:nvSpPr>
        <p:spPr>
          <a:xfrm>
            <a:off x="541610" y="1431010"/>
            <a:ext cx="4557164" cy="4790886"/>
          </a:xfrm>
        </p:spPr>
        <p:txBody>
          <a:bodyPr vert="horz" lIns="91440" tIns="45720" rIns="91440" bIns="45720" rtlCol="0">
            <a:normAutofit/>
          </a:bodyPr>
          <a:lstStyle/>
          <a:p>
            <a:pPr marL="0" indent="0" rtl="0">
              <a:lnSpc>
                <a:spcPts val="1800"/>
              </a:lnSpc>
              <a:spcBef>
                <a:spcPts val="1000"/>
              </a:spcBef>
              <a:spcAft>
                <a:spcPts val="600"/>
              </a:spcAft>
              <a:buNone/>
            </a:pPr>
            <a:r>
              <a:rPr lang="el-GR" sz="1200" dirty="0">
                <a:solidFill>
                  <a:prstClr val="black">
                    <a:lumMod val="75000"/>
                    <a:lumOff val="25000"/>
                  </a:prstClr>
                </a:solidFill>
                <a:latin typeface="Segoe UI" panose="020B0502040204020203" pitchFamily="34" charset="0"/>
                <a:cs typeface="Segoe UI" panose="020B0502040204020203" pitchFamily="34" charset="0"/>
              </a:rPr>
              <a:t>Η δυνατότητα "Μεταμόρφωση" δημιουργεί ομαλά εφέ κίνησης και μετακινήσεις αντικειμένων στην παρουσίασή σας. Χρησιμοποιείτε δύο παρόμοιες διαφάνειες, για να δημιουργήσετε το εφέ κίνησης, αλλά το ακροατήριό σας νομίζει ότι η ενέργεια συμβαίνει σε μια διαφάνεια. </a:t>
            </a:r>
          </a:p>
          <a:p>
            <a:pPr>
              <a:lnSpc>
                <a:spcPts val="1800"/>
              </a:lnSpc>
              <a:spcAft>
                <a:spcPts val="600"/>
              </a:spcAft>
            </a:pPr>
            <a:r>
              <a:rPr lang="el-GR" dirty="0">
                <a:solidFill>
                  <a:prstClr val="black">
                    <a:lumMod val="75000"/>
                    <a:lumOff val="25000"/>
                  </a:prstClr>
                </a:solidFill>
                <a:latin typeface="Segoe UI" panose="020B0502040204020203" pitchFamily="34" charset="0"/>
                <a:cs typeface="Segoe UI" panose="020B0502040204020203" pitchFamily="34" charset="0"/>
              </a:rPr>
              <a:t>Πατήστε για</a:t>
            </a:r>
            <a:r>
              <a:rPr lang="en-US" b="1" dirty="0">
                <a:solidFill>
                  <a:srgbClr val="D24726"/>
                </a:solidFill>
                <a:latin typeface="Segoe UI" panose="020B0502040204020203" pitchFamily="34" charset="0"/>
                <a:cs typeface="Segoe UI" panose="020B0502040204020203" pitchFamily="34" charset="0"/>
              </a:rPr>
              <a:t> </a:t>
            </a:r>
            <a:r>
              <a:rPr lang="el-GR" b="1" dirty="0">
                <a:solidFill>
                  <a:srgbClr val="D24726"/>
                </a:solidFill>
                <a:latin typeface="Segoe UI" panose="020B0502040204020203" pitchFamily="34" charset="0"/>
                <a:cs typeface="Segoe UI" panose="020B0502040204020203" pitchFamily="34" charset="0"/>
              </a:rPr>
              <a:t>αναπαραγωγή</a:t>
            </a:r>
            <a:r>
              <a:rPr lang="el-GR" sz="1200" dirty="0">
                <a:solidFill>
                  <a:prstClr val="black">
                    <a:lumMod val="75000"/>
                    <a:lumOff val="25000"/>
                  </a:prstClr>
                </a:solidFill>
                <a:latin typeface="Segoe UI" panose="020B0502040204020203" pitchFamily="34" charset="0"/>
                <a:cs typeface="Segoe UI" panose="020B0502040204020203" pitchFamily="34" charset="0"/>
              </a:rPr>
              <a:t> του βίντεο στη δεξιά πλευρά, για να δείτε ένα γρήγορο παράδειγμα.</a:t>
            </a:r>
          </a:p>
          <a:p>
            <a:pPr marL="0" indent="0" rtl="0">
              <a:lnSpc>
                <a:spcPts val="1800"/>
              </a:lnSpc>
              <a:spcBef>
                <a:spcPts val="1000"/>
              </a:spcBef>
              <a:spcAft>
                <a:spcPts val="600"/>
              </a:spcAft>
              <a:buNone/>
            </a:pPr>
            <a:r>
              <a:rPr lang="el-GR" sz="1200" dirty="0">
                <a:solidFill>
                  <a:prstClr val="black">
                    <a:lumMod val="75000"/>
                    <a:lumOff val="25000"/>
                  </a:prstClr>
                </a:solidFill>
                <a:latin typeface="Segoe UI" panose="020B0502040204020203" pitchFamily="34" charset="0"/>
                <a:cs typeface="Segoe UI" panose="020B0502040204020203" pitchFamily="34" charset="0"/>
              </a:rPr>
              <a:t>Η Μεταμόρφωση είναι μια δυνατότητα που παρέχεται μόνο με συνδρομή. Εάν έχετε μια συνδρομή στο Office 365, μπορείτε να τη δοκιμάσετε και εσείς με τα βήματα που παρέχονται στην επόμενη διαφάνεια:</a:t>
            </a:r>
          </a:p>
          <a:p>
            <a:pPr marL="0" indent="0" rtl="0">
              <a:lnSpc>
                <a:spcPts val="1800"/>
              </a:lnSpc>
              <a:spcBef>
                <a:spcPts val="1000"/>
              </a:spcBef>
              <a:spcAft>
                <a:spcPts val="600"/>
              </a:spcAft>
              <a:buNone/>
            </a:pPr>
            <a:endParaRPr lang="el-GR"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Τίτλος 2"/>
          <p:cNvSpPr>
            <a:spLocks noGrp="1"/>
          </p:cNvSpPr>
          <p:nvPr>
            <p:ph type="title"/>
          </p:nvPr>
        </p:nvSpPr>
        <p:spPr/>
        <p:txBody>
          <a:bodyPr rtlCol="0"/>
          <a:lstStyle/>
          <a:p>
            <a:pPr rtl="0"/>
            <a:r>
              <a:rPr lang="el-GR" dirty="0"/>
              <a:t>Ρύθμιση της </a:t>
            </a:r>
            <a:r>
              <a:rPr lang="el-GR" dirty="0">
                <a:latin typeface="Segoe UI Light" panose="020B0502040204020203" pitchFamily="34" charset="0"/>
                <a:cs typeface="Segoe UI Light" panose="020B0502040204020203" pitchFamily="34" charset="0"/>
              </a:rPr>
              <a:t>Μεταμόρφωσης</a:t>
            </a:r>
          </a:p>
        </p:txBody>
      </p:sp>
      <p:sp>
        <p:nvSpPr>
          <p:cNvPr id="30" name="Θέση περιεχομένου 17"/>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t>Δοκιμάστε τη μόνοι σας με αυτούς τους δύο απλούς πλανήτες:</a:t>
            </a:r>
          </a:p>
        </p:txBody>
      </p:sp>
      <p:grpSp>
        <p:nvGrpSpPr>
          <p:cNvPr id="13" name="Ομάδα 12" descr="Μικρός κύκλος με τον αριθμό 1 που υποδεικνύει το βήμα 1"/>
          <p:cNvGrpSpPr/>
          <p:nvPr/>
        </p:nvGrpSpPr>
        <p:grpSpPr bwMode="blackWhite">
          <a:xfrm>
            <a:off x="558723" y="1917997"/>
            <a:ext cx="558179" cy="409838"/>
            <a:chOff x="6953426" y="711274"/>
            <a:chExt cx="558179" cy="409838"/>
          </a:xfrm>
        </p:grpSpPr>
        <p:sp>
          <p:nvSpPr>
            <p:cNvPr id="14" name="Έλλειψη 13"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15" name="Πλαίσιο κειμένου 14" descr="Αριθμός 1"/>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1</a:t>
              </a:r>
            </a:p>
          </p:txBody>
        </p:sp>
      </p:grpSp>
      <p:sp>
        <p:nvSpPr>
          <p:cNvPr id="16" name="Θέση περιεχομένου 17"/>
          <p:cNvSpPr txBox="1">
            <a:spLocks/>
          </p:cNvSpPr>
          <p:nvPr/>
        </p:nvSpPr>
        <p:spPr>
          <a:xfrm>
            <a:off x="1066037" y="1958189"/>
            <a:ext cx="3296574" cy="838453"/>
          </a:xfrm>
          <a:prstGeom prst="rect">
            <a:avLst/>
          </a:prstGeom>
        </p:spPr>
        <p:txBody>
          <a:bodyPr vert="horz" lIns="91440" tIns="45720" rIns="91440" bIns="45720" rtlCol="0">
            <a:normAutofit fontScale="925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Κάντε αναπαραγωγή αυτής της διαφάνειας: Κάντε δεξί κλικ στη μικρογραφία της διαφάνειας και επιλέξτε</a:t>
            </a:r>
            <a:r>
              <a:rPr lang="el-GR" dirty="0">
                <a:solidFill>
                  <a:prstClr val="black">
                    <a:lumMod val="75000"/>
                    <a:lumOff val="25000"/>
                  </a:prstClr>
                </a:solidFill>
                <a:cs typeface="Segoe UI"/>
              </a:rPr>
              <a:t> </a:t>
            </a:r>
            <a:r>
              <a:rPr lang="el-GR" dirty="0">
                <a:solidFill>
                  <a:srgbClr val="D24726"/>
                </a:solidFill>
                <a:latin typeface="Segoe UI Semibold" panose="020B0702040204020203" pitchFamily="34" charset="0"/>
                <a:cs typeface="Segoe UI Semibold" panose="020B0702040204020203" pitchFamily="34" charset="0"/>
              </a:rPr>
              <a:t>Αναπαραγωγή διαφάνειας</a:t>
            </a:r>
            <a:r>
              <a:rPr lang="el-GR"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2" name="Εικόνα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7434" y="1715748"/>
            <a:ext cx="1460399" cy="1778890"/>
          </a:xfrm>
          <a:prstGeom prst="rect">
            <a:avLst/>
          </a:prstGeom>
        </p:spPr>
      </p:pic>
      <p:grpSp>
        <p:nvGrpSpPr>
          <p:cNvPr id="18" name="Ομάδα 17" descr="Μικρός κύκλος με τον αριθμό 2 που υποδεικνύει το βήμα 2"/>
          <p:cNvGrpSpPr/>
          <p:nvPr/>
        </p:nvGrpSpPr>
        <p:grpSpPr bwMode="blackWhite">
          <a:xfrm>
            <a:off x="558723" y="2778751"/>
            <a:ext cx="558179" cy="409838"/>
            <a:chOff x="6953426" y="711274"/>
            <a:chExt cx="558179" cy="409838"/>
          </a:xfrm>
        </p:grpSpPr>
        <p:sp>
          <p:nvSpPr>
            <p:cNvPr id="23" name="Έλλειψη 22"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24" name="Πλαίσιο κειμένου 23" descr="Αριθμός 2"/>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2</a:t>
              </a:r>
            </a:p>
          </p:txBody>
        </p:sp>
      </p:grpSp>
      <p:sp>
        <p:nvSpPr>
          <p:cNvPr id="25" name="Θέση περιεχομένου 17"/>
          <p:cNvSpPr txBox="1">
            <a:spLocks/>
          </p:cNvSpPr>
          <p:nvPr/>
        </p:nvSpPr>
        <p:spPr>
          <a:xfrm>
            <a:off x="1066038" y="2818942"/>
            <a:ext cx="2651153" cy="1517087"/>
          </a:xfrm>
          <a:prstGeom prst="rect">
            <a:avLst/>
          </a:prstGeom>
        </p:spPr>
        <p:txBody>
          <a:bodyPr vert="horz" lIns="91440" tIns="45720" rIns="91440" bIns="45720" rtlCol="0">
            <a:normAutofit fontScale="925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Στη δεύτερη από αυτές τις δύο πανομοιότυπες διαφάνειες, αλλάξτε τα σχήματα στα δεξιά με κάποιον τρόπο (μετακίνηση, αλλαγή μεγέθους, αλλαγή χρώματος) και, στη συνέχεια, επιλέξτε </a:t>
            </a:r>
            <a:r>
              <a:rPr lang="el-GR" dirty="0">
                <a:solidFill>
                  <a:srgbClr val="D24726"/>
                </a:solidFill>
                <a:latin typeface="Segoe UI Semibold" panose="020B0702040204020203" pitchFamily="34" charset="0"/>
                <a:cs typeface="Segoe UI Semibold" panose="020B0702040204020203" pitchFamily="34" charset="0"/>
              </a:rPr>
              <a:t>Μεταβάσεις</a:t>
            </a:r>
            <a:r>
              <a:rPr lang="el-GR" dirty="0">
                <a:solidFill>
                  <a:prstClr val="black">
                    <a:lumMod val="75000"/>
                    <a:lumOff val="25000"/>
                  </a:prstClr>
                </a:solidFill>
                <a:cs typeface="Segoe UI"/>
              </a:rPr>
              <a:t> &gt; </a:t>
            </a:r>
            <a:r>
              <a:rPr lang="el-GR" dirty="0">
                <a:solidFill>
                  <a:srgbClr val="D24726"/>
                </a:solidFill>
                <a:latin typeface="Segoe UI Semibold" panose="020B0702040204020203" pitchFamily="34" charset="0"/>
                <a:cs typeface="Segoe UI Semibold" panose="020B0702040204020203" pitchFamily="34" charset="0"/>
              </a:rPr>
              <a:t>Μεταμόρφωση</a:t>
            </a:r>
            <a:r>
              <a:rPr lang="el-GR"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6" name="Εικόνα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3896" y="3217634"/>
            <a:ext cx="2468760" cy="1069872"/>
          </a:xfrm>
          <a:prstGeom prst="rect">
            <a:avLst/>
          </a:prstGeom>
        </p:spPr>
      </p:pic>
      <p:grpSp>
        <p:nvGrpSpPr>
          <p:cNvPr id="26" name="Ομάδα 25" descr="Μικρός κύκλος με τον αριθμό 3 που υποδεικνύει το βήμα 3"/>
          <p:cNvGrpSpPr/>
          <p:nvPr/>
        </p:nvGrpSpPr>
        <p:grpSpPr bwMode="blackWhite">
          <a:xfrm>
            <a:off x="557319" y="4344232"/>
            <a:ext cx="558179" cy="409838"/>
            <a:chOff x="6953426" y="711274"/>
            <a:chExt cx="558179" cy="409838"/>
          </a:xfrm>
        </p:grpSpPr>
        <p:sp>
          <p:nvSpPr>
            <p:cNvPr id="27" name="Έλλειψη 26"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28" name="Πλαίσιο κειμένου 27" descr="Αριθμός 3"/>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3</a:t>
              </a:r>
            </a:p>
          </p:txBody>
        </p:sp>
      </p:grpSp>
      <p:sp>
        <p:nvSpPr>
          <p:cNvPr id="29" name="Θέση περιεχομένου 17"/>
          <p:cNvSpPr txBox="1">
            <a:spLocks/>
          </p:cNvSpPr>
          <p:nvPr/>
        </p:nvSpPr>
        <p:spPr>
          <a:xfrm>
            <a:off x="1076798" y="4360522"/>
            <a:ext cx="2838937" cy="1423282"/>
          </a:xfrm>
          <a:prstGeom prst="rect">
            <a:avLst/>
          </a:prstGeom>
        </p:spPr>
        <p:txBody>
          <a:bodyPr vert="horz" lIns="91440" tIns="45720" rIns="91440" bIns="45720" rtlCol="0">
            <a:normAutofit fontScale="925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Επιστρέψτε στην πρώτη από τις δύο διαφάνειες, πατήστε το κουμπί </a:t>
            </a:r>
            <a:r>
              <a:rPr lang="el-GR" dirty="0">
                <a:solidFill>
                  <a:srgbClr val="D24726"/>
                </a:solidFill>
                <a:latin typeface="Segoe UI Semibold" panose="020B0702040204020203" pitchFamily="34" charset="0"/>
                <a:cs typeface="Segoe UI Semibold" panose="020B0702040204020203" pitchFamily="34" charset="0"/>
              </a:rPr>
              <a:t>Προβολή παρουσίασης </a:t>
            </a:r>
            <a:r>
              <a:rPr lang="el-GR" dirty="0">
                <a:solidFill>
                  <a:prstClr val="black">
                    <a:lumMod val="75000"/>
                    <a:lumOff val="25000"/>
                  </a:prstClr>
                </a:solidFill>
                <a:latin typeface="Segoe UI" panose="020B0502040204020203" pitchFamily="34" charset="0"/>
                <a:cs typeface="Segoe UI" panose="020B0502040204020203" pitchFamily="34" charset="0"/>
              </a:rPr>
              <a:t> και, στη συνέχεια, επιλέξτε</a:t>
            </a:r>
            <a:r>
              <a:rPr lang="el-GR" dirty="0">
                <a:solidFill>
                  <a:prstClr val="black">
                    <a:lumMod val="75000"/>
                    <a:lumOff val="25000"/>
                  </a:prstClr>
                </a:solidFill>
              </a:rPr>
              <a:t> </a:t>
            </a:r>
            <a:r>
              <a:rPr lang="el-GR" dirty="0">
                <a:solidFill>
                  <a:srgbClr val="D24726"/>
                </a:solidFill>
                <a:latin typeface="Segoe UI Semibold" panose="020B0702040204020203" pitchFamily="34" charset="0"/>
                <a:cs typeface="Segoe UI Semibold" panose="020B0702040204020203" pitchFamily="34" charset="0"/>
              </a:rPr>
              <a:t>Αναπαραγωγή</a:t>
            </a:r>
            <a:r>
              <a:rPr lang="el-GR" dirty="0">
                <a:solidFill>
                  <a:prstClr val="black">
                    <a:lumMod val="75000"/>
                    <a:lumOff val="25000"/>
                  </a:prstClr>
                </a:solidFill>
              </a:rPr>
              <a:t> </a:t>
            </a:r>
            <a:r>
              <a:rPr lang="el-GR" dirty="0">
                <a:solidFill>
                  <a:prstClr val="black">
                    <a:lumMod val="75000"/>
                    <a:lumOff val="25000"/>
                  </a:prstClr>
                </a:solidFill>
                <a:latin typeface="Segoe UI" panose="020B0502040204020203" pitchFamily="34" charset="0"/>
                <a:cs typeface="Segoe UI" panose="020B0502040204020203" pitchFamily="34" charset="0"/>
              </a:rPr>
              <a:t> για να δείτε τον κύκλο σας να μεταμορφώνεται!</a:t>
            </a:r>
          </a:p>
        </p:txBody>
      </p:sp>
      <p:pic>
        <p:nvPicPr>
          <p:cNvPr id="5" name="Εικόνα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15735" y="4344232"/>
            <a:ext cx="2134319" cy="887083"/>
          </a:xfrm>
          <a:prstGeom prst="rect">
            <a:avLst/>
          </a:prstGeom>
        </p:spPr>
      </p:pic>
      <p:sp>
        <p:nvSpPr>
          <p:cNvPr id="17" name="Θέση περιεχομένου 17"/>
          <p:cNvSpPr txBox="1">
            <a:spLocks/>
          </p:cNvSpPr>
          <p:nvPr/>
        </p:nvSpPr>
        <p:spPr>
          <a:xfrm>
            <a:off x="628962" y="5832234"/>
            <a:ext cx="4238006" cy="69290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srgbClr val="D24726"/>
                </a:solidFill>
                <a:latin typeface="Segoe UI Semibold" panose="020B0702040204020203" pitchFamily="34" charset="0"/>
                <a:cs typeface="Segoe UI Semibold" panose="020B0702040204020203" pitchFamily="34" charset="0"/>
              </a:rPr>
              <a:t>Συμβουλή: </a:t>
            </a:r>
            <a:r>
              <a:rPr lang="el-GR" dirty="0">
                <a:solidFill>
                  <a:prstClr val="black">
                    <a:lumMod val="75000"/>
                    <a:lumOff val="25000"/>
                  </a:prstClr>
                </a:solidFill>
              </a:rPr>
              <a:t>Οι </a:t>
            </a:r>
            <a:r>
              <a:rPr lang="el-GR" dirty="0">
                <a:solidFill>
                  <a:srgbClr val="404040"/>
                </a:solidFill>
                <a:latin typeface="Segoe UI Semibold" panose="020B0702040204020203" pitchFamily="34" charset="0"/>
                <a:cs typeface="Segoe UI Semibold" panose="020B0702040204020203" pitchFamily="34" charset="0"/>
              </a:rPr>
              <a:t>Επιλογές εφέ </a:t>
            </a:r>
            <a:r>
              <a:rPr lang="el-GR" dirty="0">
                <a:solidFill>
                  <a:prstClr val="black">
                    <a:lumMod val="75000"/>
                    <a:lumOff val="25000"/>
                  </a:prstClr>
                </a:solidFill>
                <a:latin typeface="Segoe UI" panose="020B0502040204020203" pitchFamily="34" charset="0"/>
                <a:cs typeface="Segoe UI" panose="020B0502040204020203" pitchFamily="34" charset="0"/>
              </a:rPr>
              <a:t>σάς παρέχουν ακόμη περισσότερες επιλογές για τη </a:t>
            </a:r>
            <a:r>
              <a:rPr lang="el-GR" dirty="0">
                <a:solidFill>
                  <a:prstClr val="black">
                    <a:lumMod val="75000"/>
                    <a:lumOff val="25000"/>
                  </a:prstClr>
                </a:solidFill>
                <a:latin typeface="Segoe UI Semibold" panose="020B0702040204020203" pitchFamily="34" charset="0"/>
                <a:cs typeface="Segoe UI Semibold" panose="020B0702040204020203" pitchFamily="34" charset="0"/>
              </a:rPr>
              <a:t>Μεταμόρφωση</a:t>
            </a:r>
            <a:r>
              <a:rPr lang="el-GR" dirty="0">
                <a:solidFill>
                  <a:prstClr val="black">
                    <a:lumMod val="75000"/>
                    <a:lumOff val="25000"/>
                  </a:prstClr>
                </a:solidFill>
              </a:rPr>
              <a:t>.</a:t>
            </a:r>
          </a:p>
        </p:txBody>
      </p:sp>
      <p:cxnSp>
        <p:nvCxnSpPr>
          <p:cNvPr id="20" name="Ευθεία γραμμή σύνδεσης 19" descr="Ανοιχτή γκρι γραμμή που διαχωρίζει κείμενο και εικόνες για μεταμόρφωση"/>
          <p:cNvCxnSpPr/>
          <p:nvPr/>
        </p:nvCxnSpPr>
        <p:spPr>
          <a:xfrm>
            <a:off x="6296866" y="1472431"/>
            <a:ext cx="0" cy="4892634"/>
          </a:xfrm>
          <a:prstGeom prst="line">
            <a:avLst/>
          </a:prstGeom>
          <a:ln w="952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 name="Έλλειψη 9" descr="Μεγάλος, μπλε κύκλος με ένα μικρό ανοιχτό μπλε κύκλο μέσα του"/>
          <p:cNvSpPr/>
          <p:nvPr/>
        </p:nvSpPr>
        <p:spPr>
          <a:xfrm>
            <a:off x="7236525" y="1944862"/>
            <a:ext cx="3827244" cy="37432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0" cap="none" spc="0" normalizeH="0" baseline="0" dirty="0">
              <a:ln>
                <a:noFill/>
              </a:ln>
              <a:solidFill>
                <a:sysClr val="windowText" lastClr="000000"/>
              </a:solidFill>
              <a:effectLst/>
              <a:uLnTx/>
              <a:uFillTx/>
            </a:endParaRPr>
          </a:p>
        </p:txBody>
      </p:sp>
      <p:sp>
        <p:nvSpPr>
          <p:cNvPr id="11" name="Έλλειψη 10" descr="Μικρός ανοιχτός μπλε κύκλος μέσα σε μεγάλο σκούρο μπλε κύκλο"/>
          <p:cNvSpPr/>
          <p:nvPr/>
        </p:nvSpPr>
        <p:spPr bwMode="ltGray">
          <a:xfrm>
            <a:off x="8086223" y="2796642"/>
            <a:ext cx="2148929" cy="210175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0" cap="none" spc="0" normalizeH="0" baseline="0" dirty="0">
              <a:ln>
                <a:noFill/>
              </a:ln>
              <a:solidFill>
                <a:sysClr val="windowText" lastClr="000000"/>
              </a:solidFill>
              <a:effectLst/>
              <a:uLnTx/>
              <a:uFillTx/>
            </a:endParaRPr>
          </a:p>
        </p:txBody>
      </p:sp>
    </p:spTree>
    <p:extLst>
      <p:ext uri="{BB962C8B-B14F-4D97-AF65-F5344CB8AC3E}">
        <p14:creationId xmlns:p14="http://schemas.microsoft.com/office/powerpoint/2010/main" val="2596833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p:txBody>
          <a:bodyPr rtlCol="0">
            <a:normAutofit/>
          </a:bodyPr>
          <a:lstStyle/>
          <a:p>
            <a:pPr lvl="0" rtl="0"/>
            <a:r>
              <a:rPr lang="el-GR" dirty="0">
                <a:latin typeface="Segoe UI Light" panose="020B0502040204020203" pitchFamily="34" charset="0"/>
                <a:cs typeface="Segoe UI Light" panose="020B0502040204020203" pitchFamily="34" charset="0"/>
              </a:rPr>
              <a:t>Συνεργασία σε πραγματικό χρόνο</a:t>
            </a:r>
          </a:p>
        </p:txBody>
      </p:sp>
      <p:sp>
        <p:nvSpPr>
          <p:cNvPr id="5" name="Θέση περιεχομένου 4"/>
          <p:cNvSpPr>
            <a:spLocks noGrp="1"/>
          </p:cNvSpPr>
          <p:nvPr>
            <p:ph sz="half" idx="4294967295"/>
          </p:nvPr>
        </p:nvSpPr>
        <p:spPr>
          <a:xfrm>
            <a:off x="541610" y="1431010"/>
            <a:ext cx="5770699" cy="3978275"/>
          </a:xfrm>
        </p:spPr>
        <p:txBody>
          <a:bodyPr vert="horz" lIns="91440" tIns="45720" rIns="91440" bIns="45720" rtlCol="0">
            <a:normAutofit/>
          </a:bodyPr>
          <a:lstStyle/>
          <a:p>
            <a:pPr marL="0" indent="0" rtl="0">
              <a:lnSpc>
                <a:spcPts val="1800"/>
              </a:lnSpc>
              <a:spcBef>
                <a:spcPts val="1000"/>
              </a:spcBef>
              <a:spcAft>
                <a:spcPts val="2000"/>
              </a:spcAft>
              <a:buNone/>
            </a:pPr>
            <a:r>
              <a:rPr lang="el-GR" sz="1200" dirty="0">
                <a:solidFill>
                  <a:prstClr val="black">
                    <a:lumMod val="75000"/>
                    <a:lumOff val="25000"/>
                  </a:prstClr>
                </a:solidFill>
                <a:latin typeface="Segoe UI" panose="020B0502040204020203" pitchFamily="34" charset="0"/>
                <a:cs typeface="Segoe UI" panose="020B0502040204020203" pitchFamily="34" charset="0"/>
              </a:rPr>
              <a:t>Όταν κάνετε κοινή χρήση της παρουσίασής σας με άλλους χρήστες, θα τους βλέπετε να εργάζονται μαζί σας την ίδια στιγμή. </a:t>
            </a:r>
            <a:br>
              <a:rPr lang="el-GR" sz="1200" dirty="0">
                <a:solidFill>
                  <a:prstClr val="black">
                    <a:lumMod val="75000"/>
                    <a:lumOff val="25000"/>
                  </a:prstClr>
                </a:solidFill>
                <a:latin typeface="Segoe UI" panose="020B0502040204020203" pitchFamily="34" charset="0"/>
                <a:cs typeface="Segoe UI" panose="020B0502040204020203" pitchFamily="34" charset="0"/>
              </a:rPr>
            </a:br>
            <a:br>
              <a:rPr lang="el-GR" sz="1200" dirty="0">
                <a:solidFill>
                  <a:prstClr val="black">
                    <a:lumMod val="75000"/>
                    <a:lumOff val="25000"/>
                  </a:prstClr>
                </a:solidFill>
                <a:latin typeface="Segoe UI" panose="020B0502040204020203" pitchFamily="34" charset="0"/>
                <a:cs typeface="Segoe UI" panose="020B0502040204020203" pitchFamily="34" charset="0"/>
              </a:rPr>
            </a:br>
            <a:r>
              <a:rPr lang="el-GR" sz="1200" dirty="0">
                <a:solidFill>
                  <a:prstClr val="black">
                    <a:lumMod val="75000"/>
                    <a:lumOff val="25000"/>
                  </a:prstClr>
                </a:solidFill>
                <a:latin typeface="Segoe UI" panose="020B0502040204020203" pitchFamily="34" charset="0"/>
                <a:cs typeface="Segoe UI" panose="020B0502040204020203" pitchFamily="34" charset="0"/>
              </a:rPr>
              <a:t>Πώς λειτουργεί:</a:t>
            </a:r>
          </a:p>
        </p:txBody>
      </p:sp>
      <p:pic>
        <p:nvPicPr>
          <p:cNvPr id="11" name="Εικόνα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984" y="2425111"/>
            <a:ext cx="3262550" cy="1475659"/>
          </a:xfrm>
          <a:prstGeom prst="rect">
            <a:avLst/>
          </a:prstGeom>
        </p:spPr>
      </p:pic>
      <p:grpSp>
        <p:nvGrpSpPr>
          <p:cNvPr id="33" name="Ομάδα 32" descr="Μικρός κύκλος με τον αριθμό 1 που υποδεικνύει το βήμα 1"/>
          <p:cNvGrpSpPr/>
          <p:nvPr/>
        </p:nvGrpSpPr>
        <p:grpSpPr bwMode="blackWhite">
          <a:xfrm>
            <a:off x="558723" y="4531632"/>
            <a:ext cx="558179" cy="409838"/>
            <a:chOff x="6953426" y="711274"/>
            <a:chExt cx="558179" cy="409838"/>
          </a:xfrm>
        </p:grpSpPr>
        <p:sp>
          <p:nvSpPr>
            <p:cNvPr id="34" name="Έλλειψη 33"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35" name="Πλαίσιο κειμένου 34" descr="Αριθμός 1"/>
            <p:cNvSpPr txBox="1"/>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1</a:t>
              </a:r>
            </a:p>
          </p:txBody>
        </p:sp>
      </p:grpSp>
      <p:sp>
        <p:nvSpPr>
          <p:cNvPr id="42" name="Θέση περιεχομένου 17"/>
          <p:cNvSpPr txBox="1">
            <a:spLocks/>
          </p:cNvSpPr>
          <p:nvPr/>
        </p:nvSpPr>
        <p:spPr>
          <a:xfrm>
            <a:off x="1066039" y="4571824"/>
            <a:ext cx="2696774" cy="1831562"/>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Επιλέξτε </a:t>
            </a:r>
            <a:r>
              <a:rPr lang="el-GR" dirty="0">
                <a:solidFill>
                  <a:srgbClr val="D24726"/>
                </a:solidFill>
                <a:latin typeface="Segoe UI" panose="020B0502040204020203" pitchFamily="34" charset="0"/>
                <a:cs typeface="Segoe UI" panose="020B0502040204020203" pitchFamily="34" charset="0"/>
              </a:rPr>
              <a:t>Κοινή χρήση</a:t>
            </a:r>
            <a:r>
              <a:rPr lang="el-GR" dirty="0">
                <a:solidFill>
                  <a:prstClr val="black">
                    <a:lumMod val="75000"/>
                    <a:lumOff val="25000"/>
                  </a:prstClr>
                </a:solidFill>
                <a:latin typeface="Segoe UI" panose="020B0502040204020203" pitchFamily="34" charset="0"/>
                <a:cs typeface="Segoe UI" panose="020B0502040204020203" pitchFamily="34" charset="0"/>
              </a:rPr>
              <a:t> από την κορδέλα ή χρησιμοποιώντας τον συνδυασμό πλήκτρων </a:t>
            </a:r>
            <a:r>
              <a:rPr lang="el-GR" dirty="0" err="1">
                <a:solidFill>
                  <a:srgbClr val="D24726"/>
                </a:solidFill>
                <a:latin typeface="Segoe UI" panose="020B0502040204020203" pitchFamily="34" charset="0"/>
                <a:cs typeface="Segoe UI" panose="020B0502040204020203" pitchFamily="34" charset="0"/>
              </a:rPr>
              <a:t>Alt</a:t>
            </a:r>
            <a:r>
              <a:rPr lang="el-GR" dirty="0">
                <a:solidFill>
                  <a:srgbClr val="D24726"/>
                </a:solidFill>
                <a:latin typeface="Segoe UI" panose="020B0502040204020203" pitchFamily="34" charset="0"/>
                <a:cs typeface="Segoe UI" panose="020B0502040204020203" pitchFamily="34" charset="0"/>
              </a:rPr>
              <a:t>-Υ</a:t>
            </a:r>
            <a:r>
              <a:rPr lang="en-US" dirty="0">
                <a:solidFill>
                  <a:srgbClr val="D24726"/>
                </a:solidFill>
                <a:latin typeface="Segoe UI" panose="020B0502040204020203" pitchFamily="34" charset="0"/>
                <a:cs typeface="Segoe UI" panose="020B0502040204020203" pitchFamily="34" charset="0"/>
              </a:rPr>
              <a:t>U</a:t>
            </a:r>
            <a:r>
              <a:rPr lang="el-GR" dirty="0">
                <a:solidFill>
                  <a:prstClr val="black">
                    <a:lumMod val="75000"/>
                    <a:lumOff val="25000"/>
                  </a:prstClr>
                </a:solidFill>
                <a:latin typeface="Segoe UI" panose="020B0502040204020203" pitchFamily="34" charset="0"/>
                <a:cs typeface="Segoe UI" panose="020B0502040204020203" pitchFamily="34" charset="0"/>
              </a:rPr>
              <a:t>, για να προσκαλέσετε άτομα για να εργαστούν μαζί σας. (Μπορείτε να αποθηκεύσετε στο </a:t>
            </a:r>
            <a:r>
              <a:rPr lang="el-GR" dirty="0" err="1">
                <a:solidFill>
                  <a:prstClr val="black">
                    <a:lumMod val="75000"/>
                    <a:lumOff val="25000"/>
                  </a:prstClr>
                </a:solidFill>
                <a:latin typeface="Segoe UI" panose="020B0502040204020203" pitchFamily="34" charset="0"/>
                <a:cs typeface="Segoe UI" panose="020B0502040204020203" pitchFamily="34" charset="0"/>
              </a:rPr>
              <a:t>cloud</a:t>
            </a:r>
            <a:r>
              <a:rPr lang="el-GR" dirty="0">
                <a:solidFill>
                  <a:prstClr val="black">
                    <a:lumMod val="75000"/>
                    <a:lumOff val="25000"/>
                  </a:prstClr>
                </a:solidFill>
                <a:latin typeface="Segoe UI" panose="020B0502040204020203" pitchFamily="34" charset="0"/>
                <a:cs typeface="Segoe UI" panose="020B0502040204020203" pitchFamily="34" charset="0"/>
              </a:rPr>
              <a:t> σε αυτό το σημείο.)</a:t>
            </a:r>
          </a:p>
        </p:txBody>
      </p:sp>
      <p:pic>
        <p:nvPicPr>
          <p:cNvPr id="9" name="Εικόνα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65261" y="2434307"/>
            <a:ext cx="3833874" cy="2512927"/>
          </a:xfrm>
          <a:prstGeom prst="rect">
            <a:avLst/>
          </a:prstGeom>
        </p:spPr>
      </p:pic>
      <p:grpSp>
        <p:nvGrpSpPr>
          <p:cNvPr id="36" name="Ομάδα 35" descr="Μικρός κύκλος με τον αριθμό 2 που υποδεικνύει το βήμα 2"/>
          <p:cNvGrpSpPr/>
          <p:nvPr/>
        </p:nvGrpSpPr>
        <p:grpSpPr bwMode="blackWhite">
          <a:xfrm>
            <a:off x="4249102" y="4531632"/>
            <a:ext cx="558179" cy="409838"/>
            <a:chOff x="6953426" y="711274"/>
            <a:chExt cx="558179" cy="409838"/>
          </a:xfrm>
        </p:grpSpPr>
        <p:sp>
          <p:nvSpPr>
            <p:cNvPr id="37" name="Έλλειψη 36"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38" name="Πλαίσιο κειμένου 37" descr="Αριθμός 2"/>
            <p:cNvSpPr txBox="1"/>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2</a:t>
              </a:r>
            </a:p>
          </p:txBody>
        </p:sp>
      </p:grpSp>
      <p:sp>
        <p:nvSpPr>
          <p:cNvPr id="43" name="Θέση περιεχομένου 17"/>
          <p:cNvSpPr txBox="1">
            <a:spLocks/>
          </p:cNvSpPr>
          <p:nvPr/>
        </p:nvSpPr>
        <p:spPr>
          <a:xfrm>
            <a:off x="4747855" y="4571824"/>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Όταν άλλα άτομα βρίσκονται στην παρουσίαση, ένας δείκτης δείχνει ποιος βρίσκεται σε ποια διαφάνεια...</a:t>
            </a:r>
          </a:p>
        </p:txBody>
      </p:sp>
      <p:pic>
        <p:nvPicPr>
          <p:cNvPr id="12" name="Εικόνα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99419" y="2350394"/>
            <a:ext cx="3563782" cy="2305343"/>
          </a:xfrm>
          <a:prstGeom prst="rect">
            <a:avLst/>
          </a:prstGeom>
        </p:spPr>
      </p:pic>
      <p:grpSp>
        <p:nvGrpSpPr>
          <p:cNvPr id="39" name="Ομάδα 38" descr="Μικρός κύκλος με τον αριθμό 3 που υποδεικνύει το βήμα 3"/>
          <p:cNvGrpSpPr/>
          <p:nvPr/>
        </p:nvGrpSpPr>
        <p:grpSpPr bwMode="blackWhite">
          <a:xfrm>
            <a:off x="7930921" y="4531632"/>
            <a:ext cx="558179" cy="409838"/>
            <a:chOff x="6953426" y="711274"/>
            <a:chExt cx="558179" cy="409838"/>
          </a:xfrm>
        </p:grpSpPr>
        <p:sp>
          <p:nvSpPr>
            <p:cNvPr id="40" name="Έλλειψη 39"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41" name="Πλαίσιο κειμένου 40" descr="Αριθμός 3"/>
            <p:cNvSpPr txBox="1"/>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3</a:t>
              </a:r>
            </a:p>
          </p:txBody>
        </p:sp>
      </p:grpSp>
      <p:sp>
        <p:nvSpPr>
          <p:cNvPr id="44" name="Θέση περιεχομένου 17"/>
          <p:cNvSpPr txBox="1">
            <a:spLocks/>
          </p:cNvSpPr>
          <p:nvPr/>
        </p:nvSpPr>
        <p:spPr>
          <a:xfrm>
            <a:off x="8429668" y="4571824"/>
            <a:ext cx="2658635" cy="69776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…και το τμήμα της διαφάνειας που επεξεργάζεται.</a:t>
            </a:r>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Τίτλος 5"/>
          <p:cNvSpPr>
            <a:spLocks noGrp="1"/>
          </p:cNvSpPr>
          <p:nvPr>
            <p:ph type="title"/>
          </p:nvPr>
        </p:nvSpPr>
        <p:spPr>
          <a:xfrm>
            <a:off x="521207" y="448056"/>
            <a:ext cx="10667903" cy="640080"/>
          </a:xfrm>
        </p:spPr>
        <p:txBody>
          <a:bodyPr rtlCol="0">
            <a:normAutofit/>
          </a:bodyPr>
          <a:lstStyle/>
          <a:p>
            <a:pPr rtl="0"/>
            <a:r>
              <a:rPr lang="el-GR" dirty="0">
                <a:latin typeface="Segoe UI Light" panose="020B0502040204020203" pitchFamily="34" charset="0"/>
                <a:cs typeface="Segoe UI Light" panose="020B0502040204020203" pitchFamily="34" charset="0"/>
              </a:rPr>
              <a:t>Αποκτήστε την εμπειρία των ειδικών με το πλαίσιο "Πείτε μου"</a:t>
            </a:r>
          </a:p>
        </p:txBody>
      </p:sp>
      <p:sp>
        <p:nvSpPr>
          <p:cNvPr id="38" name="Θέση περιεχομένου 17"/>
          <p:cNvSpPr txBox="1">
            <a:spLocks/>
          </p:cNvSpPr>
          <p:nvPr/>
        </p:nvSpPr>
        <p:spPr>
          <a:xfrm>
            <a:off x="541609" y="1296100"/>
            <a:ext cx="5110161"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Το πλαίσιο "Πείτε μου" βρίσκει τη σωστή εντολή όταν τη χρειάζεστε, </a:t>
            </a:r>
            <a:br>
              <a:rPr lang="el-GR" dirty="0">
                <a:solidFill>
                  <a:prstClr val="black">
                    <a:lumMod val="75000"/>
                    <a:lumOff val="25000"/>
                  </a:prstClr>
                </a:solidFill>
                <a:latin typeface="Segoe UI" panose="020B0502040204020203" pitchFamily="34" charset="0"/>
                <a:cs typeface="Segoe UI" panose="020B0502040204020203" pitchFamily="34" charset="0"/>
              </a:rPr>
            </a:br>
            <a:r>
              <a:rPr lang="el-GR" dirty="0">
                <a:solidFill>
                  <a:prstClr val="black">
                    <a:lumMod val="75000"/>
                    <a:lumOff val="25000"/>
                  </a:prstClr>
                </a:solidFill>
                <a:latin typeface="Segoe UI" panose="020B0502040204020203" pitchFamily="34" charset="0"/>
                <a:cs typeface="Segoe UI" panose="020B0502040204020203" pitchFamily="34" charset="0"/>
              </a:rPr>
              <a:t>για να εξοικονομείτε χρόνο και να επικεντρώνεστε στην εργασία σας.</a:t>
            </a:r>
            <a:br>
              <a:rPr lang="el-GR" dirty="0">
                <a:latin typeface="Segoe UI" panose="020B0502040204020203" pitchFamily="34" charset="0"/>
                <a:cs typeface="Segoe UI" panose="020B0502040204020203" pitchFamily="34" charset="0"/>
              </a:rPr>
            </a:br>
            <a:br>
              <a:rPr lang="el-GR" dirty="0">
                <a:latin typeface="Segoe UI" panose="020B0502040204020203" pitchFamily="34" charset="0"/>
                <a:cs typeface="Segoe UI" panose="020B0502040204020203" pitchFamily="34" charset="0"/>
              </a:rPr>
            </a:br>
            <a:r>
              <a:rPr lang="el-GR" dirty="0">
                <a:latin typeface="Segoe UI" panose="020B0502040204020203" pitchFamily="34" charset="0"/>
                <a:cs typeface="Segoe UI" panose="020B0502040204020203" pitchFamily="34" charset="0"/>
              </a:rPr>
              <a:t>Δοκιμάστε το:</a:t>
            </a:r>
          </a:p>
        </p:txBody>
      </p:sp>
      <p:grpSp>
        <p:nvGrpSpPr>
          <p:cNvPr id="4" name="Ομάδα 3" descr="Μικρός κύκλος με τον αριθμό 1 που υποδεικνύει το βήμα 1"/>
          <p:cNvGrpSpPr/>
          <p:nvPr/>
        </p:nvGrpSpPr>
        <p:grpSpPr bwMode="blackWhite">
          <a:xfrm>
            <a:off x="558723" y="2638502"/>
            <a:ext cx="558179" cy="409838"/>
            <a:chOff x="6953426" y="711274"/>
            <a:chExt cx="558179" cy="409838"/>
          </a:xfrm>
        </p:grpSpPr>
        <p:sp>
          <p:nvSpPr>
            <p:cNvPr id="2" name="Έλλειψη 1"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3" name="Πλαίσιο κειμένου 2" descr="Αριθμός 1"/>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1</a:t>
              </a:r>
            </a:p>
          </p:txBody>
        </p:sp>
      </p:grpSp>
      <p:sp>
        <p:nvSpPr>
          <p:cNvPr id="29" name="Θέση περιεχομένου 17"/>
          <p:cNvSpPr txBox="1">
            <a:spLocks/>
          </p:cNvSpPr>
          <p:nvPr/>
        </p:nvSpPr>
        <p:spPr>
          <a:xfrm>
            <a:off x="1066039" y="2678694"/>
            <a:ext cx="3121671" cy="46764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defTabSz="512763" rtl="0">
              <a:lnSpc>
                <a:spcPct val="100000"/>
              </a:lnSpc>
              <a:spcBef>
                <a:spcPts val="0"/>
              </a:spcBef>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Επιλέξτε την </a:t>
            </a:r>
            <a:r>
              <a:rPr lang="el-GR" dirty="0">
                <a:solidFill>
                  <a:srgbClr val="404040"/>
                </a:solidFill>
                <a:latin typeface="Segoe UI" panose="020B0502040204020203" pitchFamily="34" charset="0"/>
                <a:cs typeface="Segoe UI" panose="020B0502040204020203" pitchFamily="34" charset="0"/>
              </a:rPr>
              <a:t>εικόνα του ρομπότ </a:t>
            </a:r>
            <a:r>
              <a:rPr lang="el-GR" dirty="0">
                <a:solidFill>
                  <a:prstClr val="black">
                    <a:lumMod val="75000"/>
                    <a:lumOff val="25000"/>
                  </a:prstClr>
                </a:solidFill>
                <a:latin typeface="Segoe UI" panose="020B0502040204020203" pitchFamily="34" charset="0"/>
                <a:cs typeface="Segoe UI" panose="020B0502040204020203" pitchFamily="34" charset="0"/>
              </a:rPr>
              <a:t>στα δεξιά.</a:t>
            </a:r>
          </a:p>
        </p:txBody>
      </p:sp>
      <p:sp>
        <p:nvSpPr>
          <p:cNvPr id="25" name="Πλαίσιο κειμένου 16" descr="Επιλέξτε &quot;εγώ&quot;"/>
          <p:cNvSpPr txBox="1"/>
          <p:nvPr/>
        </p:nvSpPr>
        <p:spPr>
          <a:xfrm rot="21077122">
            <a:off x="6043297" y="1772253"/>
            <a:ext cx="1334770" cy="435610"/>
          </a:xfrm>
          <a:prstGeom prst="rect">
            <a:avLst/>
          </a:prstGeom>
          <a:noFill/>
          <a:ln>
            <a:noFill/>
          </a:ln>
          <a:effectLst/>
          <a:extLst>
            <a:ext uri="{C572A759-6A51-4108-AA02-DFA0A04FC94B}">
              <ma14:wrappingTextBoxFlag xmlns="" xmlns:ma14="http://schemas.microsoft.com/office/mac/drawingml/2011/main"/>
            </a:ext>
          </a:extLst>
        </p:spPr>
        <p:txBody>
          <a:bodyPr rot="0" spcFirstLastPara="0" vert="horz" wrap="none" lIns="91440" tIns="45720" rIns="91440" bIns="45720" numCol="1" spcCol="0" rtlCol="0" fromWordArt="0" anchor="t" anchorCtr="0" forceAA="0" compatLnSpc="1">
            <a:prstTxWarp prst="textNoShape">
              <a:avLst/>
            </a:prstTxWarp>
            <a:noAutofit/>
          </a:bodyPr>
          <a:lstStyle/>
          <a:p>
            <a:pPr algn="ctr">
              <a:spcAft>
                <a:spcPts val="200"/>
              </a:spcAft>
              <a:tabLst>
                <a:tab pos="4931410" algn="l"/>
              </a:tabLst>
            </a:pPr>
            <a:r>
              <a:rPr lang="el-GR" sz="1200" b="1" kern="1000" spc="100" dirty="0">
                <a:solidFill>
                  <a:srgbClr val="D24726"/>
                </a:solidFill>
                <a:latin typeface="Segoe UI Semibold" panose="020B0702040204020203" pitchFamily="34" charset="0"/>
                <a:ea typeface="SimHei" panose="02010609060101010101" pitchFamily="49" charset="-122"/>
                <a:cs typeface="Times New Roman" panose="02020603050405020304" pitchFamily="18" charset="0"/>
              </a:rPr>
              <a:t>ΕΠΙΛΕΞΤΕ ΜΕ</a:t>
            </a:r>
            <a:endParaRPr lang="el-GR" sz="1200" b="1" kern="1400" dirty="0">
              <a:solidFill>
                <a:srgbClr val="D24726"/>
              </a:solidFill>
              <a:effectLst/>
              <a:latin typeface="Segoe UI Light" panose="020B0502040204020203" pitchFamily="34" charset="0"/>
              <a:ea typeface="SimHei" panose="02010609060101010101" pitchFamily="49" charset="-122"/>
              <a:cs typeface="Times New Roman" panose="02020603050405020304" pitchFamily="18" charset="0"/>
            </a:endParaRPr>
          </a:p>
        </p:txBody>
      </p:sp>
      <p:pic>
        <p:nvPicPr>
          <p:cNvPr id="24" name="Εικόνα 23" descr="Καμπύλο βέλος"/>
          <p:cNvPicPr/>
          <p:nvPr/>
        </p:nvPicPr>
        <p:blipFill>
          <a:blip r:embed="rId3" cstate="print">
            <a:extLst>
              <a:ext uri="{28A0092B-C50C-407E-A947-70E740481C1C}">
                <a14:useLocalDpi xmlns:a14="http://schemas.microsoft.com/office/drawing/2010/main" val="0"/>
              </a:ext>
            </a:extLst>
          </a:blip>
          <a:stretch>
            <a:fillRect/>
          </a:stretch>
        </p:blipFill>
        <p:spPr>
          <a:xfrm rot="3861835" flipH="1">
            <a:off x="6740574" y="1787378"/>
            <a:ext cx="851862" cy="939987"/>
          </a:xfrm>
          <a:prstGeom prst="rect">
            <a:avLst/>
          </a:prstGeom>
        </p:spPr>
      </p:pic>
      <p:pic>
        <p:nvPicPr>
          <p:cNvPr id="23" name="Εικόνα 22" descr="Ρομπότ"/>
          <p:cNvPicPr>
            <a:picLocks noChangeAspect="1"/>
          </p:cNvPicPr>
          <p:nvPr/>
        </p:nvPicPr>
        <p:blipFill>
          <a:blip r:embed="rId4"/>
          <a:stretch>
            <a:fillRect/>
          </a:stretch>
        </p:blipFill>
        <p:spPr>
          <a:xfrm>
            <a:off x="7912741" y="1646170"/>
            <a:ext cx="2775459" cy="4531804"/>
          </a:xfrm>
          <a:prstGeom prst="rect">
            <a:avLst/>
          </a:prstGeom>
        </p:spPr>
      </p:pic>
      <p:grpSp>
        <p:nvGrpSpPr>
          <p:cNvPr id="19" name="Ομάδα 18" descr="Μικρός κύκλος με τον αριθμό 2 που υποδεικνύει το βήμα 2"/>
          <p:cNvGrpSpPr/>
          <p:nvPr/>
        </p:nvGrpSpPr>
        <p:grpSpPr bwMode="blackWhite">
          <a:xfrm>
            <a:off x="558723" y="3224505"/>
            <a:ext cx="558179" cy="409838"/>
            <a:chOff x="6953426" y="711274"/>
            <a:chExt cx="558179" cy="409838"/>
          </a:xfrm>
        </p:grpSpPr>
        <p:sp>
          <p:nvSpPr>
            <p:cNvPr id="20" name="Έλλειψη 19"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21" name="Πλαίσιο κειμένου 20" descr="Αριθμός 2"/>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2</a:t>
              </a:r>
            </a:p>
          </p:txBody>
        </p:sp>
      </p:grpSp>
      <p:sp>
        <p:nvSpPr>
          <p:cNvPr id="22" name="Θέση περιεχομένου 17"/>
          <p:cNvSpPr txBox="1">
            <a:spLocks/>
          </p:cNvSpPr>
          <p:nvPr/>
        </p:nvSpPr>
        <p:spPr>
          <a:xfrm>
            <a:off x="1066039" y="3264697"/>
            <a:ext cx="3504072"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buNone/>
            </a:pPr>
            <a:r>
              <a:rPr lang="el-GR" dirty="0">
                <a:solidFill>
                  <a:prstClr val="black">
                    <a:lumMod val="75000"/>
                    <a:lumOff val="25000"/>
                  </a:prstClr>
                </a:solidFill>
                <a:latin typeface="Segoe UI" panose="020B0502040204020203" pitchFamily="34" charset="0"/>
                <a:cs typeface="Segoe UI" panose="020B0502040204020203" pitchFamily="34" charset="0"/>
              </a:rPr>
              <a:t>Πληκτρολογήστε</a:t>
            </a:r>
            <a:r>
              <a:rPr lang="el-GR" dirty="0">
                <a:solidFill>
                  <a:prstClr val="black">
                    <a:lumMod val="75000"/>
                    <a:lumOff val="25000"/>
                  </a:prstClr>
                </a:solidFill>
              </a:rPr>
              <a:t> </a:t>
            </a:r>
            <a:r>
              <a:rPr lang="el-GR" i="1" dirty="0">
                <a:solidFill>
                  <a:srgbClr val="D24726"/>
                </a:solidFill>
                <a:latin typeface="Segoe UI" panose="020B0502040204020203" pitchFamily="34" charset="0"/>
                <a:cs typeface="Segoe UI" panose="020B0502040204020203" pitchFamily="34" charset="0"/>
              </a:rPr>
              <a:t>κίνηση</a:t>
            </a:r>
            <a:r>
              <a:rPr lang="el-GR" dirty="0">
                <a:solidFill>
                  <a:prstClr val="black">
                    <a:lumMod val="75000"/>
                    <a:lumOff val="25000"/>
                  </a:prstClr>
                </a:solidFill>
              </a:rPr>
              <a:t> </a:t>
            </a:r>
            <a:r>
              <a:rPr lang="el-GR" dirty="0">
                <a:solidFill>
                  <a:prstClr val="black">
                    <a:lumMod val="75000"/>
                    <a:lumOff val="25000"/>
                  </a:prstClr>
                </a:solidFill>
                <a:latin typeface="Segoe UI" panose="020B0502040204020203" pitchFamily="34" charset="0"/>
                <a:cs typeface="Segoe UI" panose="020B0502040204020203" pitchFamily="34" charset="0"/>
              </a:rPr>
              <a:t>στο πλαίσιο </a:t>
            </a:r>
            <a:r>
              <a:rPr lang="el-GR" dirty="0">
                <a:solidFill>
                  <a:srgbClr val="D24726"/>
                </a:solidFill>
                <a:latin typeface="Segoe UI Semibold" panose="020B0702040204020203" pitchFamily="34" charset="0"/>
                <a:cs typeface="Segoe UI Semibold" panose="020B0702040204020203" pitchFamily="34" charset="0"/>
              </a:rPr>
              <a:t>Πείτε μου </a:t>
            </a:r>
            <a:r>
              <a:rPr lang="el-GR" dirty="0">
                <a:solidFill>
                  <a:prstClr val="black">
                    <a:lumMod val="75000"/>
                    <a:lumOff val="25000"/>
                  </a:prstClr>
                </a:solidFill>
                <a:latin typeface="Segoe UI" panose="020B0502040204020203" pitchFamily="34" charset="0"/>
                <a:cs typeface="Segoe UI" panose="020B0502040204020203" pitchFamily="34" charset="0"/>
              </a:rPr>
              <a:t>και, στη συνέχεια, επιλέξτε </a:t>
            </a:r>
            <a:r>
              <a:rPr lang="el-GR" dirty="0">
                <a:solidFill>
                  <a:srgbClr val="D24726"/>
                </a:solidFill>
                <a:latin typeface="Segoe UI Semibold" panose="020B0702040204020203" pitchFamily="34" charset="0"/>
                <a:cs typeface="Segoe UI Semibold" panose="020B0702040204020203" pitchFamily="34" charset="0"/>
              </a:rPr>
              <a:t>Προσθήκη κίνησης</a:t>
            </a:r>
            <a:r>
              <a:rPr lang="el-GR"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5" name="Εικόνα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5526" y="3361785"/>
            <a:ext cx="2106152" cy="220832"/>
          </a:xfrm>
          <a:prstGeom prst="rect">
            <a:avLst/>
          </a:prstGeom>
        </p:spPr>
      </p:pic>
      <p:grpSp>
        <p:nvGrpSpPr>
          <p:cNvPr id="31" name="Ομάδα 30" descr="Μικρός κύκλος με τον αριθμό 3 που υποδεικνύει το βήμα 3"/>
          <p:cNvGrpSpPr/>
          <p:nvPr/>
        </p:nvGrpSpPr>
        <p:grpSpPr bwMode="blackWhite">
          <a:xfrm>
            <a:off x="557319" y="4263506"/>
            <a:ext cx="558179" cy="409838"/>
            <a:chOff x="6953426" y="711274"/>
            <a:chExt cx="558179" cy="409838"/>
          </a:xfrm>
        </p:grpSpPr>
        <p:sp>
          <p:nvSpPr>
            <p:cNvPr id="32" name="Έλλειψη 31"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33" name="Πλαίσιο κειμένου 32" descr="Αριθμός 3"/>
            <p:cNvSpPr txBox="1">
              <a:spLocks noChangeAspect="1"/>
            </p:cNvSpPr>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3</a:t>
              </a:r>
            </a:p>
          </p:txBody>
        </p:sp>
      </p:grpSp>
      <p:sp>
        <p:nvSpPr>
          <p:cNvPr id="34" name="Θέση περιεχομένου 17"/>
          <p:cNvSpPr txBox="1">
            <a:spLocks/>
          </p:cNvSpPr>
          <p:nvPr/>
        </p:nvSpPr>
        <p:spPr>
          <a:xfrm>
            <a:off x="1064636" y="4303697"/>
            <a:ext cx="2075302" cy="144608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defTabSz="512763"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Επιλέξτε ένα εφέ κίνησης, όπως </a:t>
            </a:r>
            <a:r>
              <a:rPr lang="el-GR" dirty="0">
                <a:solidFill>
                  <a:srgbClr val="D24726"/>
                </a:solidFill>
                <a:latin typeface="Segoe UI Semibold" panose="020B0702040204020203" pitchFamily="34" charset="0"/>
                <a:cs typeface="Segoe UI Semibold" panose="020B0702040204020203" pitchFamily="34" charset="0"/>
              </a:rPr>
              <a:t>Ζουμ</a:t>
            </a:r>
            <a:r>
              <a:rPr lang="el-GR" dirty="0">
                <a:solidFill>
                  <a:prstClr val="black">
                    <a:lumMod val="75000"/>
                    <a:lumOff val="25000"/>
                  </a:prstClr>
                </a:solidFill>
                <a:latin typeface="Segoe UI" panose="020B0502040204020203" pitchFamily="34" charset="0"/>
                <a:cs typeface="Segoe UI" panose="020B0502040204020203" pitchFamily="34" charset="0"/>
              </a:rPr>
              <a:t> και παρακολουθήστε </a:t>
            </a:r>
            <a:br>
              <a:rPr lang="el-GR" dirty="0">
                <a:solidFill>
                  <a:prstClr val="black">
                    <a:lumMod val="75000"/>
                    <a:lumOff val="25000"/>
                  </a:prstClr>
                </a:solidFill>
                <a:latin typeface="Segoe UI" panose="020B0502040204020203" pitchFamily="34" charset="0"/>
                <a:cs typeface="Segoe UI" panose="020B0502040204020203" pitchFamily="34" charset="0"/>
              </a:rPr>
            </a:br>
            <a:r>
              <a:rPr lang="el-GR" dirty="0">
                <a:solidFill>
                  <a:prstClr val="black">
                    <a:lumMod val="75000"/>
                    <a:lumOff val="25000"/>
                  </a:prstClr>
                </a:solidFill>
                <a:latin typeface="Segoe UI" panose="020B0502040204020203" pitchFamily="34" charset="0"/>
                <a:cs typeface="Segoe UI" panose="020B0502040204020203" pitchFamily="34" charset="0"/>
              </a:rPr>
              <a:t>τι θα συμβεί.</a:t>
            </a:r>
          </a:p>
        </p:txBody>
      </p:sp>
      <p:pic>
        <p:nvPicPr>
          <p:cNvPr id="7" name="Εικόνα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05483" y="4069080"/>
            <a:ext cx="3803903" cy="2438400"/>
          </a:xfrm>
          <a:prstGeom prst="rect">
            <a:avLst/>
          </a:prstGeom>
        </p:spPr>
      </p:pic>
    </p:spTree>
    <p:extLst>
      <p:ext uri="{BB962C8B-B14F-4D97-AF65-F5344CB8AC3E}">
        <p14:creationId xmlns:p14="http://schemas.microsoft.com/office/powerpoint/2010/main" val="727668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Τίτλος 7"/>
          <p:cNvSpPr>
            <a:spLocks noGrp="1"/>
          </p:cNvSpPr>
          <p:nvPr>
            <p:ph type="title"/>
          </p:nvPr>
        </p:nvSpPr>
        <p:spPr>
          <a:xfrm>
            <a:off x="521207" y="448056"/>
            <a:ext cx="8150845" cy="640080"/>
          </a:xfrm>
        </p:spPr>
        <p:txBody>
          <a:bodyPr rtlCol="0">
            <a:normAutofit/>
          </a:bodyPr>
          <a:lstStyle/>
          <a:p>
            <a:pPr rtl="0"/>
            <a:r>
              <a:rPr lang="el-GR" dirty="0">
                <a:latin typeface="Segoe UI Light" panose="020B0502040204020203" pitchFamily="34" charset="0"/>
                <a:cs typeface="Segoe UI Light" panose="020B0502040204020203" pitchFamily="34" charset="0"/>
              </a:rPr>
              <a:t>Εξερεύνηση χωρίς κλείσιμο των διαφανειών</a:t>
            </a:r>
          </a:p>
        </p:txBody>
      </p:sp>
      <p:sp>
        <p:nvSpPr>
          <p:cNvPr id="16" name="Θέση περιεχομένου 17"/>
          <p:cNvSpPr txBox="1">
            <a:spLocks/>
          </p:cNvSpPr>
          <p:nvPr/>
        </p:nvSpPr>
        <p:spPr>
          <a:xfrm>
            <a:off x="541609" y="1296100"/>
            <a:ext cx="6093106" cy="123647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l-GR" dirty="0">
                <a:latin typeface="Segoe UI" panose="020B0502040204020203" pitchFamily="34" charset="0"/>
                <a:cs typeface="Segoe UI" panose="020B0502040204020203" pitchFamily="34" charset="0"/>
              </a:rPr>
              <a:t>Η Έξυπνη αναζήτηση φέρνει την έρευνα απευθείας στο PowerPoint.</a:t>
            </a:r>
            <a:br>
              <a:rPr lang="el-GR" dirty="0">
                <a:latin typeface="Segoe UI" panose="020B0502040204020203" pitchFamily="34" charset="0"/>
                <a:cs typeface="Segoe UI" panose="020B0502040204020203" pitchFamily="34" charset="0"/>
              </a:rPr>
            </a:br>
            <a:br>
              <a:rPr lang="el-GR" dirty="0">
                <a:latin typeface="Segoe UI" panose="020B0502040204020203" pitchFamily="34" charset="0"/>
                <a:cs typeface="Segoe UI" panose="020B0502040204020203" pitchFamily="34" charset="0"/>
              </a:rPr>
            </a:br>
            <a:r>
              <a:rPr lang="el-GR" dirty="0">
                <a:latin typeface="Segoe UI" panose="020B0502040204020203" pitchFamily="34" charset="0"/>
                <a:cs typeface="Segoe UI" panose="020B0502040204020203" pitchFamily="34" charset="0"/>
              </a:rPr>
              <a:t>Δοκιμάστε το</a:t>
            </a:r>
            <a:r>
              <a:rPr lang="en-US" dirty="0">
                <a:latin typeface="Segoe UI" panose="020B0502040204020203" pitchFamily="34" charset="0"/>
                <a:cs typeface="Segoe UI" panose="020B0502040204020203" pitchFamily="34" charset="0"/>
              </a:rPr>
              <a:t> </a:t>
            </a:r>
            <a:r>
              <a:rPr lang="el-GR" dirty="0"/>
              <a:t>(παράδειγμα στα Αγγλικά)</a:t>
            </a:r>
            <a:r>
              <a:rPr lang="el-GR" dirty="0">
                <a:latin typeface="Segoe UI" panose="020B0502040204020203" pitchFamily="34" charset="0"/>
                <a:cs typeface="Segoe UI" panose="020B0502040204020203" pitchFamily="34" charset="0"/>
              </a:rPr>
              <a:t>:</a:t>
            </a:r>
          </a:p>
        </p:txBody>
      </p:sp>
      <p:pic>
        <p:nvPicPr>
          <p:cNvPr id="18" name="Εικόνα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408" y="2146704"/>
            <a:ext cx="11129521" cy="3193794"/>
          </a:xfrm>
          <a:prstGeom prst="rect">
            <a:avLst/>
          </a:prstGeom>
        </p:spPr>
      </p:pic>
      <p:grpSp>
        <p:nvGrpSpPr>
          <p:cNvPr id="33" name="Ομάδα 32" descr="Μικρός κύκλος με τον αριθμό 1 που υποδεικνύει το βήμα 1"/>
          <p:cNvGrpSpPr/>
          <p:nvPr/>
        </p:nvGrpSpPr>
        <p:grpSpPr bwMode="blackWhite">
          <a:xfrm>
            <a:off x="558723" y="5233381"/>
            <a:ext cx="558179" cy="409838"/>
            <a:chOff x="6953426" y="711274"/>
            <a:chExt cx="558179" cy="409838"/>
          </a:xfrm>
        </p:grpSpPr>
        <p:sp>
          <p:nvSpPr>
            <p:cNvPr id="34" name="Έλλειψη 33"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35" name="Πλαίσιο κειμένου 34" descr="Αριθμός 1"/>
            <p:cNvSpPr txBox="1"/>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1</a:t>
              </a:r>
            </a:p>
          </p:txBody>
        </p:sp>
      </p:grpSp>
      <p:sp>
        <p:nvSpPr>
          <p:cNvPr id="42" name="Θέση περιεχομένου 17"/>
          <p:cNvSpPr txBox="1">
            <a:spLocks/>
          </p:cNvSpPr>
          <p:nvPr/>
        </p:nvSpPr>
        <p:spPr>
          <a:xfrm>
            <a:off x="1066038" y="5273573"/>
            <a:ext cx="2919669" cy="129839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Κάντε δεξί κλικ στη λέξη </a:t>
            </a:r>
            <a:r>
              <a:rPr lang="en-US" i="1" dirty="0">
                <a:solidFill>
                  <a:srgbClr val="D24726"/>
                </a:solidFill>
                <a:latin typeface="Segoe UI" panose="020B0502040204020203" pitchFamily="34" charset="0"/>
                <a:cs typeface="Segoe UI" panose="020B0502040204020203" pitchFamily="34" charset="0"/>
              </a:rPr>
              <a:t>office</a:t>
            </a:r>
            <a:r>
              <a:rPr lang="el-GR" i="1" dirty="0">
                <a:solidFill>
                  <a:srgbClr val="D24726"/>
                </a:solidFill>
                <a:latin typeface="Segoe UI" panose="020B0502040204020203" pitchFamily="34" charset="0"/>
                <a:cs typeface="Segoe UI" panose="020B0502040204020203" pitchFamily="34" charset="0"/>
              </a:rPr>
              <a:t> </a:t>
            </a:r>
            <a:r>
              <a:rPr lang="el-GR" dirty="0">
                <a:solidFill>
                  <a:prstClr val="black">
                    <a:lumMod val="75000"/>
                    <a:lumOff val="25000"/>
                  </a:prstClr>
                </a:solidFill>
                <a:latin typeface="Segoe UI" panose="020B0502040204020203" pitchFamily="34" charset="0"/>
                <a:cs typeface="Segoe UI" panose="020B0502040204020203" pitchFamily="34" charset="0"/>
              </a:rPr>
              <a:t>στην ακόλουθη φράση: </a:t>
            </a:r>
            <a:r>
              <a:rPr lang="en-US" sz="1800" dirty="0">
                <a:solidFill>
                  <a:prstClr val="black">
                    <a:lumMod val="75000"/>
                    <a:lumOff val="25000"/>
                  </a:prstClr>
                </a:solidFill>
                <a:latin typeface="Segoe UI" panose="020B0502040204020203" pitchFamily="34" charset="0"/>
                <a:cs typeface="Segoe UI" panose="020B0502040204020203" pitchFamily="34" charset="0"/>
              </a:rPr>
              <a:t>office furniture</a:t>
            </a:r>
            <a:endParaRPr lang="el-GR" sz="1800" dirty="0">
              <a:solidFill>
                <a:prstClr val="black">
                  <a:lumMod val="75000"/>
                  <a:lumOff val="25000"/>
                </a:prstClr>
              </a:solidFill>
              <a:latin typeface="Segoe UI" panose="020B0502040204020203" pitchFamily="34" charset="0"/>
              <a:cs typeface="Segoe UI" panose="020B0502040204020203" pitchFamily="34" charset="0"/>
            </a:endParaRPr>
          </a:p>
        </p:txBody>
      </p:sp>
      <p:grpSp>
        <p:nvGrpSpPr>
          <p:cNvPr id="36" name="Ομάδα 35" descr="Μικρός κύκλος με τον αριθμό 2 που υποδεικνύει το βήμα 2"/>
          <p:cNvGrpSpPr/>
          <p:nvPr/>
        </p:nvGrpSpPr>
        <p:grpSpPr bwMode="blackWhite">
          <a:xfrm>
            <a:off x="4249102" y="5233381"/>
            <a:ext cx="558179" cy="409838"/>
            <a:chOff x="6953426" y="711274"/>
            <a:chExt cx="558179" cy="409838"/>
          </a:xfrm>
        </p:grpSpPr>
        <p:sp>
          <p:nvSpPr>
            <p:cNvPr id="37" name="Έλλειψη 36"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38" name="Πλαίσιο κειμένου 37" descr="Αριθμός 2"/>
            <p:cNvSpPr txBox="1"/>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2</a:t>
              </a:r>
            </a:p>
          </p:txBody>
        </p:sp>
      </p:grpSp>
      <p:sp>
        <p:nvSpPr>
          <p:cNvPr id="43" name="Θέση περιεχομένου 17"/>
          <p:cNvSpPr txBox="1">
            <a:spLocks/>
          </p:cNvSpPr>
          <p:nvPr/>
        </p:nvSpPr>
        <p:spPr>
          <a:xfrm>
            <a:off x="4747855" y="5273573"/>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rtl="0">
              <a:spcAft>
                <a:spcPts val="2000"/>
              </a:spcAft>
              <a:buNone/>
            </a:pPr>
            <a:r>
              <a:rPr lang="el-GR" dirty="0">
                <a:solidFill>
                  <a:prstClr val="black">
                    <a:lumMod val="75000"/>
                    <a:lumOff val="25000"/>
                  </a:prstClr>
                </a:solidFill>
                <a:latin typeface="Segoe UI" panose="020B0502040204020203" pitchFamily="34" charset="0"/>
                <a:cs typeface="Segoe UI" panose="020B0502040204020203" pitchFamily="34" charset="0"/>
              </a:rPr>
              <a:t>Επιλέξτε </a:t>
            </a:r>
            <a:r>
              <a:rPr lang="el-GR" dirty="0">
                <a:solidFill>
                  <a:srgbClr val="D24726"/>
                </a:solidFill>
                <a:latin typeface="Segoe UI Semibold" panose="020B0702040204020203" pitchFamily="34" charset="0"/>
                <a:cs typeface="Segoe UI Semibold" panose="020B0702040204020203" pitchFamily="34" charset="0"/>
              </a:rPr>
              <a:t>Έξυπνη</a:t>
            </a:r>
            <a:r>
              <a:rPr lang="el-GR" dirty="0">
                <a:solidFill>
                  <a:prstClr val="black">
                    <a:lumMod val="75000"/>
                    <a:lumOff val="25000"/>
                  </a:prstClr>
                </a:solidFill>
                <a:cs typeface="Segoe UI"/>
              </a:rPr>
              <a:t> </a:t>
            </a:r>
            <a:r>
              <a:rPr lang="el-GR" dirty="0">
                <a:solidFill>
                  <a:srgbClr val="D24726"/>
                </a:solidFill>
                <a:latin typeface="Segoe UI Semibold" panose="020B0702040204020203" pitchFamily="34" charset="0"/>
                <a:cs typeface="Segoe UI Semibold" panose="020B0702040204020203" pitchFamily="34" charset="0"/>
              </a:rPr>
              <a:t>αναζήτηση</a:t>
            </a:r>
            <a:r>
              <a:rPr lang="el-GR" dirty="0">
                <a:latin typeface="Segoe UI" panose="020B0502040204020203" pitchFamily="34" charset="0"/>
                <a:cs typeface="Segoe UI" panose="020B0502040204020203" pitchFamily="34" charset="0"/>
              </a:rPr>
              <a:t> και παρατηρήστε ότι τα αποτελέσματα είναι συναφή με αυτή τη φράση, όχι με τις </a:t>
            </a:r>
            <a:r>
              <a:rPr lang="el-GR" sz="1800" dirty="0">
                <a:latin typeface="Segoe UI" panose="020B0502040204020203" pitchFamily="34" charset="0"/>
                <a:cs typeface="Segoe UI" panose="020B0502040204020203" pitchFamily="34" charset="0"/>
              </a:rPr>
              <a:t>Εφαρμογές του Microsoft Office</a:t>
            </a:r>
            <a:r>
              <a:rPr lang="el-GR" dirty="0">
                <a:latin typeface="Segoe UI" panose="020B0502040204020203" pitchFamily="34" charset="0"/>
                <a:cs typeface="Segoe UI" panose="020B0502040204020203" pitchFamily="34" charset="0"/>
              </a:rPr>
              <a:t>.</a:t>
            </a:r>
            <a:endParaRPr lang="el-GR" dirty="0">
              <a:solidFill>
                <a:srgbClr val="D24726"/>
              </a:solidFill>
              <a:latin typeface="Segoe UI" panose="020B0502040204020203" pitchFamily="34" charset="0"/>
              <a:cs typeface="Segoe UI" panose="020B0502040204020203" pitchFamily="34" charset="0"/>
            </a:endParaRPr>
          </a:p>
        </p:txBody>
      </p:sp>
      <p:grpSp>
        <p:nvGrpSpPr>
          <p:cNvPr id="39" name="Ομάδα 38" descr="Μικρός κύκλος με τον αριθμό 3 που υποδεικνύει το βήμα 3"/>
          <p:cNvGrpSpPr/>
          <p:nvPr/>
        </p:nvGrpSpPr>
        <p:grpSpPr bwMode="blackWhite">
          <a:xfrm>
            <a:off x="7930921" y="5233381"/>
            <a:ext cx="558179" cy="409838"/>
            <a:chOff x="6953426" y="711274"/>
            <a:chExt cx="558179" cy="409838"/>
          </a:xfrm>
        </p:grpSpPr>
        <p:sp>
          <p:nvSpPr>
            <p:cNvPr id="40" name="Έλλειψη 39" descr="Μικρός κύκλος"/>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p>
          </p:txBody>
        </p:sp>
        <p:sp>
          <p:nvSpPr>
            <p:cNvPr id="41" name="Πλαίσιο κειμένου 40" descr="Αριθμός 3"/>
            <p:cNvSpPr txBox="1"/>
            <p:nvPr/>
          </p:nvSpPr>
          <p:spPr bwMode="blackWhite">
            <a:xfrm>
              <a:off x="6953426" y="727564"/>
              <a:ext cx="558179" cy="369332"/>
            </a:xfrm>
            <a:prstGeom prst="rect">
              <a:avLst/>
            </a:prstGeom>
            <a:noFill/>
          </p:spPr>
          <p:txBody>
            <a:bodyPr wrap="square" rtlCol="0">
              <a:spAutoFit/>
            </a:bodyPr>
            <a:lstStyle/>
            <a:p>
              <a:pPr algn="ctr" rtl="0"/>
              <a:r>
                <a:rPr lang="el-GR" dirty="0">
                  <a:solidFill>
                    <a:schemeClr val="bg1"/>
                  </a:solidFill>
                  <a:latin typeface="Segoe UI Semibold" panose="020B0702040204020203" pitchFamily="34" charset="0"/>
                  <a:cs typeface="Segoe UI Semibold" panose="020B0702040204020203" pitchFamily="34" charset="0"/>
                </a:rPr>
                <a:t>3</a:t>
              </a:r>
            </a:p>
          </p:txBody>
        </p:sp>
      </p:grpSp>
      <p:sp>
        <p:nvSpPr>
          <p:cNvPr id="44" name="Θέση περιεχομένου 17"/>
          <p:cNvSpPr txBox="1">
            <a:spLocks/>
          </p:cNvSpPr>
          <p:nvPr/>
        </p:nvSpPr>
        <p:spPr>
          <a:xfrm>
            <a:off x="8429668" y="5273573"/>
            <a:ext cx="3107336" cy="1341886"/>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rtl="0">
              <a:spcAft>
                <a:spcPts val="2000"/>
              </a:spcAft>
              <a:buNone/>
            </a:pPr>
            <a:r>
              <a:rPr lang="el-GR" dirty="0">
                <a:latin typeface="Segoe UI" panose="020B0502040204020203" pitchFamily="34" charset="0"/>
                <a:cs typeface="Segoe UI" panose="020B0502040204020203" pitchFamily="34" charset="0"/>
              </a:rPr>
              <a:t>Απλώς για διασκέδαση, δοκιμάστε ξανά την Έξυπνη αναζήτηση κάνοντας δεξί κλικ στη λέξη </a:t>
            </a:r>
            <a:r>
              <a:rPr lang="el-GR" i="1" dirty="0">
                <a:solidFill>
                  <a:srgbClr val="D24726"/>
                </a:solidFill>
                <a:latin typeface="Segoe UI" panose="020B0502040204020203" pitchFamily="34" charset="0"/>
                <a:cs typeface="Segoe UI" panose="020B0502040204020203" pitchFamily="34" charset="0"/>
              </a:rPr>
              <a:t>Office</a:t>
            </a:r>
            <a:r>
              <a:rPr lang="el-GR" dirty="0"/>
              <a:t> </a:t>
            </a:r>
            <a:r>
              <a:rPr lang="el-GR" dirty="0">
                <a:latin typeface="Segoe UI" panose="020B0502040204020203" pitchFamily="34" charset="0"/>
                <a:cs typeface="Segoe UI" panose="020B0502040204020203" pitchFamily="34" charset="0"/>
              </a:rPr>
              <a:t>στο βήμα 2.</a:t>
            </a:r>
          </a:p>
          <a:p>
            <a:pPr marL="0" indent="0" rtl="0">
              <a:spcAft>
                <a:spcPts val="2000"/>
              </a:spcAft>
              <a:buNone/>
            </a:pPr>
            <a:endParaRPr lang="el-GR" dirty="0">
              <a:solidFill>
                <a:prstClr val="black">
                  <a:lumMod val="75000"/>
                  <a:lumOff val="25000"/>
                </a:prstClr>
              </a:solidFill>
            </a:endParaRPr>
          </a:p>
        </p:txBody>
      </p:sp>
    </p:spTree>
    <p:extLst>
      <p:ext uri="{BB962C8B-B14F-4D97-AF65-F5344CB8AC3E}">
        <p14:creationId xmlns:p14="http://schemas.microsoft.com/office/powerpoint/2010/main" val="17693260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Τίτλος 9"/>
          <p:cNvSpPr>
            <a:spLocks noGrp="1"/>
          </p:cNvSpPr>
          <p:nvPr>
            <p:ph type="title"/>
          </p:nvPr>
        </p:nvSpPr>
        <p:spPr>
          <a:xfrm>
            <a:off x="521208" y="968473"/>
            <a:ext cx="6876288" cy="1207799"/>
          </a:xfrm>
        </p:spPr>
        <p:txBody>
          <a:bodyPr rtlCol="0">
            <a:normAutofit/>
          </a:bodyPr>
          <a:lstStyle/>
          <a:p>
            <a:pPr rtl="0"/>
            <a:r>
              <a:rPr lang="el-GR" dirty="0">
                <a:latin typeface="Segoe UI Light" panose="020B0502040204020203" pitchFamily="34" charset="0"/>
                <a:cs typeface="Segoe UI Light" panose="020B0502040204020203" pitchFamily="34" charset="0"/>
              </a:rPr>
              <a:t>Έχετε περισσότερες ερωτήσεις σχετικά με το PowerPoint;</a:t>
            </a:r>
          </a:p>
        </p:txBody>
      </p:sp>
      <p:sp>
        <p:nvSpPr>
          <p:cNvPr id="5" name="Θέση περιεχομένου 4"/>
          <p:cNvSpPr>
            <a:spLocks noGrp="1"/>
          </p:cNvSpPr>
          <p:nvPr>
            <p:ph sz="half" idx="4294967295"/>
          </p:nvPr>
        </p:nvSpPr>
        <p:spPr>
          <a:xfrm>
            <a:off x="541611" y="2614427"/>
            <a:ext cx="11168608" cy="3978275"/>
          </a:xfrm>
        </p:spPr>
        <p:txBody>
          <a:bodyPr rtlCol="0">
            <a:normAutofit/>
          </a:bodyPr>
          <a:lstStyle/>
          <a:p>
            <a:pPr marL="0" indent="0" rtl="0">
              <a:lnSpc>
                <a:spcPts val="3600"/>
              </a:lnSpc>
              <a:spcAft>
                <a:spcPts val="0"/>
              </a:spcAft>
              <a:buNone/>
            </a:pPr>
            <a:r>
              <a:rPr lang="el-GR" sz="2000" dirty="0">
                <a:latin typeface="Segoe UI Light" panose="020B0502040204020203" pitchFamily="34" charset="0"/>
                <a:cs typeface="Segoe UI Light" panose="020B0502040204020203" pitchFamily="34" charset="0"/>
              </a:rPr>
              <a:t>Επιλέξτε το κουμπί </a:t>
            </a:r>
            <a:r>
              <a:rPr lang="el-GR" sz="2000" dirty="0">
                <a:solidFill>
                  <a:srgbClr val="D24726"/>
                </a:solidFill>
                <a:latin typeface="Segoe UI Semibold" panose="020B0702040204020203" pitchFamily="34" charset="0"/>
                <a:cs typeface="Segoe UI Semibold" panose="020B0702040204020203" pitchFamily="34" charset="0"/>
              </a:rPr>
              <a:t>Πείτε μου                   </a:t>
            </a:r>
            <a:r>
              <a:rPr lang="el-GR" sz="2000" dirty="0">
                <a:latin typeface="Segoe UI Light" panose="020B0502040204020203" pitchFamily="34" charset="0"/>
                <a:cs typeface="Segoe UI Light" panose="020B0502040204020203" pitchFamily="34" charset="0"/>
              </a:rPr>
              <a:t>και πληκτρολογήστε αυτό που θέλετε να μάθετε.</a:t>
            </a:r>
            <a:br>
              <a:rPr lang="el-GR" sz="2000" dirty="0">
                <a:latin typeface="Segoe UI Light" panose="020B0502040204020203" pitchFamily="34" charset="0"/>
                <a:cs typeface="Segoe UI Light" panose="020B0502040204020203" pitchFamily="34" charset="0"/>
              </a:rPr>
            </a:br>
            <a:endParaRPr lang="el-GR" sz="2000" dirty="0">
              <a:latin typeface="Segoe UI Light" panose="020B0502040204020203" pitchFamily="34" charset="0"/>
              <a:cs typeface="Segoe UI Light" panose="020B0502040204020203" pitchFamily="34" charset="0"/>
            </a:endParaRPr>
          </a:p>
          <a:p>
            <a:pPr>
              <a:lnSpc>
                <a:spcPts val="3600"/>
              </a:lnSpc>
              <a:spcAft>
                <a:spcPts val="0"/>
              </a:spcAft>
            </a:pPr>
            <a:r>
              <a:rPr lang="el-GR" sz="1800" dirty="0">
                <a:latin typeface="Segoe UI Light" panose="020B0502040204020203" pitchFamily="34" charset="0"/>
                <a:cs typeface="Segoe UI Light" panose="020B0502040204020203" pitchFamily="34" charset="0"/>
                <a:hlinkClick r:id="rId3" tooltip="Επισκεφθείτε το ιστολόγιο της ομάδας του PowerPoint (μόνο στα Αγγλικά)"/>
              </a:rPr>
              <a:t>Επισκεφθείτε το </a:t>
            </a:r>
            <a:r>
              <a:rPr lang="el-GR" sz="1800" dirty="0" err="1">
                <a:latin typeface="Segoe UI Light" panose="020B0502040204020203" pitchFamily="34" charset="0"/>
                <a:cs typeface="Segoe UI Light" panose="020B0502040204020203" pitchFamily="34" charset="0"/>
                <a:hlinkClick r:id="rId3" tooltip="Επισκεφθείτε το ιστολόγιο της ομάδας του PowerPoint (μόνο στα Αγγλικά)"/>
              </a:rPr>
              <a:t>ιστολόγιο</a:t>
            </a:r>
            <a:r>
              <a:rPr lang="el-GR" sz="1800" dirty="0">
                <a:latin typeface="Segoe UI Light" panose="020B0502040204020203" pitchFamily="34" charset="0"/>
                <a:cs typeface="Segoe UI Light" panose="020B0502040204020203" pitchFamily="34" charset="0"/>
                <a:hlinkClick r:id="rId3" tooltip="Επισκεφθείτε το ιστολόγιο της ομάδας του PowerPoint (μόνο στα Αγγλικά)"/>
              </a:rPr>
              <a:t> της ομάδας του PowerPoint (μόνο στα Αγγλικά)</a:t>
            </a:r>
            <a:endParaRPr lang="el-GR" sz="1800" dirty="0">
              <a:latin typeface="Segoe UI Light" panose="020B0502040204020203" pitchFamily="34" charset="0"/>
              <a:cs typeface="Segoe UI Light" panose="020B0502040204020203" pitchFamily="34" charset="0"/>
            </a:endParaRPr>
          </a:p>
          <a:p>
            <a:pPr marL="0" indent="0" rtl="0">
              <a:lnSpc>
                <a:spcPts val="3600"/>
              </a:lnSpc>
              <a:spcAft>
                <a:spcPts val="0"/>
              </a:spcAft>
              <a:buNone/>
            </a:pPr>
            <a:r>
              <a:rPr lang="el-GR" sz="1800" dirty="0">
                <a:latin typeface="Segoe UI Light" panose="020B0502040204020203" pitchFamily="34" charset="0"/>
                <a:cs typeface="Segoe UI Light" panose="020B0502040204020203" pitchFamily="34" charset="0"/>
                <a:hlinkClick r:id="rId4" tooltip="Μεταβείτε στη δωρεάν εκπαίδευση για το PowerPoint"/>
              </a:rPr>
              <a:t>Μεταβείτε στη δωρεάν εκπαίδευση για το PowerPoint</a:t>
            </a:r>
            <a:endParaRPr lang="el-GR" sz="1800" dirty="0">
              <a:latin typeface="Segoe UI Light" panose="020B0502040204020203" pitchFamily="34" charset="0"/>
              <a:cs typeface="Segoe UI Light" panose="020B0502040204020203" pitchFamily="34" charset="0"/>
            </a:endParaRPr>
          </a:p>
          <a:p>
            <a:pPr marL="0" indent="0" rtl="0">
              <a:lnSpc>
                <a:spcPts val="3600"/>
              </a:lnSpc>
              <a:spcAft>
                <a:spcPts val="0"/>
              </a:spcAft>
              <a:buNone/>
            </a:pPr>
            <a:endParaRPr lang="el-GR" sz="2000" dirty="0">
              <a:latin typeface="Segoe UI Light" panose="020B0502040204020203" pitchFamily="34" charset="0"/>
              <a:cs typeface="Segoe UI Light" panose="020B0502040204020203" pitchFamily="34" charset="0"/>
            </a:endParaRPr>
          </a:p>
          <a:p>
            <a:pPr marL="0" indent="0" rtl="0">
              <a:lnSpc>
                <a:spcPts val="3600"/>
              </a:lnSpc>
              <a:spcAft>
                <a:spcPts val="0"/>
              </a:spcAft>
              <a:buNone/>
            </a:pPr>
            <a:endParaRPr lang="el-GR" sz="2000" dirty="0">
              <a:latin typeface="Segoe UI Light" panose="020B0502040204020203" pitchFamily="34" charset="0"/>
              <a:cs typeface="Segoe UI Light" panose="020B0502040204020203" pitchFamily="34" charset="0"/>
            </a:endParaRPr>
          </a:p>
        </p:txBody>
      </p:sp>
      <p:pic>
        <p:nvPicPr>
          <p:cNvPr id="2" name="Εικόνα 1" descr="Κουμπί &quot;Πείτε μου&quot;"/>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10162" y="2350333"/>
            <a:ext cx="1269672" cy="1189747"/>
          </a:xfrm>
          <a:prstGeom prst="rect">
            <a:avLst/>
          </a:prstGeom>
        </p:spPr>
      </p:pic>
      <p:pic>
        <p:nvPicPr>
          <p:cNvPr id="11" name="Εικόνα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74146" y="3070697"/>
            <a:ext cx="2476156" cy="1707303"/>
          </a:xfrm>
          <a:prstGeom prst="rect">
            <a:avLst/>
          </a:prstGeom>
        </p:spPr>
      </p:pic>
      <p:sp>
        <p:nvSpPr>
          <p:cNvPr id="9" name="Πλαίσιο κειμένου 8"/>
          <p:cNvSpPr txBox="1"/>
          <p:nvPr/>
        </p:nvSpPr>
        <p:spPr>
          <a:xfrm>
            <a:off x="541611" y="5210842"/>
            <a:ext cx="6855885" cy="307777"/>
          </a:xfrm>
          <a:prstGeom prst="rect">
            <a:avLst/>
          </a:prstGeom>
          <a:noFill/>
        </p:spPr>
        <p:txBody>
          <a:bodyPr wrap="square" rtlCol="0">
            <a:spAutoFit/>
          </a:bodyPr>
          <a:lstStyle/>
          <a:p>
            <a:pPr algn="l" rtl="0"/>
            <a:r>
              <a:rPr lang="el-GR" sz="1400" dirty="0">
                <a:latin typeface="Segoe UI Light" panose="020B0502040204020203" pitchFamily="34" charset="0"/>
                <a:cs typeface="Segoe UI Light" panose="020B0502040204020203" pitchFamily="34" charset="0"/>
              </a:rPr>
              <a:t>ΕΠΙΛΕΞΤΕ ΤΟ ΒΕΛΟΣ ΟΤΑΝ ΒΡΙΣΚΕΣΤΕ ΣΕ ΛΕΙΤΟΥΡΓΙΑ ΠΡΟΒΟΛΗΣ ΠΑΡΟΥΣΙΑΣΗΣ</a:t>
            </a:r>
          </a:p>
        </p:txBody>
      </p:sp>
      <p:pic>
        <p:nvPicPr>
          <p:cNvPr id="7" name="Εικόνα 6" descr="Βέλος που δείχνει προς τα δεξιά και περιέχει μια υπερ-σύνδεση η οποία οδηγεί στη δωρεάν εκπαίδευση για το PowerPoint. Επιλέξτε την εικόνα, για να αποκτήσετε πρόσβαση στη δωρεάν εκπαίδευση για το PowerPoint">
            <a:hlinkClick r:id="rId4" tooltip="Επιλέξτε την εικόνα, για να αποκτήσετε πρόσβαση στη δωρεάν εκπαίδευση για το PowerPoin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98648" y="4272594"/>
            <a:ext cx="661940" cy="661940"/>
          </a:xfrm>
          <a:prstGeom prst="rect">
            <a:avLst/>
          </a:prstGeom>
        </p:spPr>
      </p:pic>
      <p:pic>
        <p:nvPicPr>
          <p:cNvPr id="12" name="Εικόνα 11" descr="Βέλος που δείχνει προς τα δεξιά με μια υπερ-σύνδεση για την παροχή σχολίων σχετικά με αυτήν την περιήγηση. Επιλέξτε την εικόνα, για να στείλετε σχόλια σχετικά με αυτήν την περιήγηση">
            <a:hlinkClick r:id="rId3" tooltip="Επιλέξτε εδώ, για να επισκεφθείτε το ιστολόγιο ομάδας του PowerPoint."/>
            <a:extLst>
              <a:ext uri="{FF2B5EF4-FFF2-40B4-BE49-F238E27FC236}">
                <a16:creationId xmlns:a16="http://schemas.microsoft.com/office/drawing/2014/main" id="{BA92070A-4E3D-4794-84A9-83B8DDF3A12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45496" y="3642100"/>
            <a:ext cx="661940" cy="661940"/>
          </a:xfrm>
          <a:prstGeom prst="rect">
            <a:avLst/>
          </a:prstGeom>
        </p:spPr>
      </p:pic>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5684342_TF10001108" id="{DBFF3AF7-5888-433F-AD38-299F70BCE26A}" vid="{65FC6890-4B6D-44B3-978B-79AC4729D2FE}"/>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Καλώς ορίσατε στο PowerPoint</Template>
  <TotalTime>174</TotalTime>
  <Words>780</Words>
  <Application>Microsoft Office PowerPoint</Application>
  <PresentationFormat>Widescreen</PresentationFormat>
  <Paragraphs>92</Paragraphs>
  <Slides>11</Slides>
  <Notes>9</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Segoe UI</vt:lpstr>
      <vt:lpstr>Segoe UI Light</vt:lpstr>
      <vt:lpstr>Segoe UI Semibold</vt:lpstr>
      <vt:lpstr>Wingdings</vt:lpstr>
      <vt:lpstr>WelcomeDoc</vt:lpstr>
      <vt:lpstr>Μηχανική Μάθηση και Αθλητισμός</vt:lpstr>
      <vt:lpstr>Η ορολογία «Machine Learning»</vt:lpstr>
      <vt:lpstr>Εφαρμογή Αισθητήρα “MetawearC” στο Ποδόσφαιρο.</vt:lpstr>
      <vt:lpstr>Αποτελέσματα</vt:lpstr>
      <vt:lpstr>Πρόβλεψη ποδοσφαιρικού αποτελέσματος με τη χρήση Μηχανικής Μάθησης</vt:lpstr>
      <vt:lpstr>Μεταμόρφωση</vt:lpstr>
      <vt:lpstr>Ρύθμιση της Μεταμόρφωσης</vt:lpstr>
      <vt:lpstr>Συνεργασία σε πραγματικό χρόνο</vt:lpstr>
      <vt:lpstr>Αποκτήστε την εμπειρία των ειδικών με το πλαίσιο "Πείτε μου"</vt:lpstr>
      <vt:lpstr>Εξερεύνηση χωρίς κλείσιμο των διαφανειών</vt:lpstr>
      <vt:lpstr>Έχετε περισσότερες ερωτήσεις σχετικά με το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Μηχανική Μάθηση και Αθλητισμός</dc:title>
  <dc:creator>dell</dc:creator>
  <cp:keywords/>
  <cp:lastModifiedBy>Nikos Bampis</cp:lastModifiedBy>
  <cp:revision>19</cp:revision>
  <dcterms:created xsi:type="dcterms:W3CDTF">2018-12-01T09:08:18Z</dcterms:created>
  <dcterms:modified xsi:type="dcterms:W3CDTF">2018-12-02T21:14:40Z</dcterms:modified>
  <cp:version/>
</cp:coreProperties>
</file>